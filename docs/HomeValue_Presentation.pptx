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 name="Rectangle 2"/>
          <p:cNvSpPr/>
          <p:nvPr/>
        </p:nvSpPr>
        <p:spPr>
          <a:xfrm>
            <a:off x="9082735" y="0"/>
            <a:ext cx="3108960" cy="6858000"/>
          </a:xfrm>
          <a:prstGeom prst="rect">
            <a:avLst/>
          </a:prstGeom>
          <a:solidFill>
            <a:srgbClr val="2A60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4" name="TextBox 3"/>
          <p:cNvSpPr txBox="1"/>
          <p:nvPr/>
        </p:nvSpPr>
        <p:spPr>
          <a:xfrm>
            <a:off x="914400" y="1691640"/>
            <a:ext cx="7680960" cy="365760"/>
          </a:xfrm>
          <a:prstGeom prst="rect">
            <a:avLst/>
          </a:prstGeom>
          <a:noFill/>
        </p:spPr>
        <p:txBody>
          <a:bodyPr wrap="square" anchor="t" lIns="0" rIns="0" tIns="0" bIns="0">
            <a:spAutoFit/>
          </a:bodyPr>
          <a:lstStyle/>
          <a:p>
            <a:pPr algn="l">
              <a:lnSpc>
                <a:spcPct val="100000"/>
              </a:lnSpc>
            </a:pPr>
            <a:r>
              <a:rPr sz="1300" b="1">
                <a:solidFill>
                  <a:srgbClr val="A8C9B8"/>
                </a:solidFill>
                <a:latin typeface="Calibri"/>
              </a:rPr>
              <a:t>MACHINE LEARNING PROJECT</a:t>
            </a:r>
          </a:p>
        </p:txBody>
      </p:sp>
      <p:sp>
        <p:nvSpPr>
          <p:cNvPr id="5" name="TextBox 4"/>
          <p:cNvSpPr txBox="1"/>
          <p:nvPr/>
        </p:nvSpPr>
        <p:spPr>
          <a:xfrm>
            <a:off x="914400" y="2148840"/>
            <a:ext cx="7680960" cy="1371600"/>
          </a:xfrm>
          <a:prstGeom prst="rect">
            <a:avLst/>
          </a:prstGeom>
          <a:noFill/>
        </p:spPr>
        <p:txBody>
          <a:bodyPr wrap="square" anchor="t" lIns="0" rIns="0" tIns="0" bIns="0">
            <a:spAutoFit/>
          </a:bodyPr>
          <a:lstStyle/>
          <a:p>
            <a:pPr algn="l">
              <a:lnSpc>
                <a:spcPct val="100000"/>
              </a:lnSpc>
            </a:pPr>
            <a:r>
              <a:rPr sz="6000" b="1">
                <a:solidFill>
                  <a:srgbClr val="FFFFFF"/>
                </a:solidFill>
                <a:latin typeface="Calibri"/>
              </a:rPr>
              <a:t>HomeValue</a:t>
            </a:r>
          </a:p>
        </p:txBody>
      </p:sp>
      <p:sp>
        <p:nvSpPr>
          <p:cNvPr id="6" name="TextBox 5"/>
          <p:cNvSpPr txBox="1"/>
          <p:nvPr/>
        </p:nvSpPr>
        <p:spPr>
          <a:xfrm>
            <a:off x="914400" y="3154680"/>
            <a:ext cx="7680960" cy="822960"/>
          </a:xfrm>
          <a:prstGeom prst="rect">
            <a:avLst/>
          </a:prstGeom>
          <a:noFill/>
        </p:spPr>
        <p:txBody>
          <a:bodyPr wrap="square" anchor="t" lIns="0" rIns="0" tIns="0" bIns="0">
            <a:spAutoFit/>
          </a:bodyPr>
          <a:lstStyle/>
          <a:p>
            <a:pPr algn="l">
              <a:lnSpc>
                <a:spcPct val="100000"/>
              </a:lnSpc>
            </a:pPr>
            <a:r>
              <a:rPr sz="2700" b="0">
                <a:solidFill>
                  <a:srgbClr val="D6E6DE"/>
                </a:solidFill>
                <a:latin typeface="Calibri"/>
              </a:rPr>
              <a:t>A House Price Prediction System</a:t>
            </a:r>
          </a:p>
        </p:txBody>
      </p:sp>
      <p:sp>
        <p:nvSpPr>
          <p:cNvPr id="7" name="Rectangle 6"/>
          <p:cNvSpPr/>
          <p:nvPr/>
        </p:nvSpPr>
        <p:spPr>
          <a:xfrm>
            <a:off x="914400" y="3794760"/>
            <a:ext cx="1463040" cy="38100"/>
          </a:xfrm>
          <a:prstGeom prst="rect">
            <a:avLst/>
          </a:prstGeom>
          <a:solidFill>
            <a:srgbClr val="8FBA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8" name="TextBox 7"/>
          <p:cNvSpPr txBox="1"/>
          <p:nvPr/>
        </p:nvSpPr>
        <p:spPr>
          <a:xfrm>
            <a:off x="914400" y="4114800"/>
            <a:ext cx="6949440" cy="822960"/>
          </a:xfrm>
          <a:prstGeom prst="rect">
            <a:avLst/>
          </a:prstGeom>
          <a:noFill/>
        </p:spPr>
        <p:txBody>
          <a:bodyPr wrap="square" anchor="t" lIns="0" rIns="0" tIns="0" bIns="0">
            <a:spAutoFit/>
          </a:bodyPr>
          <a:lstStyle/>
          <a:p>
            <a:pPr algn="l">
              <a:lnSpc>
                <a:spcPct val="125000"/>
              </a:lnSpc>
            </a:pPr>
            <a:r>
              <a:rPr sz="1400" b="0">
                <a:solidFill>
                  <a:srgbClr val="C3DACF"/>
                </a:solidFill>
                <a:latin typeface="Calibri"/>
              </a:rPr>
              <a:t>End-to-end: reproducible data pipeline, two trained and compared regression models, and a Flask web application with a live prediction dashboard.</a:t>
            </a:r>
          </a:p>
        </p:txBody>
      </p:sp>
      <p:sp>
        <p:nvSpPr>
          <p:cNvPr id="9" name="Rounded Rectangle 8"/>
          <p:cNvSpPr/>
          <p:nvPr/>
        </p:nvSpPr>
        <p:spPr>
          <a:xfrm>
            <a:off x="914400" y="5257800"/>
            <a:ext cx="1298448" cy="329184"/>
          </a:xfrm>
          <a:prstGeom prst="roundRect">
            <a:avLst>
              <a:gd name="adj" fmla="val 35000"/>
            </a:avLst>
          </a:prstGeom>
          <a:solidFill>
            <a:srgbClr val="3B7C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0" name="TextBox 9"/>
          <p:cNvSpPr txBox="1"/>
          <p:nvPr/>
        </p:nvSpPr>
        <p:spPr>
          <a:xfrm>
            <a:off x="914400" y="5312664"/>
            <a:ext cx="1298448" cy="274320"/>
          </a:xfrm>
          <a:prstGeom prst="rect">
            <a:avLst/>
          </a:prstGeom>
          <a:noFill/>
        </p:spPr>
        <p:txBody>
          <a:bodyPr wrap="square" anchor="t" lIns="0" rIns="0" tIns="0" bIns="0">
            <a:spAutoFit/>
          </a:bodyPr>
          <a:lstStyle/>
          <a:p>
            <a:pPr algn="ctr">
              <a:lnSpc>
                <a:spcPct val="100000"/>
              </a:lnSpc>
            </a:pPr>
            <a:r>
              <a:rPr sz="1050" b="0">
                <a:solidFill>
                  <a:srgbClr val="D6E6DE"/>
                </a:solidFill>
                <a:latin typeface="Calibri"/>
              </a:rPr>
              <a:t>Python 3</a:t>
            </a:r>
          </a:p>
        </p:txBody>
      </p:sp>
      <p:sp>
        <p:nvSpPr>
          <p:cNvPr id="11" name="Rounded Rectangle 10"/>
          <p:cNvSpPr/>
          <p:nvPr/>
        </p:nvSpPr>
        <p:spPr>
          <a:xfrm>
            <a:off x="2359152" y="5257800"/>
            <a:ext cx="2441448" cy="329184"/>
          </a:xfrm>
          <a:prstGeom prst="roundRect">
            <a:avLst>
              <a:gd name="adj" fmla="val 35000"/>
            </a:avLst>
          </a:prstGeom>
          <a:solidFill>
            <a:srgbClr val="3B7C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2" name="TextBox 11"/>
          <p:cNvSpPr txBox="1"/>
          <p:nvPr/>
        </p:nvSpPr>
        <p:spPr>
          <a:xfrm>
            <a:off x="2359152" y="5312664"/>
            <a:ext cx="2441448" cy="274320"/>
          </a:xfrm>
          <a:prstGeom prst="rect">
            <a:avLst/>
          </a:prstGeom>
          <a:noFill/>
        </p:spPr>
        <p:txBody>
          <a:bodyPr wrap="square" anchor="t" lIns="0" rIns="0" tIns="0" bIns="0">
            <a:spAutoFit/>
          </a:bodyPr>
          <a:lstStyle/>
          <a:p>
            <a:pPr algn="ctr">
              <a:lnSpc>
                <a:spcPct val="100000"/>
              </a:lnSpc>
            </a:pPr>
            <a:r>
              <a:rPr sz="1050" b="0">
                <a:solidFill>
                  <a:srgbClr val="D6E6DE"/>
                </a:solidFill>
                <a:latin typeface="Calibri"/>
              </a:rPr>
              <a:t>scikit-learn 1.6.1</a:t>
            </a:r>
          </a:p>
        </p:txBody>
      </p:sp>
      <p:sp>
        <p:nvSpPr>
          <p:cNvPr id="13" name="Rounded Rectangle 12"/>
          <p:cNvSpPr/>
          <p:nvPr/>
        </p:nvSpPr>
        <p:spPr>
          <a:xfrm>
            <a:off x="4946904" y="5257800"/>
            <a:ext cx="1755648" cy="329184"/>
          </a:xfrm>
          <a:prstGeom prst="roundRect">
            <a:avLst>
              <a:gd name="adj" fmla="val 35000"/>
            </a:avLst>
          </a:prstGeom>
          <a:solidFill>
            <a:srgbClr val="3B7C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4" name="TextBox 13"/>
          <p:cNvSpPr txBox="1"/>
          <p:nvPr/>
        </p:nvSpPr>
        <p:spPr>
          <a:xfrm>
            <a:off x="4946904" y="5312664"/>
            <a:ext cx="1755648" cy="274320"/>
          </a:xfrm>
          <a:prstGeom prst="rect">
            <a:avLst/>
          </a:prstGeom>
          <a:noFill/>
        </p:spPr>
        <p:txBody>
          <a:bodyPr wrap="square" anchor="t" lIns="0" rIns="0" tIns="0" bIns="0">
            <a:spAutoFit/>
          </a:bodyPr>
          <a:lstStyle/>
          <a:p>
            <a:pPr algn="ctr">
              <a:lnSpc>
                <a:spcPct val="100000"/>
              </a:lnSpc>
            </a:pPr>
            <a:r>
              <a:rPr sz="1050" b="0">
                <a:solidFill>
                  <a:srgbClr val="D6E6DE"/>
                </a:solidFill>
                <a:latin typeface="Calibri"/>
              </a:rPr>
              <a:t>pandas 2.2.3</a:t>
            </a:r>
          </a:p>
        </p:txBody>
      </p:sp>
      <p:sp>
        <p:nvSpPr>
          <p:cNvPr id="15" name="Rounded Rectangle 14"/>
          <p:cNvSpPr/>
          <p:nvPr/>
        </p:nvSpPr>
        <p:spPr>
          <a:xfrm>
            <a:off x="6848856" y="5257800"/>
            <a:ext cx="1641348" cy="329184"/>
          </a:xfrm>
          <a:prstGeom prst="roundRect">
            <a:avLst>
              <a:gd name="adj" fmla="val 35000"/>
            </a:avLst>
          </a:prstGeom>
          <a:solidFill>
            <a:srgbClr val="3B7C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6" name="TextBox 15"/>
          <p:cNvSpPr txBox="1"/>
          <p:nvPr/>
        </p:nvSpPr>
        <p:spPr>
          <a:xfrm>
            <a:off x="6848856" y="5312664"/>
            <a:ext cx="1641348" cy="274320"/>
          </a:xfrm>
          <a:prstGeom prst="rect">
            <a:avLst/>
          </a:prstGeom>
          <a:noFill/>
        </p:spPr>
        <p:txBody>
          <a:bodyPr wrap="square" anchor="t" lIns="0" rIns="0" tIns="0" bIns="0">
            <a:spAutoFit/>
          </a:bodyPr>
          <a:lstStyle/>
          <a:p>
            <a:pPr algn="ctr">
              <a:lnSpc>
                <a:spcPct val="100000"/>
              </a:lnSpc>
            </a:pPr>
            <a:r>
              <a:rPr sz="1050" b="0">
                <a:solidFill>
                  <a:srgbClr val="D6E6DE"/>
                </a:solidFill>
                <a:latin typeface="Calibri"/>
              </a:rPr>
              <a:t>Flask 3.1.3</a:t>
            </a:r>
          </a:p>
        </p:txBody>
      </p:sp>
      <p:sp>
        <p:nvSpPr>
          <p:cNvPr id="17" name="Rounded Rectangle 16"/>
          <p:cNvSpPr/>
          <p:nvPr/>
        </p:nvSpPr>
        <p:spPr>
          <a:xfrm>
            <a:off x="8636508" y="5257800"/>
            <a:ext cx="1069848" cy="329184"/>
          </a:xfrm>
          <a:prstGeom prst="roundRect">
            <a:avLst>
              <a:gd name="adj" fmla="val 35000"/>
            </a:avLst>
          </a:prstGeom>
          <a:solidFill>
            <a:srgbClr val="3B7C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8" name="TextBox 17"/>
          <p:cNvSpPr txBox="1"/>
          <p:nvPr/>
        </p:nvSpPr>
        <p:spPr>
          <a:xfrm>
            <a:off x="8636508" y="5312664"/>
            <a:ext cx="1069848" cy="274320"/>
          </a:xfrm>
          <a:prstGeom prst="rect">
            <a:avLst/>
          </a:prstGeom>
          <a:noFill/>
        </p:spPr>
        <p:txBody>
          <a:bodyPr wrap="square" anchor="t" lIns="0" rIns="0" tIns="0" bIns="0">
            <a:spAutoFit/>
          </a:bodyPr>
          <a:lstStyle/>
          <a:p>
            <a:pPr algn="ctr">
              <a:lnSpc>
                <a:spcPct val="100000"/>
              </a:lnSpc>
            </a:pPr>
            <a:r>
              <a:rPr sz="1050" b="0">
                <a:solidFill>
                  <a:srgbClr val="D6E6DE"/>
                </a:solidFill>
                <a:latin typeface="Calibri"/>
              </a:rPr>
              <a:t>pytest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 name="TextBox 2"/>
          <p:cNvSpPr txBox="1"/>
          <p:nvPr/>
        </p:nvSpPr>
        <p:spPr>
          <a:xfrm>
            <a:off x="731520" y="502920"/>
            <a:ext cx="10728655" cy="274320"/>
          </a:xfrm>
          <a:prstGeom prst="rect">
            <a:avLst/>
          </a:prstGeom>
          <a:noFill/>
        </p:spPr>
        <p:txBody>
          <a:bodyPr wrap="square" anchor="t" lIns="0" rIns="0" tIns="0" bIns="0">
            <a:spAutoFit/>
          </a:bodyPr>
          <a:lstStyle/>
          <a:p>
            <a:pPr algn="l">
              <a:lnSpc>
                <a:spcPct val="100000"/>
              </a:lnSpc>
            </a:pPr>
            <a:r>
              <a:rPr sz="1100" b="1">
                <a:solidFill>
                  <a:srgbClr val="2F6B4F"/>
                </a:solidFill>
                <a:latin typeface="Calibri"/>
              </a:rPr>
              <a:t>WHY THIS PROJECT</a:t>
            </a:r>
          </a:p>
        </p:txBody>
      </p:sp>
      <p:sp>
        <p:nvSpPr>
          <p:cNvPr id="4" name="TextBox 3"/>
          <p:cNvSpPr txBox="1"/>
          <p:nvPr/>
        </p:nvSpPr>
        <p:spPr>
          <a:xfrm>
            <a:off x="731520" y="813816"/>
            <a:ext cx="10728655" cy="566928"/>
          </a:xfrm>
          <a:prstGeom prst="rect">
            <a:avLst/>
          </a:prstGeom>
          <a:noFill/>
        </p:spPr>
        <p:txBody>
          <a:bodyPr wrap="square" anchor="t" lIns="0" rIns="0" tIns="0" bIns="0">
            <a:spAutoFit/>
          </a:bodyPr>
          <a:lstStyle/>
          <a:p>
            <a:pPr algn="l">
              <a:lnSpc>
                <a:spcPct val="100000"/>
              </a:lnSpc>
            </a:pPr>
            <a:r>
              <a:rPr sz="3000" b="1">
                <a:solidFill>
                  <a:srgbClr val="1F2421"/>
                </a:solidFill>
                <a:latin typeface="Calibri"/>
              </a:rPr>
              <a:t>The problem</a:t>
            </a:r>
          </a:p>
        </p:txBody>
      </p:sp>
      <p:sp>
        <p:nvSpPr>
          <p:cNvPr id="5" name="TextBox 4"/>
          <p:cNvSpPr txBox="1"/>
          <p:nvPr/>
        </p:nvSpPr>
        <p:spPr>
          <a:xfrm>
            <a:off x="731520" y="1417320"/>
            <a:ext cx="10728655" cy="365760"/>
          </a:xfrm>
          <a:prstGeom prst="rect">
            <a:avLst/>
          </a:prstGeom>
          <a:noFill/>
        </p:spPr>
        <p:txBody>
          <a:bodyPr wrap="square" anchor="t" lIns="0" rIns="0" tIns="0" bIns="0">
            <a:spAutoFit/>
          </a:bodyPr>
          <a:lstStyle/>
          <a:p>
            <a:pPr algn="l">
              <a:lnSpc>
                <a:spcPct val="100000"/>
              </a:lnSpc>
            </a:pPr>
            <a:r>
              <a:rPr sz="1400" b="0">
                <a:solidFill>
                  <a:srgbClr val="637268"/>
                </a:solidFill>
                <a:latin typeface="Calibri"/>
              </a:rPr>
              <a:t>Estimating what a home is worth is slow, opaque, or both.</a:t>
            </a:r>
          </a:p>
        </p:txBody>
      </p:sp>
      <p:sp>
        <p:nvSpPr>
          <p:cNvPr id="6" name="Rectangle 5"/>
          <p:cNvSpPr/>
          <p:nvPr/>
        </p:nvSpPr>
        <p:spPr>
          <a:xfrm>
            <a:off x="731520" y="1874520"/>
            <a:ext cx="10728655" cy="9525"/>
          </a:xfrm>
          <a:prstGeom prst="rect">
            <a:avLst/>
          </a:prstGeom>
          <a:solidFill>
            <a:srgbClr val="DCE3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TextBox 6"/>
          <p:cNvSpPr txBox="1"/>
          <p:nvPr/>
        </p:nvSpPr>
        <p:spPr>
          <a:xfrm>
            <a:off x="731520" y="2203704"/>
            <a:ext cx="5669280" cy="3108960"/>
          </a:xfrm>
          <a:prstGeom prst="rect">
            <a:avLst/>
          </a:prstGeom>
          <a:noFill/>
        </p:spPr>
        <p:txBody>
          <a:bodyPr wrap="square" lIns="0" rIns="0" tIns="0" bIns="0">
            <a:spAutoFit/>
          </a:bodyPr>
          <a:lstStyle/>
          <a:p>
            <a:pPr>
              <a:lnSpc>
                <a:spcPct val="118000"/>
              </a:lnSpc>
            </a:pPr>
            <a:r>
              <a:rPr sz="1500">
                <a:solidFill>
                  <a:srgbClr val="1F2421"/>
                </a:solidFill>
                <a:latin typeface="Calibri"/>
              </a:rPr>
              <a:t>•  Buyers and sellers need a quick sanity check before they commit to a price.</a:t>
            </a:r>
          </a:p>
          <a:p>
            <a:pPr>
              <a:lnSpc>
                <a:spcPct val="118000"/>
              </a:lnSpc>
              <a:spcBef>
                <a:spcPts val="1300"/>
              </a:spcBef>
            </a:pPr>
            <a:r>
              <a:rPr sz="1500">
                <a:solidFill>
                  <a:srgbClr val="1F2421"/>
                </a:solidFill>
                <a:latin typeface="Calibri"/>
              </a:rPr>
              <a:t>•  Professional valuations are accurate but slow and expensive.</a:t>
            </a:r>
          </a:p>
          <a:p>
            <a:pPr>
              <a:lnSpc>
                <a:spcPct val="118000"/>
              </a:lnSpc>
              <a:spcBef>
                <a:spcPts val="1300"/>
              </a:spcBef>
            </a:pPr>
            <a:r>
              <a:rPr sz="1500">
                <a:solidFill>
                  <a:srgbClr val="1F2421"/>
                </a:solidFill>
                <a:latin typeface="Calibri"/>
              </a:rPr>
              <a:t>•  Online estimators give answers but hide the model behind them.</a:t>
            </a:r>
          </a:p>
          <a:p>
            <a:pPr>
              <a:lnSpc>
                <a:spcPct val="118000"/>
              </a:lnSpc>
              <a:spcBef>
                <a:spcPts val="1300"/>
              </a:spcBef>
            </a:pPr>
            <a:r>
              <a:rPr sz="1500">
                <a:solidFill>
                  <a:srgbClr val="1F2421"/>
                </a:solidFill>
                <a:latin typeface="Calibri"/>
              </a:rPr>
              <a:t>•  Students have no complete, honest reference implementation to learn from.</a:t>
            </a:r>
          </a:p>
        </p:txBody>
      </p:sp>
      <p:sp>
        <p:nvSpPr>
          <p:cNvPr id="8" name="Rounded Rectangle 7"/>
          <p:cNvSpPr/>
          <p:nvPr/>
        </p:nvSpPr>
        <p:spPr>
          <a:xfrm>
            <a:off x="6766560" y="2203704"/>
            <a:ext cx="4782312" cy="3017520"/>
          </a:xfrm>
          <a:prstGeom prst="roundRect">
            <a:avLst>
              <a:gd name="adj" fmla="val 6000"/>
            </a:avLst>
          </a:prstGeom>
          <a:solidFill>
            <a:srgbClr val="E7EF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9" name="Rectangle 8"/>
          <p:cNvSpPr/>
          <p:nvPr/>
        </p:nvSpPr>
        <p:spPr>
          <a:xfrm>
            <a:off x="6766560" y="2203704"/>
            <a:ext cx="4782312" cy="54864"/>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0" name="TextBox 9"/>
          <p:cNvSpPr txBox="1"/>
          <p:nvPr/>
        </p:nvSpPr>
        <p:spPr>
          <a:xfrm>
            <a:off x="7086600" y="2514600"/>
            <a:ext cx="4114800" cy="365760"/>
          </a:xfrm>
          <a:prstGeom prst="rect">
            <a:avLst/>
          </a:prstGeom>
          <a:noFill/>
        </p:spPr>
        <p:txBody>
          <a:bodyPr wrap="square" anchor="t" lIns="0" rIns="0" tIns="0" bIns="0">
            <a:spAutoFit/>
          </a:bodyPr>
          <a:lstStyle/>
          <a:p>
            <a:pPr algn="l">
              <a:lnSpc>
                <a:spcPct val="100000"/>
              </a:lnSpc>
            </a:pPr>
            <a:r>
              <a:rPr sz="1600" b="1">
                <a:solidFill>
                  <a:srgbClr val="1F2421"/>
                </a:solidFill>
                <a:latin typeface="Calibri"/>
              </a:rPr>
              <a:t>What we set out to build</a:t>
            </a:r>
          </a:p>
        </p:txBody>
      </p:sp>
      <p:sp>
        <p:nvSpPr>
          <p:cNvPr id="11" name="TextBox 10"/>
          <p:cNvSpPr txBox="1"/>
          <p:nvPr/>
        </p:nvSpPr>
        <p:spPr>
          <a:xfrm>
            <a:off x="7086600" y="3026664"/>
            <a:ext cx="4114800" cy="2011680"/>
          </a:xfrm>
          <a:prstGeom prst="rect">
            <a:avLst/>
          </a:prstGeom>
          <a:noFill/>
        </p:spPr>
        <p:txBody>
          <a:bodyPr wrap="square" lIns="0" rIns="0" tIns="0" bIns="0">
            <a:spAutoFit/>
          </a:bodyPr>
          <a:lstStyle/>
          <a:p>
            <a:pPr>
              <a:lnSpc>
                <a:spcPct val="118000"/>
              </a:lnSpc>
            </a:pPr>
            <a:r>
              <a:rPr sz="1300">
                <a:solidFill>
                  <a:srgbClr val="1F2421"/>
                </a:solidFill>
                <a:latin typeface="Calibri"/>
              </a:rPr>
              <a:t>•  Nine physical inputs a person actually knows</a:t>
            </a:r>
          </a:p>
          <a:p>
            <a:pPr>
              <a:lnSpc>
                <a:spcPct val="118000"/>
              </a:lnSpc>
              <a:spcBef>
                <a:spcPts val="1000"/>
              </a:spcBef>
            </a:pPr>
            <a:r>
              <a:rPr sz="1300">
                <a:solidFill>
                  <a:srgbClr val="1F2421"/>
                </a:solidFill>
                <a:latin typeface="Calibri"/>
              </a:rPr>
              <a:t>•  An estimate with a transparent explanation</a:t>
            </a:r>
          </a:p>
          <a:p>
            <a:pPr>
              <a:lnSpc>
                <a:spcPct val="118000"/>
              </a:lnSpc>
              <a:spcBef>
                <a:spcPts val="1000"/>
              </a:spcBef>
            </a:pPr>
            <a:r>
              <a:rPr sz="1300">
                <a:solidFill>
                  <a:srgbClr val="1F2421"/>
                </a:solidFill>
                <a:latin typeface="Calibri"/>
              </a:rPr>
              <a:t>•  Honest accuracy figures, measured on held-out data</a:t>
            </a:r>
          </a:p>
          <a:p>
            <a:pPr>
              <a:lnSpc>
                <a:spcPct val="118000"/>
              </a:lnSpc>
              <a:spcBef>
                <a:spcPts val="1000"/>
              </a:spcBef>
            </a:pPr>
            <a:r>
              <a:rPr sz="1300">
                <a:solidFill>
                  <a:srgbClr val="1F2421"/>
                </a:solidFill>
                <a:latin typeface="Calibri"/>
              </a:rPr>
              <a:t>•  Stated limits, not implied certainty</a:t>
            </a:r>
          </a:p>
        </p:txBody>
      </p:sp>
      <p:sp>
        <p:nvSpPr>
          <p:cNvPr id="12" name="TextBox 11"/>
          <p:cNvSpPr txBox="1"/>
          <p:nvPr/>
        </p:nvSpPr>
        <p:spPr>
          <a:xfrm>
            <a:off x="731520" y="6382512"/>
            <a:ext cx="8686800" cy="274320"/>
          </a:xfrm>
          <a:prstGeom prst="rect">
            <a:avLst/>
          </a:prstGeom>
          <a:noFill/>
        </p:spPr>
        <p:txBody>
          <a:bodyPr wrap="square" anchor="t" lIns="0" rIns="0" tIns="0" bIns="0">
            <a:spAutoFit/>
          </a:bodyPr>
          <a:lstStyle/>
          <a:p>
            <a:pPr algn="l">
              <a:lnSpc>
                <a:spcPct val="100000"/>
              </a:lnSpc>
            </a:pPr>
            <a:r>
              <a:rPr sz="950" b="0">
                <a:solidFill>
                  <a:srgbClr val="637268"/>
                </a:solidFill>
                <a:latin typeface="Calibri"/>
              </a:rPr>
              <a:t>HomeValue — House Price Prediction System</a:t>
            </a:r>
          </a:p>
        </p:txBody>
      </p:sp>
      <p:sp>
        <p:nvSpPr>
          <p:cNvPr id="13" name="TextBox 12"/>
          <p:cNvSpPr txBox="1"/>
          <p:nvPr/>
        </p:nvSpPr>
        <p:spPr>
          <a:xfrm>
            <a:off x="10545775" y="6382512"/>
            <a:ext cx="914400" cy="274320"/>
          </a:xfrm>
          <a:prstGeom prst="rect">
            <a:avLst/>
          </a:prstGeom>
          <a:noFill/>
        </p:spPr>
        <p:txBody>
          <a:bodyPr wrap="square" anchor="t" lIns="0" rIns="0" tIns="0" bIns="0">
            <a:spAutoFit/>
          </a:bodyPr>
          <a:lstStyle/>
          <a:p>
            <a:pPr algn="r">
              <a:lnSpc>
                <a:spcPct val="100000"/>
              </a:lnSpc>
            </a:pPr>
            <a:r>
              <a:rPr sz="950" b="1">
                <a:solidFill>
                  <a:srgbClr val="2F6B4F"/>
                </a:solidFill>
                <a:latin typeface="Calibr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 name="TextBox 2"/>
          <p:cNvSpPr txBox="1"/>
          <p:nvPr/>
        </p:nvSpPr>
        <p:spPr>
          <a:xfrm>
            <a:off x="731520" y="502920"/>
            <a:ext cx="10728655" cy="274320"/>
          </a:xfrm>
          <a:prstGeom prst="rect">
            <a:avLst/>
          </a:prstGeom>
          <a:noFill/>
        </p:spPr>
        <p:txBody>
          <a:bodyPr wrap="square" anchor="t" lIns="0" rIns="0" tIns="0" bIns="0">
            <a:spAutoFit/>
          </a:bodyPr>
          <a:lstStyle/>
          <a:p>
            <a:pPr algn="l">
              <a:lnSpc>
                <a:spcPct val="100000"/>
              </a:lnSpc>
            </a:pPr>
            <a:r>
              <a:rPr sz="1100" b="1">
                <a:solidFill>
                  <a:srgbClr val="2F6B4F"/>
                </a:solidFill>
                <a:latin typeface="Calibri"/>
              </a:rPr>
              <a:t>OVERVIEW</a:t>
            </a:r>
          </a:p>
        </p:txBody>
      </p:sp>
      <p:sp>
        <p:nvSpPr>
          <p:cNvPr id="4" name="TextBox 3"/>
          <p:cNvSpPr txBox="1"/>
          <p:nvPr/>
        </p:nvSpPr>
        <p:spPr>
          <a:xfrm>
            <a:off x="731520" y="813816"/>
            <a:ext cx="10728655" cy="566928"/>
          </a:xfrm>
          <a:prstGeom prst="rect">
            <a:avLst/>
          </a:prstGeom>
          <a:noFill/>
        </p:spPr>
        <p:txBody>
          <a:bodyPr wrap="square" anchor="t" lIns="0" rIns="0" tIns="0" bIns="0">
            <a:spAutoFit/>
          </a:bodyPr>
          <a:lstStyle/>
          <a:p>
            <a:pPr algn="l">
              <a:lnSpc>
                <a:spcPct val="100000"/>
              </a:lnSpc>
            </a:pPr>
            <a:r>
              <a:rPr sz="3000" b="1">
                <a:solidFill>
                  <a:srgbClr val="1F2421"/>
                </a:solidFill>
                <a:latin typeface="Calibri"/>
              </a:rPr>
              <a:t>The solution, end to end</a:t>
            </a:r>
          </a:p>
        </p:txBody>
      </p:sp>
      <p:sp>
        <p:nvSpPr>
          <p:cNvPr id="5" name="TextBox 4"/>
          <p:cNvSpPr txBox="1"/>
          <p:nvPr/>
        </p:nvSpPr>
        <p:spPr>
          <a:xfrm>
            <a:off x="731520" y="1417320"/>
            <a:ext cx="10728655" cy="365760"/>
          </a:xfrm>
          <a:prstGeom prst="rect">
            <a:avLst/>
          </a:prstGeom>
          <a:noFill/>
        </p:spPr>
        <p:txBody>
          <a:bodyPr wrap="square" anchor="t" lIns="0" rIns="0" tIns="0" bIns="0">
            <a:spAutoFit/>
          </a:bodyPr>
          <a:lstStyle/>
          <a:p>
            <a:pPr algn="l">
              <a:lnSpc>
                <a:spcPct val="100000"/>
              </a:lnSpc>
            </a:pPr>
            <a:r>
              <a:rPr sz="1400" b="0">
                <a:solidFill>
                  <a:srgbClr val="637268"/>
                </a:solidFill>
                <a:latin typeface="Calibri"/>
              </a:rPr>
              <a:t>One pipeline, two candidate models, one web application.</a:t>
            </a:r>
          </a:p>
        </p:txBody>
      </p:sp>
      <p:sp>
        <p:nvSpPr>
          <p:cNvPr id="6" name="Rectangle 5"/>
          <p:cNvSpPr/>
          <p:nvPr/>
        </p:nvSpPr>
        <p:spPr>
          <a:xfrm>
            <a:off x="731520" y="1874520"/>
            <a:ext cx="10728655" cy="9525"/>
          </a:xfrm>
          <a:prstGeom prst="rect">
            <a:avLst/>
          </a:prstGeom>
          <a:solidFill>
            <a:srgbClr val="DCE3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Rounded Rectangle 6"/>
          <p:cNvSpPr/>
          <p:nvPr/>
        </p:nvSpPr>
        <p:spPr>
          <a:xfrm>
            <a:off x="731520" y="2660904"/>
            <a:ext cx="1838492" cy="1143000"/>
          </a:xfrm>
          <a:prstGeom prst="roundRect">
            <a:avLst>
              <a:gd name="adj" fmla="val 10000"/>
            </a:avLst>
          </a:prstGeom>
          <a:solidFill>
            <a:srgbClr val="E7EFEA"/>
          </a:solidFill>
          <a:ln w="9525">
            <a:solidFill>
              <a:srgbClr val="DCE3D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8" name="TextBox 7"/>
          <p:cNvSpPr txBox="1"/>
          <p:nvPr/>
        </p:nvSpPr>
        <p:spPr>
          <a:xfrm>
            <a:off x="731520" y="2807208"/>
            <a:ext cx="1838492" cy="274320"/>
          </a:xfrm>
          <a:prstGeom prst="rect">
            <a:avLst/>
          </a:prstGeom>
          <a:noFill/>
        </p:spPr>
        <p:txBody>
          <a:bodyPr wrap="square" anchor="t" lIns="0" rIns="0" tIns="0" bIns="0">
            <a:spAutoFit/>
          </a:bodyPr>
          <a:lstStyle/>
          <a:p>
            <a:pPr algn="ctr">
              <a:lnSpc>
                <a:spcPct val="100000"/>
              </a:lnSpc>
            </a:pPr>
            <a:r>
              <a:rPr sz="1300" b="1">
                <a:solidFill>
                  <a:srgbClr val="2F6B4F"/>
                </a:solidFill>
                <a:latin typeface="Calibri"/>
              </a:rPr>
              <a:t>1</a:t>
            </a:r>
          </a:p>
        </p:txBody>
      </p:sp>
      <p:sp>
        <p:nvSpPr>
          <p:cNvPr id="9" name="TextBox 8"/>
          <p:cNvSpPr txBox="1"/>
          <p:nvPr/>
        </p:nvSpPr>
        <p:spPr>
          <a:xfrm>
            <a:off x="731520" y="3081528"/>
            <a:ext cx="1838492" cy="256032"/>
          </a:xfrm>
          <a:prstGeom prst="rect">
            <a:avLst/>
          </a:prstGeom>
          <a:noFill/>
        </p:spPr>
        <p:txBody>
          <a:bodyPr wrap="square" anchor="t" lIns="0" rIns="0" tIns="0" bIns="0">
            <a:spAutoFit/>
          </a:bodyPr>
          <a:lstStyle/>
          <a:p>
            <a:pPr algn="ctr">
              <a:lnSpc>
                <a:spcPct val="100000"/>
              </a:lnSpc>
            </a:pPr>
            <a:r>
              <a:rPr sz="1300" b="1">
                <a:solidFill>
                  <a:srgbClr val="1F2421"/>
                </a:solidFill>
                <a:latin typeface="Calibri"/>
              </a:rPr>
              <a:t>Collect</a:t>
            </a:r>
          </a:p>
        </p:txBody>
      </p:sp>
      <p:sp>
        <p:nvSpPr>
          <p:cNvPr id="10" name="TextBox 9"/>
          <p:cNvSpPr txBox="1"/>
          <p:nvPr/>
        </p:nvSpPr>
        <p:spPr>
          <a:xfrm>
            <a:off x="731520" y="3337560"/>
            <a:ext cx="1838492" cy="274320"/>
          </a:xfrm>
          <a:prstGeom prst="rect">
            <a:avLst/>
          </a:prstGeom>
          <a:noFill/>
        </p:spPr>
        <p:txBody>
          <a:bodyPr wrap="square" anchor="t" lIns="0" rIns="0" tIns="0" bIns="0">
            <a:spAutoFit/>
          </a:bodyPr>
          <a:lstStyle/>
          <a:p>
            <a:pPr algn="ctr">
              <a:lnSpc>
                <a:spcPct val="95000"/>
              </a:lnSpc>
            </a:pPr>
            <a:r>
              <a:rPr sz="950" b="0">
                <a:solidFill>
                  <a:srgbClr val="637268"/>
                </a:solidFill>
                <a:latin typeface="Calibri"/>
              </a:rPr>
              <a:t>Ames dataset via OpenML</a:t>
            </a:r>
          </a:p>
        </p:txBody>
      </p:sp>
      <p:sp>
        <p:nvSpPr>
          <p:cNvPr id="11" name="TextBox 10"/>
          <p:cNvSpPr txBox="1"/>
          <p:nvPr/>
        </p:nvSpPr>
        <p:spPr>
          <a:xfrm>
            <a:off x="2570012" y="3031236"/>
            <a:ext cx="384048" cy="402336"/>
          </a:xfrm>
          <a:prstGeom prst="rect">
            <a:avLst/>
          </a:prstGeom>
          <a:noFill/>
        </p:spPr>
        <p:txBody>
          <a:bodyPr wrap="square" anchor="t" lIns="0" rIns="0" tIns="0" bIns="0">
            <a:spAutoFit/>
          </a:bodyPr>
          <a:lstStyle/>
          <a:p>
            <a:pPr algn="ctr">
              <a:lnSpc>
                <a:spcPct val="100000"/>
              </a:lnSpc>
            </a:pPr>
            <a:r>
              <a:rPr sz="2600" b="1">
                <a:solidFill>
                  <a:srgbClr val="2F6B4F"/>
                </a:solidFill>
                <a:latin typeface="Calibri"/>
              </a:rPr>
              <a:t>›</a:t>
            </a:r>
          </a:p>
        </p:txBody>
      </p:sp>
      <p:sp>
        <p:nvSpPr>
          <p:cNvPr id="12" name="Rounded Rectangle 11"/>
          <p:cNvSpPr/>
          <p:nvPr/>
        </p:nvSpPr>
        <p:spPr>
          <a:xfrm>
            <a:off x="2954060" y="2660904"/>
            <a:ext cx="1838492" cy="1143000"/>
          </a:xfrm>
          <a:prstGeom prst="roundRect">
            <a:avLst>
              <a:gd name="adj" fmla="val 10000"/>
            </a:avLst>
          </a:prstGeom>
          <a:solidFill>
            <a:srgbClr val="E7EFEA"/>
          </a:solidFill>
          <a:ln w="9525">
            <a:solidFill>
              <a:srgbClr val="DCE3D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3" name="TextBox 12"/>
          <p:cNvSpPr txBox="1"/>
          <p:nvPr/>
        </p:nvSpPr>
        <p:spPr>
          <a:xfrm>
            <a:off x="2954060" y="2807208"/>
            <a:ext cx="1838492" cy="274320"/>
          </a:xfrm>
          <a:prstGeom prst="rect">
            <a:avLst/>
          </a:prstGeom>
          <a:noFill/>
        </p:spPr>
        <p:txBody>
          <a:bodyPr wrap="square" anchor="t" lIns="0" rIns="0" tIns="0" bIns="0">
            <a:spAutoFit/>
          </a:bodyPr>
          <a:lstStyle/>
          <a:p>
            <a:pPr algn="ctr">
              <a:lnSpc>
                <a:spcPct val="100000"/>
              </a:lnSpc>
            </a:pPr>
            <a:r>
              <a:rPr sz="1300" b="1">
                <a:solidFill>
                  <a:srgbClr val="2F6B4F"/>
                </a:solidFill>
                <a:latin typeface="Calibri"/>
              </a:rPr>
              <a:t>2</a:t>
            </a:r>
          </a:p>
        </p:txBody>
      </p:sp>
      <p:sp>
        <p:nvSpPr>
          <p:cNvPr id="14" name="TextBox 13"/>
          <p:cNvSpPr txBox="1"/>
          <p:nvPr/>
        </p:nvSpPr>
        <p:spPr>
          <a:xfrm>
            <a:off x="2954060" y="3081528"/>
            <a:ext cx="1838492" cy="256032"/>
          </a:xfrm>
          <a:prstGeom prst="rect">
            <a:avLst/>
          </a:prstGeom>
          <a:noFill/>
        </p:spPr>
        <p:txBody>
          <a:bodyPr wrap="square" anchor="t" lIns="0" rIns="0" tIns="0" bIns="0">
            <a:spAutoFit/>
          </a:bodyPr>
          <a:lstStyle/>
          <a:p>
            <a:pPr algn="ctr">
              <a:lnSpc>
                <a:spcPct val="100000"/>
              </a:lnSpc>
            </a:pPr>
            <a:r>
              <a:rPr sz="1300" b="1">
                <a:solidFill>
                  <a:srgbClr val="1F2421"/>
                </a:solidFill>
                <a:latin typeface="Calibri"/>
              </a:rPr>
              <a:t>Prepare</a:t>
            </a:r>
          </a:p>
        </p:txBody>
      </p:sp>
      <p:sp>
        <p:nvSpPr>
          <p:cNvPr id="15" name="TextBox 14"/>
          <p:cNvSpPr txBox="1"/>
          <p:nvPr/>
        </p:nvSpPr>
        <p:spPr>
          <a:xfrm>
            <a:off x="2954060" y="3337560"/>
            <a:ext cx="1838492" cy="274320"/>
          </a:xfrm>
          <a:prstGeom prst="rect">
            <a:avLst/>
          </a:prstGeom>
          <a:noFill/>
        </p:spPr>
        <p:txBody>
          <a:bodyPr wrap="square" anchor="t" lIns="0" rIns="0" tIns="0" bIns="0">
            <a:spAutoFit/>
          </a:bodyPr>
          <a:lstStyle/>
          <a:p>
            <a:pPr algn="ctr">
              <a:lnSpc>
                <a:spcPct val="95000"/>
              </a:lnSpc>
            </a:pPr>
            <a:r>
              <a:rPr sz="950" b="0">
                <a:solidFill>
                  <a:srgbClr val="637268"/>
                </a:solidFill>
                <a:latin typeface="Calibri"/>
              </a:rPr>
              <a:t>19 columns to 10, documented rules</a:t>
            </a:r>
          </a:p>
        </p:txBody>
      </p:sp>
      <p:sp>
        <p:nvSpPr>
          <p:cNvPr id="16" name="TextBox 15"/>
          <p:cNvSpPr txBox="1"/>
          <p:nvPr/>
        </p:nvSpPr>
        <p:spPr>
          <a:xfrm>
            <a:off x="4792552" y="3031236"/>
            <a:ext cx="384048" cy="402336"/>
          </a:xfrm>
          <a:prstGeom prst="rect">
            <a:avLst/>
          </a:prstGeom>
          <a:noFill/>
        </p:spPr>
        <p:txBody>
          <a:bodyPr wrap="square" anchor="t" lIns="0" rIns="0" tIns="0" bIns="0">
            <a:spAutoFit/>
          </a:bodyPr>
          <a:lstStyle/>
          <a:p>
            <a:pPr algn="ctr">
              <a:lnSpc>
                <a:spcPct val="100000"/>
              </a:lnSpc>
            </a:pPr>
            <a:r>
              <a:rPr sz="2600" b="1">
                <a:solidFill>
                  <a:srgbClr val="2F6B4F"/>
                </a:solidFill>
                <a:latin typeface="Calibri"/>
              </a:rPr>
              <a:t>›</a:t>
            </a:r>
          </a:p>
        </p:txBody>
      </p:sp>
      <p:sp>
        <p:nvSpPr>
          <p:cNvPr id="17" name="Rounded Rectangle 16"/>
          <p:cNvSpPr/>
          <p:nvPr/>
        </p:nvSpPr>
        <p:spPr>
          <a:xfrm>
            <a:off x="5176600" y="2660904"/>
            <a:ext cx="1838492" cy="1143000"/>
          </a:xfrm>
          <a:prstGeom prst="roundRect">
            <a:avLst>
              <a:gd name="adj" fmla="val 10000"/>
            </a:avLst>
          </a:prstGeom>
          <a:solidFill>
            <a:srgbClr val="E7EFEA"/>
          </a:solidFill>
          <a:ln w="9525">
            <a:solidFill>
              <a:srgbClr val="DCE3D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8" name="TextBox 17"/>
          <p:cNvSpPr txBox="1"/>
          <p:nvPr/>
        </p:nvSpPr>
        <p:spPr>
          <a:xfrm>
            <a:off x="5176600" y="2807208"/>
            <a:ext cx="1838492" cy="274320"/>
          </a:xfrm>
          <a:prstGeom prst="rect">
            <a:avLst/>
          </a:prstGeom>
          <a:noFill/>
        </p:spPr>
        <p:txBody>
          <a:bodyPr wrap="square" anchor="t" lIns="0" rIns="0" tIns="0" bIns="0">
            <a:spAutoFit/>
          </a:bodyPr>
          <a:lstStyle/>
          <a:p>
            <a:pPr algn="ctr">
              <a:lnSpc>
                <a:spcPct val="100000"/>
              </a:lnSpc>
            </a:pPr>
            <a:r>
              <a:rPr sz="1300" b="1">
                <a:solidFill>
                  <a:srgbClr val="2F6B4F"/>
                </a:solidFill>
                <a:latin typeface="Calibri"/>
              </a:rPr>
              <a:t>3</a:t>
            </a:r>
          </a:p>
        </p:txBody>
      </p:sp>
      <p:sp>
        <p:nvSpPr>
          <p:cNvPr id="19" name="TextBox 18"/>
          <p:cNvSpPr txBox="1"/>
          <p:nvPr/>
        </p:nvSpPr>
        <p:spPr>
          <a:xfrm>
            <a:off x="5176600" y="3081528"/>
            <a:ext cx="1838492" cy="256032"/>
          </a:xfrm>
          <a:prstGeom prst="rect">
            <a:avLst/>
          </a:prstGeom>
          <a:noFill/>
        </p:spPr>
        <p:txBody>
          <a:bodyPr wrap="square" anchor="t" lIns="0" rIns="0" tIns="0" bIns="0">
            <a:spAutoFit/>
          </a:bodyPr>
          <a:lstStyle/>
          <a:p>
            <a:pPr algn="ctr">
              <a:lnSpc>
                <a:spcPct val="100000"/>
              </a:lnSpc>
            </a:pPr>
            <a:r>
              <a:rPr sz="1300" b="1">
                <a:solidFill>
                  <a:srgbClr val="1F2421"/>
                </a:solidFill>
                <a:latin typeface="Calibri"/>
              </a:rPr>
              <a:t>Train</a:t>
            </a:r>
          </a:p>
        </p:txBody>
      </p:sp>
      <p:sp>
        <p:nvSpPr>
          <p:cNvPr id="20" name="TextBox 19"/>
          <p:cNvSpPr txBox="1"/>
          <p:nvPr/>
        </p:nvSpPr>
        <p:spPr>
          <a:xfrm>
            <a:off x="5176600" y="3337560"/>
            <a:ext cx="1838492" cy="274320"/>
          </a:xfrm>
          <a:prstGeom prst="rect">
            <a:avLst/>
          </a:prstGeom>
          <a:noFill/>
        </p:spPr>
        <p:txBody>
          <a:bodyPr wrap="square" anchor="t" lIns="0" rIns="0" tIns="0" bIns="0">
            <a:spAutoFit/>
          </a:bodyPr>
          <a:lstStyle/>
          <a:p>
            <a:pPr algn="ctr">
              <a:lnSpc>
                <a:spcPct val="95000"/>
              </a:lnSpc>
            </a:pPr>
            <a:r>
              <a:rPr sz="950" b="0">
                <a:solidFill>
                  <a:srgbClr val="637268"/>
                </a:solidFill>
                <a:latin typeface="Calibri"/>
              </a:rPr>
              <a:t>Linear vs Random Forest</a:t>
            </a:r>
          </a:p>
        </p:txBody>
      </p:sp>
      <p:sp>
        <p:nvSpPr>
          <p:cNvPr id="21" name="TextBox 20"/>
          <p:cNvSpPr txBox="1"/>
          <p:nvPr/>
        </p:nvSpPr>
        <p:spPr>
          <a:xfrm>
            <a:off x="7015092" y="3031236"/>
            <a:ext cx="384048" cy="402336"/>
          </a:xfrm>
          <a:prstGeom prst="rect">
            <a:avLst/>
          </a:prstGeom>
          <a:noFill/>
        </p:spPr>
        <p:txBody>
          <a:bodyPr wrap="square" anchor="t" lIns="0" rIns="0" tIns="0" bIns="0">
            <a:spAutoFit/>
          </a:bodyPr>
          <a:lstStyle/>
          <a:p>
            <a:pPr algn="ctr">
              <a:lnSpc>
                <a:spcPct val="100000"/>
              </a:lnSpc>
            </a:pPr>
            <a:r>
              <a:rPr sz="2600" b="1">
                <a:solidFill>
                  <a:srgbClr val="2F6B4F"/>
                </a:solidFill>
                <a:latin typeface="Calibri"/>
              </a:rPr>
              <a:t>›</a:t>
            </a:r>
          </a:p>
        </p:txBody>
      </p:sp>
      <p:sp>
        <p:nvSpPr>
          <p:cNvPr id="22" name="Rounded Rectangle 21"/>
          <p:cNvSpPr/>
          <p:nvPr/>
        </p:nvSpPr>
        <p:spPr>
          <a:xfrm>
            <a:off x="7399140" y="2660904"/>
            <a:ext cx="1838492" cy="1143000"/>
          </a:xfrm>
          <a:prstGeom prst="roundRect">
            <a:avLst>
              <a:gd name="adj" fmla="val 10000"/>
            </a:avLst>
          </a:prstGeom>
          <a:solidFill>
            <a:srgbClr val="E7EFEA"/>
          </a:solidFill>
          <a:ln w="9525">
            <a:solidFill>
              <a:srgbClr val="DCE3D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3" name="TextBox 22"/>
          <p:cNvSpPr txBox="1"/>
          <p:nvPr/>
        </p:nvSpPr>
        <p:spPr>
          <a:xfrm>
            <a:off x="7399140" y="2807208"/>
            <a:ext cx="1838492" cy="274320"/>
          </a:xfrm>
          <a:prstGeom prst="rect">
            <a:avLst/>
          </a:prstGeom>
          <a:noFill/>
        </p:spPr>
        <p:txBody>
          <a:bodyPr wrap="square" anchor="t" lIns="0" rIns="0" tIns="0" bIns="0">
            <a:spAutoFit/>
          </a:bodyPr>
          <a:lstStyle/>
          <a:p>
            <a:pPr algn="ctr">
              <a:lnSpc>
                <a:spcPct val="100000"/>
              </a:lnSpc>
            </a:pPr>
            <a:r>
              <a:rPr sz="1300" b="1">
                <a:solidFill>
                  <a:srgbClr val="2F6B4F"/>
                </a:solidFill>
                <a:latin typeface="Calibri"/>
              </a:rPr>
              <a:t>4</a:t>
            </a:r>
          </a:p>
        </p:txBody>
      </p:sp>
      <p:sp>
        <p:nvSpPr>
          <p:cNvPr id="24" name="TextBox 23"/>
          <p:cNvSpPr txBox="1"/>
          <p:nvPr/>
        </p:nvSpPr>
        <p:spPr>
          <a:xfrm>
            <a:off x="7399140" y="3081528"/>
            <a:ext cx="1838492" cy="256032"/>
          </a:xfrm>
          <a:prstGeom prst="rect">
            <a:avLst/>
          </a:prstGeom>
          <a:noFill/>
        </p:spPr>
        <p:txBody>
          <a:bodyPr wrap="square" anchor="t" lIns="0" rIns="0" tIns="0" bIns="0">
            <a:spAutoFit/>
          </a:bodyPr>
          <a:lstStyle/>
          <a:p>
            <a:pPr algn="ctr">
              <a:lnSpc>
                <a:spcPct val="100000"/>
              </a:lnSpc>
            </a:pPr>
            <a:r>
              <a:rPr sz="1300" b="1">
                <a:solidFill>
                  <a:srgbClr val="1F2421"/>
                </a:solidFill>
                <a:latin typeface="Calibri"/>
              </a:rPr>
              <a:t>Evaluate</a:t>
            </a:r>
          </a:p>
        </p:txBody>
      </p:sp>
      <p:sp>
        <p:nvSpPr>
          <p:cNvPr id="25" name="TextBox 24"/>
          <p:cNvSpPr txBox="1"/>
          <p:nvPr/>
        </p:nvSpPr>
        <p:spPr>
          <a:xfrm>
            <a:off x="7399140" y="3337560"/>
            <a:ext cx="1838492" cy="274320"/>
          </a:xfrm>
          <a:prstGeom prst="rect">
            <a:avLst/>
          </a:prstGeom>
          <a:noFill/>
        </p:spPr>
        <p:txBody>
          <a:bodyPr wrap="square" anchor="t" lIns="0" rIns="0" tIns="0" bIns="0">
            <a:spAutoFit/>
          </a:bodyPr>
          <a:lstStyle/>
          <a:p>
            <a:pPr algn="ctr">
              <a:lnSpc>
                <a:spcPct val="95000"/>
              </a:lnSpc>
            </a:pPr>
            <a:r>
              <a:rPr sz="950" b="0">
                <a:solidFill>
                  <a:srgbClr val="637268"/>
                </a:solidFill>
                <a:latin typeface="Calibri"/>
              </a:rPr>
              <a:t>Held-out test set only</a:t>
            </a:r>
          </a:p>
        </p:txBody>
      </p:sp>
      <p:sp>
        <p:nvSpPr>
          <p:cNvPr id="26" name="TextBox 25"/>
          <p:cNvSpPr txBox="1"/>
          <p:nvPr/>
        </p:nvSpPr>
        <p:spPr>
          <a:xfrm>
            <a:off x="9237632" y="3031236"/>
            <a:ext cx="384048" cy="402336"/>
          </a:xfrm>
          <a:prstGeom prst="rect">
            <a:avLst/>
          </a:prstGeom>
          <a:noFill/>
        </p:spPr>
        <p:txBody>
          <a:bodyPr wrap="square" anchor="t" lIns="0" rIns="0" tIns="0" bIns="0">
            <a:spAutoFit/>
          </a:bodyPr>
          <a:lstStyle/>
          <a:p>
            <a:pPr algn="ctr">
              <a:lnSpc>
                <a:spcPct val="100000"/>
              </a:lnSpc>
            </a:pPr>
            <a:r>
              <a:rPr sz="2600" b="1">
                <a:solidFill>
                  <a:srgbClr val="2F6B4F"/>
                </a:solidFill>
                <a:latin typeface="Calibri"/>
              </a:rPr>
              <a:t>›</a:t>
            </a:r>
          </a:p>
        </p:txBody>
      </p:sp>
      <p:sp>
        <p:nvSpPr>
          <p:cNvPr id="27" name="Rounded Rectangle 26"/>
          <p:cNvSpPr/>
          <p:nvPr/>
        </p:nvSpPr>
        <p:spPr>
          <a:xfrm>
            <a:off x="9621680" y="2660904"/>
            <a:ext cx="1838492" cy="1143000"/>
          </a:xfrm>
          <a:prstGeom prst="roundRect">
            <a:avLst>
              <a:gd name="adj" fmla="val 10000"/>
            </a:avLst>
          </a:prstGeom>
          <a:solidFill>
            <a:srgbClr val="E7EFEA"/>
          </a:solidFill>
          <a:ln w="9525">
            <a:solidFill>
              <a:srgbClr val="DCE3D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8" name="TextBox 27"/>
          <p:cNvSpPr txBox="1"/>
          <p:nvPr/>
        </p:nvSpPr>
        <p:spPr>
          <a:xfrm>
            <a:off x="9621680" y="2807208"/>
            <a:ext cx="1838492" cy="274320"/>
          </a:xfrm>
          <a:prstGeom prst="rect">
            <a:avLst/>
          </a:prstGeom>
          <a:noFill/>
        </p:spPr>
        <p:txBody>
          <a:bodyPr wrap="square" anchor="t" lIns="0" rIns="0" tIns="0" bIns="0">
            <a:spAutoFit/>
          </a:bodyPr>
          <a:lstStyle/>
          <a:p>
            <a:pPr algn="ctr">
              <a:lnSpc>
                <a:spcPct val="100000"/>
              </a:lnSpc>
            </a:pPr>
            <a:r>
              <a:rPr sz="1300" b="1">
                <a:solidFill>
                  <a:srgbClr val="2F6B4F"/>
                </a:solidFill>
                <a:latin typeface="Calibri"/>
              </a:rPr>
              <a:t>5</a:t>
            </a:r>
          </a:p>
        </p:txBody>
      </p:sp>
      <p:sp>
        <p:nvSpPr>
          <p:cNvPr id="29" name="TextBox 28"/>
          <p:cNvSpPr txBox="1"/>
          <p:nvPr/>
        </p:nvSpPr>
        <p:spPr>
          <a:xfrm>
            <a:off x="9621680" y="3081528"/>
            <a:ext cx="1838492" cy="256032"/>
          </a:xfrm>
          <a:prstGeom prst="rect">
            <a:avLst/>
          </a:prstGeom>
          <a:noFill/>
        </p:spPr>
        <p:txBody>
          <a:bodyPr wrap="square" anchor="t" lIns="0" rIns="0" tIns="0" bIns="0">
            <a:spAutoFit/>
          </a:bodyPr>
          <a:lstStyle/>
          <a:p>
            <a:pPr algn="ctr">
              <a:lnSpc>
                <a:spcPct val="100000"/>
              </a:lnSpc>
            </a:pPr>
            <a:r>
              <a:rPr sz="1300" b="1">
                <a:solidFill>
                  <a:srgbClr val="1F2421"/>
                </a:solidFill>
                <a:latin typeface="Calibri"/>
              </a:rPr>
              <a:t>Serve</a:t>
            </a:r>
          </a:p>
        </p:txBody>
      </p:sp>
      <p:sp>
        <p:nvSpPr>
          <p:cNvPr id="30" name="TextBox 29"/>
          <p:cNvSpPr txBox="1"/>
          <p:nvPr/>
        </p:nvSpPr>
        <p:spPr>
          <a:xfrm>
            <a:off x="9621680" y="3337560"/>
            <a:ext cx="1838492" cy="274320"/>
          </a:xfrm>
          <a:prstGeom prst="rect">
            <a:avLst/>
          </a:prstGeom>
          <a:noFill/>
        </p:spPr>
        <p:txBody>
          <a:bodyPr wrap="square" anchor="t" lIns="0" rIns="0" tIns="0" bIns="0">
            <a:spAutoFit/>
          </a:bodyPr>
          <a:lstStyle/>
          <a:p>
            <a:pPr algn="ctr">
              <a:lnSpc>
                <a:spcPct val="95000"/>
              </a:lnSpc>
            </a:pPr>
            <a:r>
              <a:rPr sz="950" b="0">
                <a:solidFill>
                  <a:srgbClr val="637268"/>
                </a:solidFill>
                <a:latin typeface="Calibri"/>
              </a:rPr>
              <a:t>Flask app + live dashboard</a:t>
            </a:r>
          </a:p>
        </p:txBody>
      </p:sp>
      <p:sp>
        <p:nvSpPr>
          <p:cNvPr id="31" name="Rounded Rectangle 30"/>
          <p:cNvSpPr/>
          <p:nvPr/>
        </p:nvSpPr>
        <p:spPr>
          <a:xfrm>
            <a:off x="731520" y="4352544"/>
            <a:ext cx="2487168" cy="1600200"/>
          </a:xfrm>
          <a:prstGeom prst="roundRect">
            <a:avLst>
              <a:gd name="adj" fmla="val 8000"/>
            </a:avLst>
          </a:prstGeom>
          <a:solidFill>
            <a:srgbClr val="E7EFEA"/>
          </a:solidFill>
          <a:ln w="9525">
            <a:solidFill>
              <a:srgbClr val="DCE3D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2" name="Rectangle 31"/>
          <p:cNvSpPr/>
          <p:nvPr/>
        </p:nvSpPr>
        <p:spPr>
          <a:xfrm>
            <a:off x="731520" y="4352544"/>
            <a:ext cx="50292" cy="1600200"/>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3" name="TextBox 32"/>
          <p:cNvSpPr txBox="1"/>
          <p:nvPr/>
        </p:nvSpPr>
        <p:spPr>
          <a:xfrm>
            <a:off x="987552" y="4572000"/>
            <a:ext cx="2075688" cy="502920"/>
          </a:xfrm>
          <a:prstGeom prst="rect">
            <a:avLst/>
          </a:prstGeom>
          <a:noFill/>
        </p:spPr>
        <p:txBody>
          <a:bodyPr wrap="square" anchor="t" lIns="0" rIns="0" tIns="0" bIns="0">
            <a:spAutoFit/>
          </a:bodyPr>
          <a:lstStyle/>
          <a:p>
            <a:pPr algn="l">
              <a:lnSpc>
                <a:spcPct val="100000"/>
              </a:lnSpc>
            </a:pPr>
            <a:r>
              <a:rPr sz="2700" b="1">
                <a:solidFill>
                  <a:srgbClr val="2F6B4F"/>
                </a:solidFill>
                <a:latin typeface="Calibri"/>
              </a:rPr>
              <a:t>1,458</a:t>
            </a:r>
          </a:p>
        </p:txBody>
      </p:sp>
      <p:sp>
        <p:nvSpPr>
          <p:cNvPr id="34" name="TextBox 33"/>
          <p:cNvSpPr txBox="1"/>
          <p:nvPr/>
        </p:nvSpPr>
        <p:spPr>
          <a:xfrm>
            <a:off x="987552" y="5120640"/>
            <a:ext cx="2075688" cy="310896"/>
          </a:xfrm>
          <a:prstGeom prst="rect">
            <a:avLst/>
          </a:prstGeom>
          <a:noFill/>
        </p:spPr>
        <p:txBody>
          <a:bodyPr wrap="square" anchor="t" lIns="0" rIns="0" tIns="0" bIns="0">
            <a:spAutoFit/>
          </a:bodyPr>
          <a:lstStyle/>
          <a:p>
            <a:pPr algn="l">
              <a:lnSpc>
                <a:spcPct val="100000"/>
              </a:lnSpc>
            </a:pPr>
            <a:r>
              <a:rPr sz="1250" b="1">
                <a:solidFill>
                  <a:srgbClr val="1F2421"/>
                </a:solidFill>
                <a:latin typeface="Calibri"/>
              </a:rPr>
              <a:t>properties</a:t>
            </a:r>
          </a:p>
        </p:txBody>
      </p:sp>
      <p:sp>
        <p:nvSpPr>
          <p:cNvPr id="35" name="TextBox 34"/>
          <p:cNvSpPr txBox="1"/>
          <p:nvPr/>
        </p:nvSpPr>
        <p:spPr>
          <a:xfrm>
            <a:off x="987552" y="5449824"/>
            <a:ext cx="2075688" cy="457200"/>
          </a:xfrm>
          <a:prstGeom prst="rect">
            <a:avLst/>
          </a:prstGeom>
          <a:noFill/>
        </p:spPr>
        <p:txBody>
          <a:bodyPr wrap="square" anchor="t" lIns="0" rIns="0" tIns="0" bIns="0">
            <a:spAutoFit/>
          </a:bodyPr>
          <a:lstStyle/>
          <a:p>
            <a:pPr algn="l">
              <a:lnSpc>
                <a:spcPct val="115000"/>
              </a:lnSpc>
            </a:pPr>
            <a:r>
              <a:rPr sz="1050" b="0">
                <a:solidFill>
                  <a:srgbClr val="637268"/>
                </a:solidFill>
                <a:latin typeface="Calibri"/>
              </a:rPr>
              <a:t>after cleaning</a:t>
            </a:r>
          </a:p>
        </p:txBody>
      </p:sp>
      <p:sp>
        <p:nvSpPr>
          <p:cNvPr id="36" name="Rounded Rectangle 35"/>
          <p:cNvSpPr/>
          <p:nvPr/>
        </p:nvSpPr>
        <p:spPr>
          <a:xfrm>
            <a:off x="3438144" y="4352544"/>
            <a:ext cx="2487168" cy="1600200"/>
          </a:xfrm>
          <a:prstGeom prst="roundRect">
            <a:avLst>
              <a:gd name="adj" fmla="val 8000"/>
            </a:avLst>
          </a:prstGeom>
          <a:solidFill>
            <a:srgbClr val="E7EFEA"/>
          </a:solidFill>
          <a:ln w="9525">
            <a:solidFill>
              <a:srgbClr val="DCE3D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7" name="Rectangle 36"/>
          <p:cNvSpPr/>
          <p:nvPr/>
        </p:nvSpPr>
        <p:spPr>
          <a:xfrm>
            <a:off x="3438144" y="4352544"/>
            <a:ext cx="50292" cy="1600200"/>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8" name="TextBox 37"/>
          <p:cNvSpPr txBox="1"/>
          <p:nvPr/>
        </p:nvSpPr>
        <p:spPr>
          <a:xfrm>
            <a:off x="3694176" y="4572000"/>
            <a:ext cx="2075688" cy="502920"/>
          </a:xfrm>
          <a:prstGeom prst="rect">
            <a:avLst/>
          </a:prstGeom>
          <a:noFill/>
        </p:spPr>
        <p:txBody>
          <a:bodyPr wrap="square" anchor="t" lIns="0" rIns="0" tIns="0" bIns="0">
            <a:spAutoFit/>
          </a:bodyPr>
          <a:lstStyle/>
          <a:p>
            <a:pPr algn="l">
              <a:lnSpc>
                <a:spcPct val="100000"/>
              </a:lnSpc>
            </a:pPr>
            <a:r>
              <a:rPr sz="2700" b="1">
                <a:solidFill>
                  <a:srgbClr val="2F6B4F"/>
                </a:solidFill>
                <a:latin typeface="Calibri"/>
              </a:rPr>
              <a:t>9</a:t>
            </a:r>
          </a:p>
        </p:txBody>
      </p:sp>
      <p:sp>
        <p:nvSpPr>
          <p:cNvPr id="39" name="TextBox 38"/>
          <p:cNvSpPr txBox="1"/>
          <p:nvPr/>
        </p:nvSpPr>
        <p:spPr>
          <a:xfrm>
            <a:off x="3694176" y="5120640"/>
            <a:ext cx="2075688" cy="310896"/>
          </a:xfrm>
          <a:prstGeom prst="rect">
            <a:avLst/>
          </a:prstGeom>
          <a:noFill/>
        </p:spPr>
        <p:txBody>
          <a:bodyPr wrap="square" anchor="t" lIns="0" rIns="0" tIns="0" bIns="0">
            <a:spAutoFit/>
          </a:bodyPr>
          <a:lstStyle/>
          <a:p>
            <a:pPr algn="l">
              <a:lnSpc>
                <a:spcPct val="100000"/>
              </a:lnSpc>
            </a:pPr>
            <a:r>
              <a:rPr sz="1250" b="1">
                <a:solidFill>
                  <a:srgbClr val="1F2421"/>
                </a:solidFill>
                <a:latin typeface="Calibri"/>
              </a:rPr>
              <a:t>input features</a:t>
            </a:r>
          </a:p>
        </p:txBody>
      </p:sp>
      <p:sp>
        <p:nvSpPr>
          <p:cNvPr id="40" name="TextBox 39"/>
          <p:cNvSpPr txBox="1"/>
          <p:nvPr/>
        </p:nvSpPr>
        <p:spPr>
          <a:xfrm>
            <a:off x="3694176" y="5449824"/>
            <a:ext cx="2075688" cy="457200"/>
          </a:xfrm>
          <a:prstGeom prst="rect">
            <a:avLst/>
          </a:prstGeom>
          <a:noFill/>
        </p:spPr>
        <p:txBody>
          <a:bodyPr wrap="square" anchor="t" lIns="0" rIns="0" tIns="0" bIns="0">
            <a:spAutoFit/>
          </a:bodyPr>
          <a:lstStyle/>
          <a:p>
            <a:pPr algn="l">
              <a:lnSpc>
                <a:spcPct val="115000"/>
              </a:lnSpc>
            </a:pPr>
            <a:r>
              <a:rPr sz="1050" b="0">
                <a:solidFill>
                  <a:srgbClr val="637268"/>
                </a:solidFill>
                <a:latin typeface="Calibri"/>
              </a:rPr>
              <a:t>plus one target</a:t>
            </a:r>
          </a:p>
        </p:txBody>
      </p:sp>
      <p:sp>
        <p:nvSpPr>
          <p:cNvPr id="41" name="Rounded Rectangle 40"/>
          <p:cNvSpPr/>
          <p:nvPr/>
        </p:nvSpPr>
        <p:spPr>
          <a:xfrm>
            <a:off x="6144768" y="4352544"/>
            <a:ext cx="2487168" cy="1600200"/>
          </a:xfrm>
          <a:prstGeom prst="roundRect">
            <a:avLst>
              <a:gd name="adj" fmla="val 8000"/>
            </a:avLst>
          </a:prstGeom>
          <a:solidFill>
            <a:srgbClr val="E7EFEA"/>
          </a:solidFill>
          <a:ln w="9525">
            <a:solidFill>
              <a:srgbClr val="DCE3D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42" name="Rectangle 41"/>
          <p:cNvSpPr/>
          <p:nvPr/>
        </p:nvSpPr>
        <p:spPr>
          <a:xfrm>
            <a:off x="6144768" y="4352544"/>
            <a:ext cx="50292" cy="1600200"/>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43" name="TextBox 42"/>
          <p:cNvSpPr txBox="1"/>
          <p:nvPr/>
        </p:nvSpPr>
        <p:spPr>
          <a:xfrm>
            <a:off x="6400800" y="4572000"/>
            <a:ext cx="2075688" cy="502920"/>
          </a:xfrm>
          <a:prstGeom prst="rect">
            <a:avLst/>
          </a:prstGeom>
          <a:noFill/>
        </p:spPr>
        <p:txBody>
          <a:bodyPr wrap="square" anchor="t" lIns="0" rIns="0" tIns="0" bIns="0">
            <a:spAutoFit/>
          </a:bodyPr>
          <a:lstStyle/>
          <a:p>
            <a:pPr algn="l">
              <a:lnSpc>
                <a:spcPct val="100000"/>
              </a:lnSpc>
            </a:pPr>
            <a:r>
              <a:rPr sz="2700" b="1">
                <a:solidFill>
                  <a:srgbClr val="2F6B4F"/>
                </a:solidFill>
                <a:latin typeface="Calibri"/>
              </a:rPr>
              <a:t>0.87</a:t>
            </a:r>
          </a:p>
        </p:txBody>
      </p:sp>
      <p:sp>
        <p:nvSpPr>
          <p:cNvPr id="44" name="TextBox 43"/>
          <p:cNvSpPr txBox="1"/>
          <p:nvPr/>
        </p:nvSpPr>
        <p:spPr>
          <a:xfrm>
            <a:off x="6400800" y="5120640"/>
            <a:ext cx="2075688" cy="310896"/>
          </a:xfrm>
          <a:prstGeom prst="rect">
            <a:avLst/>
          </a:prstGeom>
          <a:noFill/>
        </p:spPr>
        <p:txBody>
          <a:bodyPr wrap="square" anchor="t" lIns="0" rIns="0" tIns="0" bIns="0">
            <a:spAutoFit/>
          </a:bodyPr>
          <a:lstStyle/>
          <a:p>
            <a:pPr algn="l">
              <a:lnSpc>
                <a:spcPct val="100000"/>
              </a:lnSpc>
            </a:pPr>
            <a:r>
              <a:rPr sz="1250" b="1">
                <a:solidFill>
                  <a:srgbClr val="1F2421"/>
                </a:solidFill>
                <a:latin typeface="Calibri"/>
              </a:rPr>
              <a:t>test R²</a:t>
            </a:r>
          </a:p>
        </p:txBody>
      </p:sp>
      <p:sp>
        <p:nvSpPr>
          <p:cNvPr id="45" name="TextBox 44"/>
          <p:cNvSpPr txBox="1"/>
          <p:nvPr/>
        </p:nvSpPr>
        <p:spPr>
          <a:xfrm>
            <a:off x="6400800" y="5449824"/>
            <a:ext cx="2075688" cy="457200"/>
          </a:xfrm>
          <a:prstGeom prst="rect">
            <a:avLst/>
          </a:prstGeom>
          <a:noFill/>
        </p:spPr>
        <p:txBody>
          <a:bodyPr wrap="square" anchor="t" lIns="0" rIns="0" tIns="0" bIns="0">
            <a:spAutoFit/>
          </a:bodyPr>
          <a:lstStyle/>
          <a:p>
            <a:pPr algn="l">
              <a:lnSpc>
                <a:spcPct val="115000"/>
              </a:lnSpc>
            </a:pPr>
            <a:r>
              <a:rPr sz="1050" b="0">
                <a:solidFill>
                  <a:srgbClr val="637268"/>
                </a:solidFill>
                <a:latin typeface="Calibri"/>
              </a:rPr>
              <a:t>Random Forest</a:t>
            </a:r>
          </a:p>
        </p:txBody>
      </p:sp>
      <p:sp>
        <p:nvSpPr>
          <p:cNvPr id="46" name="Rounded Rectangle 45"/>
          <p:cNvSpPr/>
          <p:nvPr/>
        </p:nvSpPr>
        <p:spPr>
          <a:xfrm>
            <a:off x="8851392" y="4352544"/>
            <a:ext cx="2487168" cy="1600200"/>
          </a:xfrm>
          <a:prstGeom prst="roundRect">
            <a:avLst>
              <a:gd name="adj" fmla="val 8000"/>
            </a:avLst>
          </a:prstGeom>
          <a:solidFill>
            <a:srgbClr val="E7EFEA"/>
          </a:solidFill>
          <a:ln w="9525">
            <a:solidFill>
              <a:srgbClr val="DCE3D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47" name="Rectangle 46"/>
          <p:cNvSpPr/>
          <p:nvPr/>
        </p:nvSpPr>
        <p:spPr>
          <a:xfrm>
            <a:off x="8851392" y="4352544"/>
            <a:ext cx="50292" cy="1600200"/>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48" name="TextBox 47"/>
          <p:cNvSpPr txBox="1"/>
          <p:nvPr/>
        </p:nvSpPr>
        <p:spPr>
          <a:xfrm>
            <a:off x="9107424" y="4572000"/>
            <a:ext cx="2075688" cy="502920"/>
          </a:xfrm>
          <a:prstGeom prst="rect">
            <a:avLst/>
          </a:prstGeom>
          <a:noFill/>
        </p:spPr>
        <p:txBody>
          <a:bodyPr wrap="square" anchor="t" lIns="0" rIns="0" tIns="0" bIns="0">
            <a:spAutoFit/>
          </a:bodyPr>
          <a:lstStyle/>
          <a:p>
            <a:pPr algn="l">
              <a:lnSpc>
                <a:spcPct val="100000"/>
              </a:lnSpc>
            </a:pPr>
            <a:r>
              <a:rPr sz="2700" b="1">
                <a:solidFill>
                  <a:srgbClr val="2F6B4F"/>
                </a:solidFill>
                <a:latin typeface="Calibri"/>
              </a:rPr>
              <a:t>$19,039</a:t>
            </a:r>
          </a:p>
        </p:txBody>
      </p:sp>
      <p:sp>
        <p:nvSpPr>
          <p:cNvPr id="49" name="TextBox 48"/>
          <p:cNvSpPr txBox="1"/>
          <p:nvPr/>
        </p:nvSpPr>
        <p:spPr>
          <a:xfrm>
            <a:off x="9107424" y="5120640"/>
            <a:ext cx="2075688" cy="310896"/>
          </a:xfrm>
          <a:prstGeom prst="rect">
            <a:avLst/>
          </a:prstGeom>
          <a:noFill/>
        </p:spPr>
        <p:txBody>
          <a:bodyPr wrap="square" anchor="t" lIns="0" rIns="0" tIns="0" bIns="0">
            <a:spAutoFit/>
          </a:bodyPr>
          <a:lstStyle/>
          <a:p>
            <a:pPr algn="l">
              <a:lnSpc>
                <a:spcPct val="100000"/>
              </a:lnSpc>
            </a:pPr>
            <a:r>
              <a:rPr sz="1250" b="1">
                <a:solidFill>
                  <a:srgbClr val="1F2421"/>
                </a:solidFill>
                <a:latin typeface="Calibri"/>
              </a:rPr>
              <a:t>typical error</a:t>
            </a:r>
          </a:p>
        </p:txBody>
      </p:sp>
      <p:sp>
        <p:nvSpPr>
          <p:cNvPr id="50" name="TextBox 49"/>
          <p:cNvSpPr txBox="1"/>
          <p:nvPr/>
        </p:nvSpPr>
        <p:spPr>
          <a:xfrm>
            <a:off x="9107424" y="5449824"/>
            <a:ext cx="2075688" cy="457200"/>
          </a:xfrm>
          <a:prstGeom prst="rect">
            <a:avLst/>
          </a:prstGeom>
          <a:noFill/>
        </p:spPr>
        <p:txBody>
          <a:bodyPr wrap="square" anchor="t" lIns="0" rIns="0" tIns="0" bIns="0">
            <a:spAutoFit/>
          </a:bodyPr>
          <a:lstStyle/>
          <a:p>
            <a:pPr algn="l">
              <a:lnSpc>
                <a:spcPct val="115000"/>
              </a:lnSpc>
            </a:pPr>
            <a:r>
              <a:rPr sz="1050" b="0">
                <a:solidFill>
                  <a:srgbClr val="637268"/>
                </a:solidFill>
                <a:latin typeface="Calibri"/>
              </a:rPr>
              <a:t>mean absolute</a:t>
            </a:r>
          </a:p>
        </p:txBody>
      </p:sp>
      <p:sp>
        <p:nvSpPr>
          <p:cNvPr id="51" name="TextBox 50"/>
          <p:cNvSpPr txBox="1"/>
          <p:nvPr/>
        </p:nvSpPr>
        <p:spPr>
          <a:xfrm>
            <a:off x="731520" y="6382512"/>
            <a:ext cx="8686800" cy="274320"/>
          </a:xfrm>
          <a:prstGeom prst="rect">
            <a:avLst/>
          </a:prstGeom>
          <a:noFill/>
        </p:spPr>
        <p:txBody>
          <a:bodyPr wrap="square" anchor="t" lIns="0" rIns="0" tIns="0" bIns="0">
            <a:spAutoFit/>
          </a:bodyPr>
          <a:lstStyle/>
          <a:p>
            <a:pPr algn="l">
              <a:lnSpc>
                <a:spcPct val="100000"/>
              </a:lnSpc>
            </a:pPr>
            <a:r>
              <a:rPr sz="950" b="0">
                <a:solidFill>
                  <a:srgbClr val="637268"/>
                </a:solidFill>
                <a:latin typeface="Calibri"/>
              </a:rPr>
              <a:t>HomeValue — House Price Prediction System</a:t>
            </a:r>
          </a:p>
        </p:txBody>
      </p:sp>
      <p:sp>
        <p:nvSpPr>
          <p:cNvPr id="52" name="TextBox 51"/>
          <p:cNvSpPr txBox="1"/>
          <p:nvPr/>
        </p:nvSpPr>
        <p:spPr>
          <a:xfrm>
            <a:off x="10545775" y="6382512"/>
            <a:ext cx="914400" cy="274320"/>
          </a:xfrm>
          <a:prstGeom prst="rect">
            <a:avLst/>
          </a:prstGeom>
          <a:noFill/>
        </p:spPr>
        <p:txBody>
          <a:bodyPr wrap="square" anchor="t" lIns="0" rIns="0" tIns="0" bIns="0">
            <a:spAutoFit/>
          </a:bodyPr>
          <a:lstStyle/>
          <a:p>
            <a:pPr algn="r">
              <a:lnSpc>
                <a:spcPct val="100000"/>
              </a:lnSpc>
            </a:pPr>
            <a:r>
              <a:rPr sz="950" b="1">
                <a:solidFill>
                  <a:srgbClr val="2F6B4F"/>
                </a:solidFill>
                <a:latin typeface="Calibr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 name="TextBox 2"/>
          <p:cNvSpPr txBox="1"/>
          <p:nvPr/>
        </p:nvSpPr>
        <p:spPr>
          <a:xfrm>
            <a:off x="731520" y="502920"/>
            <a:ext cx="10728655" cy="274320"/>
          </a:xfrm>
          <a:prstGeom prst="rect">
            <a:avLst/>
          </a:prstGeom>
          <a:noFill/>
        </p:spPr>
        <p:txBody>
          <a:bodyPr wrap="square" anchor="t" lIns="0" rIns="0" tIns="0" bIns="0">
            <a:spAutoFit/>
          </a:bodyPr>
          <a:lstStyle/>
          <a:p>
            <a:pPr algn="l">
              <a:lnSpc>
                <a:spcPct val="100000"/>
              </a:lnSpc>
            </a:pPr>
            <a:r>
              <a:rPr sz="1100" b="1">
                <a:solidFill>
                  <a:srgbClr val="2F6B4F"/>
                </a:solidFill>
                <a:latin typeface="Calibri"/>
              </a:rPr>
              <a:t>PROVENANCE</a:t>
            </a:r>
          </a:p>
        </p:txBody>
      </p:sp>
      <p:sp>
        <p:nvSpPr>
          <p:cNvPr id="4" name="TextBox 3"/>
          <p:cNvSpPr txBox="1"/>
          <p:nvPr/>
        </p:nvSpPr>
        <p:spPr>
          <a:xfrm>
            <a:off x="731520" y="813816"/>
            <a:ext cx="10728655" cy="566928"/>
          </a:xfrm>
          <a:prstGeom prst="rect">
            <a:avLst/>
          </a:prstGeom>
          <a:noFill/>
        </p:spPr>
        <p:txBody>
          <a:bodyPr wrap="square" anchor="t" lIns="0" rIns="0" tIns="0" bIns="0">
            <a:spAutoFit/>
          </a:bodyPr>
          <a:lstStyle/>
          <a:p>
            <a:pPr algn="l">
              <a:lnSpc>
                <a:spcPct val="100000"/>
              </a:lnSpc>
            </a:pPr>
            <a:r>
              <a:rPr sz="3000" b="1">
                <a:solidFill>
                  <a:srgbClr val="1F2421"/>
                </a:solidFill>
                <a:latin typeface="Calibri"/>
              </a:rPr>
              <a:t>The dataset</a:t>
            </a:r>
          </a:p>
        </p:txBody>
      </p:sp>
      <p:sp>
        <p:nvSpPr>
          <p:cNvPr id="5" name="TextBox 4"/>
          <p:cNvSpPr txBox="1"/>
          <p:nvPr/>
        </p:nvSpPr>
        <p:spPr>
          <a:xfrm>
            <a:off x="731520" y="1417320"/>
            <a:ext cx="10728655" cy="365760"/>
          </a:xfrm>
          <a:prstGeom prst="rect">
            <a:avLst/>
          </a:prstGeom>
          <a:noFill/>
        </p:spPr>
        <p:txBody>
          <a:bodyPr wrap="square" anchor="t" lIns="0" rIns="0" tIns="0" bIns="0">
            <a:spAutoFit/>
          </a:bodyPr>
          <a:lstStyle/>
          <a:p>
            <a:pPr algn="l">
              <a:lnSpc>
                <a:spcPct val="100000"/>
              </a:lnSpc>
            </a:pPr>
            <a:r>
              <a:rPr sz="1400" b="0">
                <a:solidFill>
                  <a:srgbClr val="637268"/>
                </a:solidFill>
                <a:latin typeface="Calibri"/>
              </a:rPr>
              <a:t>Ames Iowa Residential Housing Dataset — OpenML 42165.</a:t>
            </a:r>
          </a:p>
        </p:txBody>
      </p:sp>
      <p:sp>
        <p:nvSpPr>
          <p:cNvPr id="6" name="Rectangle 5"/>
          <p:cNvSpPr/>
          <p:nvPr/>
        </p:nvSpPr>
        <p:spPr>
          <a:xfrm>
            <a:off x="731520" y="1874520"/>
            <a:ext cx="10728655" cy="9525"/>
          </a:xfrm>
          <a:prstGeom prst="rect">
            <a:avLst/>
          </a:prstGeom>
          <a:solidFill>
            <a:srgbClr val="DCE3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graphicFrame>
        <p:nvGraphicFramePr>
          <p:cNvPr id="7" name="Table 6"/>
          <p:cNvGraphicFramePr>
            <a:graphicFrameLocks noGrp="1"/>
          </p:cNvGraphicFramePr>
          <p:nvPr/>
        </p:nvGraphicFramePr>
        <p:xfrm>
          <a:off x="731520" y="2203704"/>
          <a:ext cx="6858000" cy="3236976"/>
        </p:xfrm>
        <a:graphic>
          <a:graphicData uri="http://schemas.openxmlformats.org/drawingml/2006/table">
            <a:tbl>
              <a:tblPr firstRow="1">
                <a:tableStyleId>{5C22544A-7EE6-4342-B048-85BDC9FD1C3A}</a:tableStyleId>
              </a:tblPr>
              <a:tblGrid>
                <a:gridCol w="1828800"/>
                <a:gridCol w="5029200"/>
              </a:tblGrid>
              <a:tr h="420624">
                <a:tc>
                  <a:txBody>
                    <a:bodyPr/>
                    <a:lstStyle/>
                    <a:p>
                      <a:pPr algn="l"/>
                      <a:r>
                        <a:rPr sz="1200" b="1">
                          <a:solidFill>
                            <a:srgbClr val="FFFFFF"/>
                          </a:solidFill>
                          <a:latin typeface="Calibri"/>
                        </a:rPr>
                        <a:t>Property</a:t>
                      </a:r>
                    </a:p>
                  </a:txBody>
                  <a:tcPr marL="91440" marR="91440" anchor="ctr">
                    <a:solidFill>
                      <a:srgbClr val="2F6B4F"/>
                    </a:solidFill>
                  </a:tcPr>
                </a:tc>
                <a:tc>
                  <a:txBody>
                    <a:bodyPr/>
                    <a:lstStyle/>
                    <a:p>
                      <a:pPr algn="ctr"/>
                      <a:r>
                        <a:rPr sz="1200" b="1">
                          <a:solidFill>
                            <a:srgbClr val="FFFFFF"/>
                          </a:solidFill>
                          <a:latin typeface="Calibri"/>
                        </a:rPr>
                        <a:t>Value</a:t>
                      </a:r>
                    </a:p>
                  </a:txBody>
                  <a:tcPr marL="91440" marR="91440" anchor="ctr">
                    <a:solidFill>
                      <a:srgbClr val="2F6B4F"/>
                    </a:solidFill>
                  </a:tcPr>
                </a:tc>
              </a:tr>
              <a:tr h="402336">
                <a:tc>
                  <a:txBody>
                    <a:bodyPr/>
                    <a:lstStyle/>
                    <a:p>
                      <a:pPr algn="l"/>
                      <a:r>
                        <a:rPr sz="1250" b="0">
                          <a:solidFill>
                            <a:srgbClr val="1F2421"/>
                          </a:solidFill>
                          <a:latin typeface="Calibri"/>
                        </a:rPr>
                        <a:t>Compiled by</a:t>
                      </a:r>
                    </a:p>
                  </a:txBody>
                  <a:tcPr marL="91440" marR="91440" marT="18288" marB="18288" anchor="ctr">
                    <a:solidFill>
                      <a:srgbClr val="FFFFFF"/>
                    </a:solidFill>
                  </a:tcPr>
                </a:tc>
                <a:tc>
                  <a:txBody>
                    <a:bodyPr/>
                    <a:lstStyle/>
                    <a:p>
                      <a:pPr algn="ctr"/>
                      <a:r>
                        <a:rPr sz="1250" b="0">
                          <a:solidFill>
                            <a:srgbClr val="1F2421"/>
                          </a:solidFill>
                          <a:latin typeface="Calibri"/>
                        </a:rPr>
                        <a:t>Dean De Cock (Truman State University)</a:t>
                      </a:r>
                    </a:p>
                  </a:txBody>
                  <a:tcPr marL="91440" marR="91440" marT="18288" marB="18288" anchor="ctr">
                    <a:solidFill>
                      <a:srgbClr val="FFFFFF"/>
                    </a:solidFill>
                  </a:tcPr>
                </a:tc>
              </a:tr>
              <a:tr h="402336">
                <a:tc>
                  <a:txBody>
                    <a:bodyPr/>
                    <a:lstStyle/>
                    <a:p>
                      <a:pPr algn="l"/>
                      <a:r>
                        <a:rPr sz="1250" b="0">
                          <a:solidFill>
                            <a:srgbClr val="1F2421"/>
                          </a:solidFill>
                          <a:latin typeface="Calibri"/>
                        </a:rPr>
                        <a:t>Published</a:t>
                      </a:r>
                    </a:p>
                  </a:txBody>
                  <a:tcPr marL="91440" marR="91440" marT="18288" marB="18288" anchor="ctr">
                    <a:solidFill>
                      <a:srgbClr val="E7EFEA"/>
                    </a:solidFill>
                  </a:tcPr>
                </a:tc>
                <a:tc>
                  <a:txBody>
                    <a:bodyPr/>
                    <a:lstStyle/>
                    <a:p>
                      <a:pPr algn="ctr"/>
                      <a:r>
                        <a:rPr sz="1250" b="0">
                          <a:solidFill>
                            <a:srgbClr val="1F2421"/>
                          </a:solidFill>
                          <a:latin typeface="Calibri"/>
                        </a:rPr>
                        <a:t>Journal of Statistics Education, Vol. 19, No. 3 (2011)</a:t>
                      </a:r>
                    </a:p>
                  </a:txBody>
                  <a:tcPr marL="91440" marR="91440" marT="18288" marB="18288" anchor="ctr">
                    <a:solidFill>
                      <a:srgbClr val="E7EFEA"/>
                    </a:solidFill>
                  </a:tcPr>
                </a:tc>
              </a:tr>
              <a:tr h="402336">
                <a:tc>
                  <a:txBody>
                    <a:bodyPr/>
                    <a:lstStyle/>
                    <a:p>
                      <a:pPr algn="l"/>
                      <a:r>
                        <a:rPr sz="1250" b="0">
                          <a:solidFill>
                            <a:srgbClr val="1F2421"/>
                          </a:solidFill>
                          <a:latin typeface="Calibri"/>
                        </a:rPr>
                        <a:t>Retrieved</a:t>
                      </a:r>
                    </a:p>
                  </a:txBody>
                  <a:tcPr marL="91440" marR="91440" marT="18288" marB="18288" anchor="ctr">
                    <a:solidFill>
                      <a:srgbClr val="FFFFFF"/>
                    </a:solidFill>
                  </a:tcPr>
                </a:tc>
                <a:tc>
                  <a:txBody>
                    <a:bodyPr/>
                    <a:lstStyle/>
                    <a:p>
                      <a:pPr algn="ctr"/>
                      <a:r>
                        <a:rPr sz="1250" b="0">
                          <a:solidFill>
                            <a:srgbClr val="1F2421"/>
                          </a:solidFill>
                          <a:latin typeface="Calibri"/>
                        </a:rPr>
                        <a:t>Programmatically via scikit-learn fetch_openml — no manual download</a:t>
                      </a:r>
                    </a:p>
                  </a:txBody>
                  <a:tcPr marL="91440" marR="91440" marT="18288" marB="18288" anchor="ctr">
                    <a:solidFill>
                      <a:srgbClr val="FFFFFF"/>
                    </a:solidFill>
                  </a:tcPr>
                </a:tc>
              </a:tr>
              <a:tr h="402336">
                <a:tc>
                  <a:txBody>
                    <a:bodyPr/>
                    <a:lstStyle/>
                    <a:p>
                      <a:pPr algn="l"/>
                      <a:r>
                        <a:rPr sz="1250" b="0">
                          <a:solidFill>
                            <a:srgbClr val="1F2421"/>
                          </a:solidFill>
                          <a:latin typeface="Calibri"/>
                        </a:rPr>
                        <a:t>Licence</a:t>
                      </a:r>
                    </a:p>
                  </a:txBody>
                  <a:tcPr marL="91440" marR="91440" marT="18288" marB="18288" anchor="ctr">
                    <a:solidFill>
                      <a:srgbClr val="E7EFEA"/>
                    </a:solidFill>
                  </a:tcPr>
                </a:tc>
                <a:tc>
                  <a:txBody>
                    <a:bodyPr/>
                    <a:lstStyle/>
                    <a:p>
                      <a:pPr algn="ctr"/>
                      <a:r>
                        <a:rPr sz="1250" b="0">
                          <a:solidFill>
                            <a:srgbClr val="1F2421"/>
                          </a:solidFill>
                          <a:latin typeface="Calibri"/>
                        </a:rPr>
                        <a:t>Public Domain / CC0 Academic Teaching &amp; Research Dataset</a:t>
                      </a:r>
                    </a:p>
                  </a:txBody>
                  <a:tcPr marL="91440" marR="91440" marT="18288" marB="18288" anchor="ctr">
                    <a:solidFill>
                      <a:srgbClr val="E7EFEA"/>
                    </a:solidFill>
                  </a:tcPr>
                </a:tc>
              </a:tr>
              <a:tr h="402336">
                <a:tc>
                  <a:txBody>
                    <a:bodyPr/>
                    <a:lstStyle/>
                    <a:p>
                      <a:pPr algn="l"/>
                      <a:r>
                        <a:rPr sz="1250" b="0">
                          <a:solidFill>
                            <a:srgbClr val="1F2421"/>
                          </a:solidFill>
                          <a:latin typeface="Calibri"/>
                        </a:rPr>
                        <a:t>Market region</a:t>
                      </a:r>
                    </a:p>
                  </a:txBody>
                  <a:tcPr marL="91440" marR="91440" marT="18288" marB="18288" anchor="ctr">
                    <a:solidFill>
                      <a:srgbClr val="FFFFFF"/>
                    </a:solidFill>
                  </a:tcPr>
                </a:tc>
                <a:tc>
                  <a:txBody>
                    <a:bodyPr/>
                    <a:lstStyle/>
                    <a:p>
                      <a:pPr algn="ctr"/>
                      <a:r>
                        <a:rPr sz="1250" b="0">
                          <a:solidFill>
                            <a:srgbClr val="1F2421"/>
                          </a:solidFill>
                          <a:latin typeface="Calibri"/>
                        </a:rPr>
                        <a:t>Ames, Iowa, United States</a:t>
                      </a:r>
                    </a:p>
                  </a:txBody>
                  <a:tcPr marL="91440" marR="91440" marT="18288" marB="18288" anchor="ctr">
                    <a:solidFill>
                      <a:srgbClr val="FFFFFF"/>
                    </a:solidFill>
                  </a:tcPr>
                </a:tc>
              </a:tr>
              <a:tr h="402336">
                <a:tc>
                  <a:txBody>
                    <a:bodyPr/>
                    <a:lstStyle/>
                    <a:p>
                      <a:pPr algn="l"/>
                      <a:r>
                        <a:rPr sz="1250" b="0">
                          <a:solidFill>
                            <a:srgbClr val="1F2421"/>
                          </a:solidFill>
                          <a:latin typeface="Calibri"/>
                        </a:rPr>
                        <a:t>Observation period</a:t>
                      </a:r>
                    </a:p>
                  </a:txBody>
                  <a:tcPr marL="91440" marR="91440" marT="18288" marB="18288" anchor="ctr">
                    <a:solidFill>
                      <a:srgbClr val="E7EFEA"/>
                    </a:solidFill>
                  </a:tcPr>
                </a:tc>
                <a:tc>
                  <a:txBody>
                    <a:bodyPr/>
                    <a:lstStyle/>
                    <a:p>
                      <a:pPr algn="ctr"/>
                      <a:r>
                        <a:rPr sz="1250" b="0">
                          <a:solidFill>
                            <a:srgbClr val="1F2421"/>
                          </a:solidFill>
                          <a:latin typeface="Calibri"/>
                        </a:rPr>
                        <a:t>2006 to 2010</a:t>
                      </a:r>
                    </a:p>
                  </a:txBody>
                  <a:tcPr marL="91440" marR="91440" marT="18288" marB="18288" anchor="ctr">
                    <a:solidFill>
                      <a:srgbClr val="E7EFEA"/>
                    </a:solidFill>
                  </a:tcPr>
                </a:tc>
              </a:tr>
              <a:tr h="402336">
                <a:tc>
                  <a:txBody>
                    <a:bodyPr/>
                    <a:lstStyle/>
                    <a:p>
                      <a:pPr algn="l"/>
                      <a:r>
                        <a:rPr sz="1250" b="0">
                          <a:solidFill>
                            <a:srgbClr val="1F2421"/>
                          </a:solidFill>
                          <a:latin typeface="Calibri"/>
                        </a:rPr>
                        <a:t>Currency</a:t>
                      </a:r>
                    </a:p>
                  </a:txBody>
                  <a:tcPr marL="91440" marR="91440" marT="18288" marB="18288" anchor="ctr">
                    <a:solidFill>
                      <a:srgbClr val="FFFFFF"/>
                    </a:solidFill>
                  </a:tcPr>
                </a:tc>
                <a:tc>
                  <a:txBody>
                    <a:bodyPr/>
                    <a:lstStyle/>
                    <a:p>
                      <a:pPr algn="ctr"/>
                      <a:r>
                        <a:rPr sz="1250" b="0">
                          <a:solidFill>
                            <a:srgbClr val="1F2421"/>
                          </a:solidFill>
                          <a:latin typeface="Calibri"/>
                        </a:rPr>
                        <a:t>USD ($)</a:t>
                      </a:r>
                    </a:p>
                  </a:txBody>
                  <a:tcPr marL="91440" marR="91440" marT="18288" marB="18288" anchor="ctr">
                    <a:solidFill>
                      <a:srgbClr val="FFFFFF"/>
                    </a:solidFill>
                  </a:tcPr>
                </a:tc>
              </a:tr>
            </a:tbl>
          </a:graphicData>
        </a:graphic>
      </p:graphicFrame>
      <p:sp>
        <p:nvSpPr>
          <p:cNvPr id="8" name="Rounded Rectangle 7"/>
          <p:cNvSpPr/>
          <p:nvPr/>
        </p:nvSpPr>
        <p:spPr>
          <a:xfrm>
            <a:off x="7635240" y="2203704"/>
            <a:ext cx="3913632" cy="3200400"/>
          </a:xfrm>
          <a:prstGeom prst="roundRect">
            <a:avLst>
              <a:gd name="adj" fmla="val 6000"/>
            </a:avLst>
          </a:prstGeom>
          <a:solidFill>
            <a:srgbClr val="E7EF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9" name="TextBox 8"/>
          <p:cNvSpPr txBox="1"/>
          <p:nvPr/>
        </p:nvSpPr>
        <p:spPr>
          <a:xfrm>
            <a:off x="7909560" y="2459736"/>
            <a:ext cx="3383280" cy="320040"/>
          </a:xfrm>
          <a:prstGeom prst="rect">
            <a:avLst/>
          </a:prstGeom>
          <a:noFill/>
        </p:spPr>
        <p:txBody>
          <a:bodyPr wrap="square" anchor="t" lIns="0" rIns="0" tIns="0" bIns="0">
            <a:spAutoFit/>
          </a:bodyPr>
          <a:lstStyle/>
          <a:p>
            <a:pPr algn="l">
              <a:lnSpc>
                <a:spcPct val="100000"/>
              </a:lnSpc>
            </a:pPr>
            <a:r>
              <a:rPr sz="1500" b="1">
                <a:solidFill>
                  <a:srgbClr val="1F2421"/>
                </a:solidFill>
                <a:latin typeface="Calibri"/>
              </a:rPr>
              <a:t>Why this dataset</a:t>
            </a:r>
          </a:p>
        </p:txBody>
      </p:sp>
      <p:sp>
        <p:nvSpPr>
          <p:cNvPr id="10" name="TextBox 9"/>
          <p:cNvSpPr txBox="1"/>
          <p:nvPr/>
        </p:nvSpPr>
        <p:spPr>
          <a:xfrm>
            <a:off x="7909560" y="2916936"/>
            <a:ext cx="3383280" cy="2286000"/>
          </a:xfrm>
          <a:prstGeom prst="rect">
            <a:avLst/>
          </a:prstGeom>
          <a:noFill/>
        </p:spPr>
        <p:txBody>
          <a:bodyPr wrap="square" lIns="0" rIns="0" tIns="0" bIns="0">
            <a:spAutoFit/>
          </a:bodyPr>
          <a:lstStyle/>
          <a:p>
            <a:pPr>
              <a:lnSpc>
                <a:spcPct val="118000"/>
              </a:lnSpc>
            </a:pPr>
            <a:r>
              <a:rPr sz="1200">
                <a:solidFill>
                  <a:srgbClr val="1F2421"/>
                </a:solidFill>
                <a:latin typeface="Calibri"/>
              </a:rPr>
              <a:t>•  Real, peer-reviewed, per-property sales</a:t>
            </a:r>
          </a:p>
          <a:p>
            <a:pPr>
              <a:lnSpc>
                <a:spcPct val="118000"/>
              </a:lnSpc>
              <a:spcBef>
                <a:spcPts val="900"/>
              </a:spcBef>
            </a:pPr>
            <a:r>
              <a:rPr sz="1200">
                <a:solidFill>
                  <a:srgbClr val="1F2421"/>
                </a:solidFill>
                <a:latin typeface="Calibri"/>
              </a:rPr>
              <a:t>•  Has every field the app needs</a:t>
            </a:r>
          </a:p>
          <a:p>
            <a:pPr>
              <a:lnSpc>
                <a:spcPct val="118000"/>
              </a:lnSpc>
              <a:spcBef>
                <a:spcPts val="900"/>
              </a:spcBef>
            </a:pPr>
            <a:r>
              <a:rPr sz="1200">
                <a:solidFill>
                  <a:srgbClr val="1F2421"/>
                </a:solidFill>
                <a:latin typeface="Calibri"/>
              </a:rPr>
              <a:t>•  Unrestricted academic licence</a:t>
            </a:r>
          </a:p>
          <a:p>
            <a:pPr>
              <a:lnSpc>
                <a:spcPct val="118000"/>
              </a:lnSpc>
              <a:spcBef>
                <a:spcPts val="900"/>
              </a:spcBef>
            </a:pPr>
            <a:r>
              <a:rPr sz="1200">
                <a:solidFill>
                  <a:srgbClr val="1F2421"/>
                </a:solidFill>
                <a:latin typeface="Calibri"/>
              </a:rPr>
              <a:t>•  Two alternatives were rejected: California (census medians, no bedrooms or age) and Boston (known ethical problems)</a:t>
            </a:r>
          </a:p>
        </p:txBody>
      </p:sp>
      <p:sp>
        <p:nvSpPr>
          <p:cNvPr id="11" name="TextBox 10"/>
          <p:cNvSpPr txBox="1"/>
          <p:nvPr/>
        </p:nvSpPr>
        <p:spPr>
          <a:xfrm>
            <a:off x="731520" y="6382512"/>
            <a:ext cx="8686800" cy="274320"/>
          </a:xfrm>
          <a:prstGeom prst="rect">
            <a:avLst/>
          </a:prstGeom>
          <a:noFill/>
        </p:spPr>
        <p:txBody>
          <a:bodyPr wrap="square" anchor="t" lIns="0" rIns="0" tIns="0" bIns="0">
            <a:spAutoFit/>
          </a:bodyPr>
          <a:lstStyle/>
          <a:p>
            <a:pPr algn="l">
              <a:lnSpc>
                <a:spcPct val="100000"/>
              </a:lnSpc>
            </a:pPr>
            <a:r>
              <a:rPr sz="950" b="0">
                <a:solidFill>
                  <a:srgbClr val="637268"/>
                </a:solidFill>
                <a:latin typeface="Calibri"/>
              </a:rPr>
              <a:t>HomeValue — House Price Prediction System</a:t>
            </a:r>
          </a:p>
        </p:txBody>
      </p:sp>
      <p:sp>
        <p:nvSpPr>
          <p:cNvPr id="12" name="TextBox 11"/>
          <p:cNvSpPr txBox="1"/>
          <p:nvPr/>
        </p:nvSpPr>
        <p:spPr>
          <a:xfrm>
            <a:off x="10545775" y="6382512"/>
            <a:ext cx="914400" cy="274320"/>
          </a:xfrm>
          <a:prstGeom prst="rect">
            <a:avLst/>
          </a:prstGeom>
          <a:noFill/>
        </p:spPr>
        <p:txBody>
          <a:bodyPr wrap="square" anchor="t" lIns="0" rIns="0" tIns="0" bIns="0">
            <a:spAutoFit/>
          </a:bodyPr>
          <a:lstStyle/>
          <a:p>
            <a:pPr algn="r">
              <a:lnSpc>
                <a:spcPct val="100000"/>
              </a:lnSpc>
            </a:pPr>
            <a:r>
              <a:rPr sz="950" b="1">
                <a:solidFill>
                  <a:srgbClr val="2F6B4F"/>
                </a:solidFill>
                <a:latin typeface="Calibr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 name="TextBox 2"/>
          <p:cNvSpPr txBox="1"/>
          <p:nvPr/>
        </p:nvSpPr>
        <p:spPr>
          <a:xfrm>
            <a:off x="731520" y="502920"/>
            <a:ext cx="10728655" cy="274320"/>
          </a:xfrm>
          <a:prstGeom prst="rect">
            <a:avLst/>
          </a:prstGeom>
          <a:noFill/>
        </p:spPr>
        <p:txBody>
          <a:bodyPr wrap="square" anchor="t" lIns="0" rIns="0" tIns="0" bIns="0">
            <a:spAutoFit/>
          </a:bodyPr>
          <a:lstStyle/>
          <a:p>
            <a:pPr algn="l">
              <a:lnSpc>
                <a:spcPct val="100000"/>
              </a:lnSpc>
            </a:pPr>
            <a:r>
              <a:rPr sz="1100" b="1">
                <a:solidFill>
                  <a:srgbClr val="2F6B4F"/>
                </a:solidFill>
                <a:latin typeface="Calibri"/>
              </a:rPr>
              <a:t>PIPELINE</a:t>
            </a:r>
          </a:p>
        </p:txBody>
      </p:sp>
      <p:sp>
        <p:nvSpPr>
          <p:cNvPr id="4" name="TextBox 3"/>
          <p:cNvSpPr txBox="1"/>
          <p:nvPr/>
        </p:nvSpPr>
        <p:spPr>
          <a:xfrm>
            <a:off x="731520" y="813816"/>
            <a:ext cx="10728655" cy="566928"/>
          </a:xfrm>
          <a:prstGeom prst="rect">
            <a:avLst/>
          </a:prstGeom>
          <a:noFill/>
        </p:spPr>
        <p:txBody>
          <a:bodyPr wrap="square" anchor="t" lIns="0" rIns="0" tIns="0" bIns="0">
            <a:spAutoFit/>
          </a:bodyPr>
          <a:lstStyle/>
          <a:p>
            <a:pPr algn="l">
              <a:lnSpc>
                <a:spcPct val="100000"/>
              </a:lnSpc>
            </a:pPr>
            <a:r>
              <a:rPr sz="3000" b="1">
                <a:solidFill>
                  <a:srgbClr val="1F2421"/>
                </a:solidFill>
                <a:latin typeface="Calibri"/>
              </a:rPr>
              <a:t>Data preparation</a:t>
            </a:r>
          </a:p>
        </p:txBody>
      </p:sp>
      <p:sp>
        <p:nvSpPr>
          <p:cNvPr id="5" name="TextBox 4"/>
          <p:cNvSpPr txBox="1"/>
          <p:nvPr/>
        </p:nvSpPr>
        <p:spPr>
          <a:xfrm>
            <a:off x="731520" y="1417320"/>
            <a:ext cx="10728655" cy="365760"/>
          </a:xfrm>
          <a:prstGeom prst="rect">
            <a:avLst/>
          </a:prstGeom>
          <a:noFill/>
        </p:spPr>
        <p:txBody>
          <a:bodyPr wrap="square" anchor="t" lIns="0" rIns="0" tIns="0" bIns="0">
            <a:spAutoFit/>
          </a:bodyPr>
          <a:lstStyle/>
          <a:p>
            <a:pPr algn="l">
              <a:lnSpc>
                <a:spcPct val="100000"/>
              </a:lnSpc>
            </a:pPr>
            <a:r>
              <a:rPr sz="1400" b="0">
                <a:solidFill>
                  <a:srgbClr val="637268"/>
                </a:solidFill>
                <a:latin typeface="Calibri"/>
              </a:rPr>
              <a:t>1,460 records × 19 columns extracted, 1,458 × 10 after cleaning.</a:t>
            </a:r>
          </a:p>
        </p:txBody>
      </p:sp>
      <p:sp>
        <p:nvSpPr>
          <p:cNvPr id="6" name="Rectangle 5"/>
          <p:cNvSpPr/>
          <p:nvPr/>
        </p:nvSpPr>
        <p:spPr>
          <a:xfrm>
            <a:off x="731520" y="1874520"/>
            <a:ext cx="10728655" cy="9525"/>
          </a:xfrm>
          <a:prstGeom prst="rect">
            <a:avLst/>
          </a:prstGeom>
          <a:solidFill>
            <a:srgbClr val="DCE3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TextBox 6"/>
          <p:cNvSpPr txBox="1"/>
          <p:nvPr/>
        </p:nvSpPr>
        <p:spPr>
          <a:xfrm>
            <a:off x="731520" y="2203704"/>
            <a:ext cx="5943600" cy="2743200"/>
          </a:xfrm>
          <a:prstGeom prst="rect">
            <a:avLst/>
          </a:prstGeom>
          <a:noFill/>
        </p:spPr>
        <p:txBody>
          <a:bodyPr wrap="square" lIns="0" rIns="0" tIns="0" bIns="0">
            <a:spAutoFit/>
          </a:bodyPr>
          <a:lstStyle/>
          <a:p>
            <a:pPr>
              <a:lnSpc>
                <a:spcPct val="118000"/>
              </a:lnSpc>
            </a:pPr>
            <a:r>
              <a:rPr sz="1350">
                <a:solidFill>
                  <a:srgbClr val="1F2421"/>
                </a:solidFill>
                <a:latin typeface="Calibri"/>
              </a:rPr>
              <a:t>•  Dropped the row identifier — no signal</a:t>
            </a:r>
          </a:p>
          <a:p>
            <a:pPr>
              <a:lnSpc>
                <a:spcPct val="118000"/>
              </a:lnSpc>
              <a:spcBef>
                <a:spcPts val="1100"/>
              </a:spcBef>
            </a:pPr>
            <a:r>
              <a:rPr sz="1350">
                <a:solidFill>
                  <a:srgbClr val="1F2421"/>
                </a:solidFill>
                <a:latin typeface="Calibri"/>
              </a:rPr>
              <a:t>•  Removed 0 duplicate rows</a:t>
            </a:r>
          </a:p>
          <a:p>
            <a:pPr>
              <a:lnSpc>
                <a:spcPct val="118000"/>
              </a:lnSpc>
              <a:spcBef>
                <a:spcPts val="1100"/>
              </a:spcBef>
            </a:pPr>
            <a:r>
              <a:rPr sz="1350">
                <a:solidFill>
                  <a:srgbClr val="1F2421"/>
                </a:solidFill>
                <a:latin typeface="Calibri"/>
              </a:rPr>
              <a:t>•  Removed 2 documented partial sales (over 4,000 sq ft, sold under $300,000)</a:t>
            </a:r>
          </a:p>
          <a:p>
            <a:pPr>
              <a:lnSpc>
                <a:spcPct val="118000"/>
              </a:lnSpc>
              <a:spcBef>
                <a:spcPts val="1100"/>
              </a:spcBef>
            </a:pPr>
            <a:r>
              <a:rPr sz="1350">
                <a:solidFill>
                  <a:srgbClr val="1F2421"/>
                </a:solidFill>
                <a:latin typeface="Calibri"/>
              </a:rPr>
              <a:t>•  Derived total bathrooms — a half bath counts 0.5, basement included</a:t>
            </a:r>
          </a:p>
          <a:p>
            <a:pPr>
              <a:lnSpc>
                <a:spcPct val="118000"/>
              </a:lnSpc>
              <a:spcBef>
                <a:spcPts val="1100"/>
              </a:spcBef>
            </a:pPr>
            <a:r>
              <a:rPr sz="1350">
                <a:solidFill>
                  <a:srgbClr val="1F2421"/>
                </a:solidFill>
                <a:latin typeface="Calibri"/>
              </a:rPr>
              <a:t>•  Derived age at the point of sale, not age today</a:t>
            </a:r>
          </a:p>
          <a:p>
            <a:pPr>
              <a:lnSpc>
                <a:spcPct val="118000"/>
              </a:lnSpc>
              <a:spcBef>
                <a:spcPts val="1100"/>
              </a:spcBef>
            </a:pPr>
            <a:r>
              <a:rPr sz="1350">
                <a:solidFill>
                  <a:srgbClr val="1F2421"/>
                </a:solidFill>
                <a:latin typeface="Calibri"/>
              </a:rPr>
              <a:t>•  Mapped garage capacity, house style and building type to plain English</a:t>
            </a:r>
          </a:p>
        </p:txBody>
      </p:sp>
      <p:sp>
        <p:nvSpPr>
          <p:cNvPr id="8" name="Rounded Rectangle 7"/>
          <p:cNvSpPr/>
          <p:nvPr/>
        </p:nvSpPr>
        <p:spPr>
          <a:xfrm>
            <a:off x="6720840" y="2203704"/>
            <a:ext cx="4828032" cy="1371600"/>
          </a:xfrm>
          <a:prstGeom prst="roundRect">
            <a:avLst>
              <a:gd name="adj" fmla="val 8000"/>
            </a:avLst>
          </a:prstGeom>
          <a:solidFill>
            <a:srgbClr val="FBF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9" name="Rectangle 8"/>
          <p:cNvSpPr/>
          <p:nvPr/>
        </p:nvSpPr>
        <p:spPr>
          <a:xfrm>
            <a:off x="6720840" y="2203704"/>
            <a:ext cx="54864" cy="1371600"/>
          </a:xfrm>
          <a:prstGeom prst="rect">
            <a:avLst/>
          </a:prstGeom>
          <a:solidFill>
            <a:srgbClr val="8C4A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0" name="TextBox 9"/>
          <p:cNvSpPr txBox="1"/>
          <p:nvPr/>
        </p:nvSpPr>
        <p:spPr>
          <a:xfrm>
            <a:off x="7022592" y="2404872"/>
            <a:ext cx="4206240" cy="1005840"/>
          </a:xfrm>
          <a:prstGeom prst="rect">
            <a:avLst/>
          </a:prstGeom>
          <a:noFill/>
        </p:spPr>
        <p:txBody>
          <a:bodyPr wrap="square" anchor="t" lIns="0" rIns="0" tIns="0" bIns="0">
            <a:spAutoFit/>
          </a:bodyPr>
          <a:lstStyle/>
          <a:p>
            <a:pPr algn="l">
              <a:lnSpc>
                <a:spcPct val="115000"/>
              </a:lnSpc>
            </a:pPr>
            <a:r>
              <a:rPr sz="1400" b="1">
                <a:solidFill>
                  <a:srgbClr val="1F2421"/>
                </a:solidFill>
                <a:latin typeface="Calibri"/>
              </a:rPr>
              <a:t>A deliberate choice</a:t>
            </a:r>
          </a:p>
          <a:p>
            <a:pPr algn="l">
              <a:lnSpc>
                <a:spcPct val="115000"/>
              </a:lnSpc>
              <a:spcBef>
                <a:spcPts val="400"/>
              </a:spcBef>
            </a:pPr>
            <a:r>
              <a:rPr sz="1150" b="0">
                <a:solidFill>
                  <a:srgbClr val="1F2421"/>
                </a:solidFill>
                <a:latin typeface="Calibri"/>
              </a:rPr>
              <a:t>6 missing bedroom values are left in place and filled by an imputer fitted on the training split only. Pre-filling them would leak test-set information into training.</a:t>
            </a:r>
          </a:p>
        </p:txBody>
      </p:sp>
      <p:sp>
        <p:nvSpPr>
          <p:cNvPr id="11" name="Rounded Rectangle 10"/>
          <p:cNvSpPr/>
          <p:nvPr/>
        </p:nvSpPr>
        <p:spPr>
          <a:xfrm>
            <a:off x="6720840" y="3803904"/>
            <a:ext cx="4828032" cy="1874519"/>
          </a:xfrm>
          <a:prstGeom prst="roundRect">
            <a:avLst>
              <a:gd name="adj" fmla="val 8000"/>
            </a:avLst>
          </a:prstGeom>
          <a:solidFill>
            <a:srgbClr val="E7EF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2" name="TextBox 11"/>
          <p:cNvSpPr txBox="1"/>
          <p:nvPr/>
        </p:nvSpPr>
        <p:spPr>
          <a:xfrm>
            <a:off x="7022592" y="4014216"/>
            <a:ext cx="4206240" cy="1645920"/>
          </a:xfrm>
          <a:prstGeom prst="rect">
            <a:avLst/>
          </a:prstGeom>
          <a:noFill/>
        </p:spPr>
        <p:txBody>
          <a:bodyPr wrap="square" anchor="t" lIns="0" rIns="0" tIns="0" bIns="0">
            <a:spAutoFit/>
          </a:bodyPr>
          <a:lstStyle/>
          <a:p>
            <a:pPr algn="l">
              <a:lnSpc>
                <a:spcPct val="115000"/>
              </a:lnSpc>
            </a:pPr>
            <a:r>
              <a:rPr sz="1350" b="1">
                <a:solidFill>
                  <a:srgbClr val="1F2421"/>
                </a:solidFill>
                <a:latin typeface="Calibri"/>
              </a:rPr>
              <a:t>Split</a:t>
            </a:r>
          </a:p>
          <a:p>
            <a:pPr algn="l">
              <a:lnSpc>
                <a:spcPct val="115000"/>
              </a:lnSpc>
              <a:spcBef>
                <a:spcPts val="300"/>
              </a:spcBef>
            </a:pPr>
            <a:r>
              <a:rPr sz="1200" b="0">
                <a:solidFill>
                  <a:srgbClr val="1F2421"/>
                </a:solidFill>
                <a:latin typeface="Calibri"/>
              </a:rPr>
              <a:t>1,166 training rows · 292 held-out test rows (80/20)</a:t>
            </a:r>
          </a:p>
          <a:p>
            <a:pPr algn="l">
              <a:lnSpc>
                <a:spcPct val="115000"/>
              </a:lnSpc>
              <a:spcBef>
                <a:spcPts val="400"/>
              </a:spcBef>
            </a:pPr>
            <a:r>
              <a:rPr sz="1150" b="0">
                <a:solidFill>
                  <a:srgbClr val="637268"/>
                </a:solidFill>
                <a:latin typeface="Calibri"/>
              </a:rPr>
              <a:t>The test set was never used for fitting, tuning or imputation.</a:t>
            </a:r>
          </a:p>
        </p:txBody>
      </p:sp>
      <p:sp>
        <p:nvSpPr>
          <p:cNvPr id="13" name="TextBox 12"/>
          <p:cNvSpPr txBox="1"/>
          <p:nvPr/>
        </p:nvSpPr>
        <p:spPr>
          <a:xfrm>
            <a:off x="731520" y="6382512"/>
            <a:ext cx="8686800" cy="274320"/>
          </a:xfrm>
          <a:prstGeom prst="rect">
            <a:avLst/>
          </a:prstGeom>
          <a:noFill/>
        </p:spPr>
        <p:txBody>
          <a:bodyPr wrap="square" anchor="t" lIns="0" rIns="0" tIns="0" bIns="0">
            <a:spAutoFit/>
          </a:bodyPr>
          <a:lstStyle/>
          <a:p>
            <a:pPr algn="l">
              <a:lnSpc>
                <a:spcPct val="100000"/>
              </a:lnSpc>
            </a:pPr>
            <a:r>
              <a:rPr sz="950" b="0">
                <a:solidFill>
                  <a:srgbClr val="637268"/>
                </a:solidFill>
                <a:latin typeface="Calibri"/>
              </a:rPr>
              <a:t>HomeValue — House Price Prediction System</a:t>
            </a:r>
          </a:p>
        </p:txBody>
      </p:sp>
      <p:sp>
        <p:nvSpPr>
          <p:cNvPr id="14" name="TextBox 13"/>
          <p:cNvSpPr txBox="1"/>
          <p:nvPr/>
        </p:nvSpPr>
        <p:spPr>
          <a:xfrm>
            <a:off x="10545775" y="6382512"/>
            <a:ext cx="914400" cy="274320"/>
          </a:xfrm>
          <a:prstGeom prst="rect">
            <a:avLst/>
          </a:prstGeom>
          <a:noFill/>
        </p:spPr>
        <p:txBody>
          <a:bodyPr wrap="square" anchor="t" lIns="0" rIns="0" tIns="0" bIns="0">
            <a:spAutoFit/>
          </a:bodyPr>
          <a:lstStyle/>
          <a:p>
            <a:pPr algn="r">
              <a:lnSpc>
                <a:spcPct val="100000"/>
              </a:lnSpc>
            </a:pPr>
            <a:r>
              <a:rPr sz="950" b="1">
                <a:solidFill>
                  <a:srgbClr val="2F6B4F"/>
                </a:solidFill>
                <a:latin typeface="Calibr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 name="TextBox 2"/>
          <p:cNvSpPr txBox="1"/>
          <p:nvPr/>
        </p:nvSpPr>
        <p:spPr>
          <a:xfrm>
            <a:off x="731520" y="502920"/>
            <a:ext cx="10728655" cy="274320"/>
          </a:xfrm>
          <a:prstGeom prst="rect">
            <a:avLst/>
          </a:prstGeom>
          <a:noFill/>
        </p:spPr>
        <p:txBody>
          <a:bodyPr wrap="square" anchor="t" lIns="0" rIns="0" tIns="0" bIns="0">
            <a:spAutoFit/>
          </a:bodyPr>
          <a:lstStyle/>
          <a:p>
            <a:pPr algn="l">
              <a:lnSpc>
                <a:spcPct val="100000"/>
              </a:lnSpc>
            </a:pPr>
            <a:r>
              <a:rPr sz="1100" b="1">
                <a:solidFill>
                  <a:srgbClr val="2F6B4F"/>
                </a:solidFill>
                <a:latin typeface="Calibri"/>
              </a:rPr>
              <a:t>EXPLORATION</a:t>
            </a:r>
          </a:p>
        </p:txBody>
      </p:sp>
      <p:sp>
        <p:nvSpPr>
          <p:cNvPr id="4" name="TextBox 3"/>
          <p:cNvSpPr txBox="1"/>
          <p:nvPr/>
        </p:nvSpPr>
        <p:spPr>
          <a:xfrm>
            <a:off x="731520" y="813816"/>
            <a:ext cx="10728655" cy="566928"/>
          </a:xfrm>
          <a:prstGeom prst="rect">
            <a:avLst/>
          </a:prstGeom>
          <a:noFill/>
        </p:spPr>
        <p:txBody>
          <a:bodyPr wrap="square" anchor="t" lIns="0" rIns="0" tIns="0" bIns="0">
            <a:spAutoFit/>
          </a:bodyPr>
          <a:lstStyle/>
          <a:p>
            <a:pPr algn="l">
              <a:lnSpc>
                <a:spcPct val="100000"/>
              </a:lnSpc>
            </a:pPr>
            <a:r>
              <a:rPr sz="3000" b="1">
                <a:solidFill>
                  <a:srgbClr val="1F2421"/>
                </a:solidFill>
                <a:latin typeface="Calibri"/>
              </a:rPr>
              <a:t>What the data shows</a:t>
            </a:r>
          </a:p>
        </p:txBody>
      </p:sp>
      <p:sp>
        <p:nvSpPr>
          <p:cNvPr id="5" name="TextBox 4"/>
          <p:cNvSpPr txBox="1"/>
          <p:nvPr/>
        </p:nvSpPr>
        <p:spPr>
          <a:xfrm>
            <a:off x="731520" y="1417320"/>
            <a:ext cx="10728655" cy="365760"/>
          </a:xfrm>
          <a:prstGeom prst="rect">
            <a:avLst/>
          </a:prstGeom>
          <a:noFill/>
        </p:spPr>
        <p:txBody>
          <a:bodyPr wrap="square" anchor="t" lIns="0" rIns="0" tIns="0" bIns="0">
            <a:spAutoFit/>
          </a:bodyPr>
          <a:lstStyle/>
          <a:p>
            <a:pPr algn="l">
              <a:lnSpc>
                <a:spcPct val="100000"/>
              </a:lnSpc>
            </a:pPr>
            <a:r>
              <a:rPr sz="1400" b="0">
                <a:solidFill>
                  <a:srgbClr val="637268"/>
                </a:solidFill>
                <a:latin typeface="Calibri"/>
              </a:rPr>
              <a:t>Sale prices in the cleaned dataset, in US dollars.</a:t>
            </a:r>
          </a:p>
        </p:txBody>
      </p:sp>
      <p:sp>
        <p:nvSpPr>
          <p:cNvPr id="6" name="Rectangle 5"/>
          <p:cNvSpPr/>
          <p:nvPr/>
        </p:nvSpPr>
        <p:spPr>
          <a:xfrm>
            <a:off x="731520" y="1874520"/>
            <a:ext cx="10728655" cy="9525"/>
          </a:xfrm>
          <a:prstGeom prst="rect">
            <a:avLst/>
          </a:prstGeom>
          <a:solidFill>
            <a:srgbClr val="DCE3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graphicFrame>
        <p:nvGraphicFramePr>
          <p:cNvPr id="7" name="Table 6"/>
          <p:cNvGraphicFramePr>
            <a:graphicFrameLocks noGrp="1"/>
          </p:cNvGraphicFramePr>
          <p:nvPr/>
        </p:nvGraphicFramePr>
        <p:xfrm>
          <a:off x="731520" y="2203704"/>
          <a:ext cx="4206240" cy="2852928"/>
        </p:xfrm>
        <a:graphic>
          <a:graphicData uri="http://schemas.openxmlformats.org/drawingml/2006/table">
            <a:tbl>
              <a:tblPr firstRow="1">
                <a:tableStyleId>{5C22544A-7EE6-4342-B048-85BDC9FD1C3A}</a:tableStyleId>
              </a:tblPr>
              <a:tblGrid>
                <a:gridCol w="2286000"/>
                <a:gridCol w="1920240"/>
              </a:tblGrid>
              <a:tr h="420624">
                <a:tc>
                  <a:txBody>
                    <a:bodyPr/>
                    <a:lstStyle/>
                    <a:p>
                      <a:pPr algn="l"/>
                      <a:r>
                        <a:rPr sz="1200" b="1">
                          <a:solidFill>
                            <a:srgbClr val="FFFFFF"/>
                          </a:solidFill>
                          <a:latin typeface="Calibri"/>
                        </a:rPr>
                        <a:t>Statistic</a:t>
                      </a:r>
                    </a:p>
                  </a:txBody>
                  <a:tcPr marL="91440" marR="91440" anchor="ctr">
                    <a:solidFill>
                      <a:srgbClr val="2F6B4F"/>
                    </a:solidFill>
                  </a:tcPr>
                </a:tc>
                <a:tc>
                  <a:txBody>
                    <a:bodyPr/>
                    <a:lstStyle/>
                    <a:p>
                      <a:pPr algn="ctr"/>
                      <a:r>
                        <a:rPr sz="1200" b="1">
                          <a:solidFill>
                            <a:srgbClr val="FFFFFF"/>
                          </a:solidFill>
                          <a:latin typeface="Calibri"/>
                        </a:rPr>
                        <a:t>Value</a:t>
                      </a:r>
                    </a:p>
                  </a:txBody>
                  <a:tcPr marL="91440" marR="91440" anchor="ctr">
                    <a:solidFill>
                      <a:srgbClr val="2F6B4F"/>
                    </a:solidFill>
                  </a:tcPr>
                </a:tc>
              </a:tr>
              <a:tr h="347472">
                <a:tc>
                  <a:txBody>
                    <a:bodyPr/>
                    <a:lstStyle/>
                    <a:p>
                      <a:pPr algn="l"/>
                      <a:r>
                        <a:rPr sz="1250" b="0">
                          <a:solidFill>
                            <a:srgbClr val="1F2421"/>
                          </a:solidFill>
                          <a:latin typeface="Calibri"/>
                        </a:rPr>
                        <a:t>Minimum</a:t>
                      </a:r>
                    </a:p>
                  </a:txBody>
                  <a:tcPr marL="91440" marR="91440" marT="18288" marB="18288" anchor="ctr">
                    <a:solidFill>
                      <a:srgbClr val="FFFFFF"/>
                    </a:solidFill>
                  </a:tcPr>
                </a:tc>
                <a:tc>
                  <a:txBody>
                    <a:bodyPr/>
                    <a:lstStyle/>
                    <a:p>
                      <a:pPr algn="ctr"/>
                      <a:r>
                        <a:rPr sz="1250" b="0">
                          <a:solidFill>
                            <a:srgbClr val="1F2421"/>
                          </a:solidFill>
                          <a:latin typeface="Calibri"/>
                        </a:rPr>
                        <a:t>$34,900</a:t>
                      </a:r>
                    </a:p>
                  </a:txBody>
                  <a:tcPr marL="91440" marR="91440" marT="18288" marB="18288" anchor="ctr">
                    <a:solidFill>
                      <a:srgbClr val="FFFFFF"/>
                    </a:solidFill>
                  </a:tcPr>
                </a:tc>
              </a:tr>
              <a:tr h="347472">
                <a:tc>
                  <a:txBody>
                    <a:bodyPr/>
                    <a:lstStyle/>
                    <a:p>
                      <a:pPr algn="l"/>
                      <a:r>
                        <a:rPr sz="1250" b="0">
                          <a:solidFill>
                            <a:srgbClr val="1F2421"/>
                          </a:solidFill>
                          <a:latin typeface="Calibri"/>
                        </a:rPr>
                        <a:t>25th percentile</a:t>
                      </a:r>
                    </a:p>
                  </a:txBody>
                  <a:tcPr marL="91440" marR="91440" marT="18288" marB="18288" anchor="ctr">
                    <a:solidFill>
                      <a:srgbClr val="E7EFEA"/>
                    </a:solidFill>
                  </a:tcPr>
                </a:tc>
                <a:tc>
                  <a:txBody>
                    <a:bodyPr/>
                    <a:lstStyle/>
                    <a:p>
                      <a:pPr algn="ctr"/>
                      <a:r>
                        <a:rPr sz="1250" b="0">
                          <a:solidFill>
                            <a:srgbClr val="1F2421"/>
                          </a:solidFill>
                          <a:latin typeface="Calibri"/>
                        </a:rPr>
                        <a:t>$129,925</a:t>
                      </a:r>
                    </a:p>
                  </a:txBody>
                  <a:tcPr marL="91440" marR="91440" marT="18288" marB="18288" anchor="ctr">
                    <a:solidFill>
                      <a:srgbClr val="E7EFEA"/>
                    </a:solidFill>
                  </a:tcPr>
                </a:tc>
              </a:tr>
              <a:tr h="347472">
                <a:tc>
                  <a:txBody>
                    <a:bodyPr/>
                    <a:lstStyle/>
                    <a:p>
                      <a:pPr algn="l"/>
                      <a:r>
                        <a:rPr sz="1250" b="0">
                          <a:solidFill>
                            <a:srgbClr val="1F2421"/>
                          </a:solidFill>
                          <a:latin typeface="Calibri"/>
                        </a:rPr>
                        <a:t>Median</a:t>
                      </a:r>
                    </a:p>
                  </a:txBody>
                  <a:tcPr marL="91440" marR="91440" marT="18288" marB="18288" anchor="ctr">
                    <a:solidFill>
                      <a:srgbClr val="FFFFFF"/>
                    </a:solidFill>
                  </a:tcPr>
                </a:tc>
                <a:tc>
                  <a:txBody>
                    <a:bodyPr/>
                    <a:lstStyle/>
                    <a:p>
                      <a:pPr algn="ctr"/>
                      <a:r>
                        <a:rPr sz="1250" b="0">
                          <a:solidFill>
                            <a:srgbClr val="1F2421"/>
                          </a:solidFill>
                          <a:latin typeface="Calibri"/>
                        </a:rPr>
                        <a:t>$163,000</a:t>
                      </a:r>
                    </a:p>
                  </a:txBody>
                  <a:tcPr marL="91440" marR="91440" marT="18288" marB="18288" anchor="ctr">
                    <a:solidFill>
                      <a:srgbClr val="FFFFFF"/>
                    </a:solidFill>
                  </a:tcPr>
                </a:tc>
              </a:tr>
              <a:tr h="347472">
                <a:tc>
                  <a:txBody>
                    <a:bodyPr/>
                    <a:lstStyle/>
                    <a:p>
                      <a:pPr algn="l"/>
                      <a:r>
                        <a:rPr sz="1250" b="0">
                          <a:solidFill>
                            <a:srgbClr val="1F2421"/>
                          </a:solidFill>
                          <a:latin typeface="Calibri"/>
                        </a:rPr>
                        <a:t>Mean</a:t>
                      </a:r>
                    </a:p>
                  </a:txBody>
                  <a:tcPr marL="91440" marR="91440" marT="18288" marB="18288" anchor="ctr">
                    <a:solidFill>
                      <a:srgbClr val="E7EFEA"/>
                    </a:solidFill>
                  </a:tcPr>
                </a:tc>
                <a:tc>
                  <a:txBody>
                    <a:bodyPr/>
                    <a:lstStyle/>
                    <a:p>
                      <a:pPr algn="ctr"/>
                      <a:r>
                        <a:rPr sz="1250" b="0">
                          <a:solidFill>
                            <a:srgbClr val="1F2421"/>
                          </a:solidFill>
                          <a:latin typeface="Calibri"/>
                        </a:rPr>
                        <a:t>$180,933</a:t>
                      </a:r>
                    </a:p>
                  </a:txBody>
                  <a:tcPr marL="91440" marR="91440" marT="18288" marB="18288" anchor="ctr">
                    <a:solidFill>
                      <a:srgbClr val="E7EFEA"/>
                    </a:solidFill>
                  </a:tcPr>
                </a:tc>
              </a:tr>
              <a:tr h="347472">
                <a:tc>
                  <a:txBody>
                    <a:bodyPr/>
                    <a:lstStyle/>
                    <a:p>
                      <a:pPr algn="l"/>
                      <a:r>
                        <a:rPr sz="1250" b="0">
                          <a:solidFill>
                            <a:srgbClr val="1F2421"/>
                          </a:solidFill>
                          <a:latin typeface="Calibri"/>
                        </a:rPr>
                        <a:t>75th percentile</a:t>
                      </a:r>
                    </a:p>
                  </a:txBody>
                  <a:tcPr marL="91440" marR="91440" marT="18288" marB="18288" anchor="ctr">
                    <a:solidFill>
                      <a:srgbClr val="FFFFFF"/>
                    </a:solidFill>
                  </a:tcPr>
                </a:tc>
                <a:tc>
                  <a:txBody>
                    <a:bodyPr/>
                    <a:lstStyle/>
                    <a:p>
                      <a:pPr algn="ctr"/>
                      <a:r>
                        <a:rPr sz="1250" b="0">
                          <a:solidFill>
                            <a:srgbClr val="1F2421"/>
                          </a:solidFill>
                          <a:latin typeface="Calibri"/>
                        </a:rPr>
                        <a:t>$214,000</a:t>
                      </a:r>
                    </a:p>
                  </a:txBody>
                  <a:tcPr marL="91440" marR="91440" marT="18288" marB="18288" anchor="ctr">
                    <a:solidFill>
                      <a:srgbClr val="FFFFFF"/>
                    </a:solidFill>
                  </a:tcPr>
                </a:tc>
              </a:tr>
              <a:tr h="347472">
                <a:tc>
                  <a:txBody>
                    <a:bodyPr/>
                    <a:lstStyle/>
                    <a:p>
                      <a:pPr algn="l"/>
                      <a:r>
                        <a:rPr sz="1250" b="0">
                          <a:solidFill>
                            <a:srgbClr val="1F2421"/>
                          </a:solidFill>
                          <a:latin typeface="Calibri"/>
                        </a:rPr>
                        <a:t>Maximum</a:t>
                      </a:r>
                    </a:p>
                  </a:txBody>
                  <a:tcPr marL="91440" marR="91440" marT="18288" marB="18288" anchor="ctr">
                    <a:solidFill>
                      <a:srgbClr val="E7EFEA"/>
                    </a:solidFill>
                  </a:tcPr>
                </a:tc>
                <a:tc>
                  <a:txBody>
                    <a:bodyPr/>
                    <a:lstStyle/>
                    <a:p>
                      <a:pPr algn="ctr"/>
                      <a:r>
                        <a:rPr sz="1250" b="0">
                          <a:solidFill>
                            <a:srgbClr val="1F2421"/>
                          </a:solidFill>
                          <a:latin typeface="Calibri"/>
                        </a:rPr>
                        <a:t>$755,000</a:t>
                      </a:r>
                    </a:p>
                  </a:txBody>
                  <a:tcPr marL="91440" marR="91440" marT="18288" marB="18288" anchor="ctr">
                    <a:solidFill>
                      <a:srgbClr val="E7EFEA"/>
                    </a:solidFill>
                  </a:tcPr>
                </a:tc>
              </a:tr>
              <a:tr h="347472">
                <a:tc>
                  <a:txBody>
                    <a:bodyPr/>
                    <a:lstStyle/>
                    <a:p>
                      <a:pPr algn="l"/>
                      <a:r>
                        <a:rPr sz="1250" b="0">
                          <a:solidFill>
                            <a:srgbClr val="1F2421"/>
                          </a:solidFill>
                          <a:latin typeface="Calibri"/>
                        </a:rPr>
                        <a:t>Std. deviation</a:t>
                      </a:r>
                    </a:p>
                  </a:txBody>
                  <a:tcPr marL="91440" marR="91440" marT="18288" marB="18288" anchor="ctr">
                    <a:solidFill>
                      <a:srgbClr val="FFFFFF"/>
                    </a:solidFill>
                  </a:tcPr>
                </a:tc>
                <a:tc>
                  <a:txBody>
                    <a:bodyPr/>
                    <a:lstStyle/>
                    <a:p>
                      <a:pPr algn="ctr"/>
                      <a:r>
                        <a:rPr sz="1250" b="0">
                          <a:solidFill>
                            <a:srgbClr val="1F2421"/>
                          </a:solidFill>
                          <a:latin typeface="Calibri"/>
                        </a:rPr>
                        <a:t>$79,495</a:t>
                      </a:r>
                    </a:p>
                  </a:txBody>
                  <a:tcPr marL="91440" marR="91440" marT="18288" marB="18288" anchor="ctr">
                    <a:solidFill>
                      <a:srgbClr val="FFFFFF"/>
                    </a:solidFill>
                  </a:tcPr>
                </a:tc>
              </a:tr>
            </a:tbl>
          </a:graphicData>
        </a:graphic>
      </p:graphicFrame>
      <p:sp>
        <p:nvSpPr>
          <p:cNvPr id="8" name="TextBox 7"/>
          <p:cNvSpPr txBox="1"/>
          <p:nvPr/>
        </p:nvSpPr>
        <p:spPr>
          <a:xfrm>
            <a:off x="4937760" y="2203704"/>
            <a:ext cx="6611112" cy="320040"/>
          </a:xfrm>
          <a:prstGeom prst="rect">
            <a:avLst/>
          </a:prstGeom>
          <a:noFill/>
        </p:spPr>
        <p:txBody>
          <a:bodyPr wrap="square" anchor="t" lIns="0" rIns="0" tIns="0" bIns="0">
            <a:spAutoFit/>
          </a:bodyPr>
          <a:lstStyle/>
          <a:p>
            <a:pPr algn="l">
              <a:lnSpc>
                <a:spcPct val="100000"/>
              </a:lnSpc>
            </a:pPr>
            <a:r>
              <a:rPr sz="1600" b="1">
                <a:solidFill>
                  <a:srgbClr val="1F2421"/>
                </a:solidFill>
                <a:latin typeface="Calibri"/>
              </a:rPr>
              <a:t>Typical property in the dataset</a:t>
            </a:r>
          </a:p>
        </p:txBody>
      </p:sp>
      <p:graphicFrame>
        <p:nvGraphicFramePr>
          <p:cNvPr id="9" name="Table 8"/>
          <p:cNvGraphicFramePr>
            <a:graphicFrameLocks noGrp="1"/>
          </p:cNvGraphicFramePr>
          <p:nvPr/>
        </p:nvGraphicFramePr>
        <p:xfrm>
          <a:off x="4937760" y="2615184"/>
          <a:ext cx="6611112" cy="2724912"/>
        </p:xfrm>
        <a:graphic>
          <a:graphicData uri="http://schemas.openxmlformats.org/drawingml/2006/table">
            <a:tbl>
              <a:tblPr firstRow="1">
                <a:tableStyleId>{5C22544A-7EE6-4342-B048-85BDC9FD1C3A}</a:tableStyleId>
              </a:tblPr>
              <a:tblGrid>
                <a:gridCol w="2011680"/>
                <a:gridCol w="2011680"/>
                <a:gridCol w="2587752"/>
              </a:tblGrid>
              <a:tr h="420624">
                <a:tc>
                  <a:txBody>
                    <a:bodyPr/>
                    <a:lstStyle/>
                    <a:p>
                      <a:pPr algn="l"/>
                      <a:r>
                        <a:rPr sz="1200" b="1">
                          <a:solidFill>
                            <a:srgbClr val="FFFFFF"/>
                          </a:solidFill>
                          <a:latin typeface="Calibri"/>
                        </a:rPr>
                        <a:t>Feature</a:t>
                      </a:r>
                    </a:p>
                  </a:txBody>
                  <a:tcPr marL="91440" marR="91440" anchor="ctr">
                    <a:solidFill>
                      <a:srgbClr val="2F6B4F"/>
                    </a:solidFill>
                  </a:tcPr>
                </a:tc>
                <a:tc>
                  <a:txBody>
                    <a:bodyPr/>
                    <a:lstStyle/>
                    <a:p>
                      <a:pPr algn="ctr"/>
                      <a:r>
                        <a:rPr sz="1200" b="1">
                          <a:solidFill>
                            <a:srgbClr val="FFFFFF"/>
                          </a:solidFill>
                          <a:latin typeface="Calibri"/>
                        </a:rPr>
                        <a:t>Median</a:t>
                      </a:r>
                    </a:p>
                  </a:txBody>
                  <a:tcPr marL="91440" marR="91440" anchor="ctr">
                    <a:solidFill>
                      <a:srgbClr val="2F6B4F"/>
                    </a:solidFill>
                  </a:tcPr>
                </a:tc>
                <a:tc>
                  <a:txBody>
                    <a:bodyPr/>
                    <a:lstStyle/>
                    <a:p>
                      <a:pPr algn="ctr"/>
                      <a:r>
                        <a:rPr sz="1200" b="1">
                          <a:solidFill>
                            <a:srgbClr val="FFFFFF"/>
                          </a:solidFill>
                          <a:latin typeface="Calibri"/>
                        </a:rPr>
                        <a:t>Spread</a:t>
                      </a:r>
                    </a:p>
                  </a:txBody>
                  <a:tcPr marL="91440" marR="91440" anchor="ctr">
                    <a:solidFill>
                      <a:srgbClr val="2F6B4F"/>
                    </a:solidFill>
                  </a:tcPr>
                </a:tc>
              </a:tr>
              <a:tr h="384048">
                <a:tc>
                  <a:txBody>
                    <a:bodyPr/>
                    <a:lstStyle/>
                    <a:p>
                      <a:pPr algn="l"/>
                      <a:r>
                        <a:rPr sz="1250" b="0">
                          <a:solidFill>
                            <a:srgbClr val="1F2421"/>
                          </a:solidFill>
                          <a:latin typeface="Calibri"/>
                        </a:rPr>
                        <a:t>Living area</a:t>
                      </a:r>
                    </a:p>
                  </a:txBody>
                  <a:tcPr marL="91440" marR="91440" marT="18288" marB="18288" anchor="ctr">
                    <a:solidFill>
                      <a:srgbClr val="FFFFFF"/>
                    </a:solidFill>
                  </a:tcPr>
                </a:tc>
                <a:tc>
                  <a:txBody>
                    <a:bodyPr/>
                    <a:lstStyle/>
                    <a:p>
                      <a:pPr algn="ctr"/>
                      <a:r>
                        <a:rPr sz="1250" b="0">
                          <a:solidFill>
                            <a:srgbClr val="1F2421"/>
                          </a:solidFill>
                          <a:latin typeface="Calibri"/>
                        </a:rPr>
                        <a:t>1,462 sq ft</a:t>
                      </a:r>
                    </a:p>
                  </a:txBody>
                  <a:tcPr marL="91440" marR="91440" marT="18288" marB="18288" anchor="ctr">
                    <a:solidFill>
                      <a:srgbClr val="FFFFFF"/>
                    </a:solidFill>
                  </a:tcPr>
                </a:tc>
                <a:tc>
                  <a:txBody>
                    <a:bodyPr/>
                    <a:lstStyle/>
                    <a:p>
                      <a:pPr algn="ctr"/>
                      <a:r>
                        <a:rPr sz="1250" b="0">
                          <a:solidFill>
                            <a:srgbClr val="1F2421"/>
                          </a:solidFill>
                          <a:latin typeface="Calibri"/>
                        </a:rPr>
                        <a:t>range 334–4,476</a:t>
                      </a:r>
                    </a:p>
                  </a:txBody>
                  <a:tcPr marL="91440" marR="91440" marT="18288" marB="18288" anchor="ctr">
                    <a:solidFill>
                      <a:srgbClr val="FFFFFF"/>
                    </a:solidFill>
                  </a:tcPr>
                </a:tc>
              </a:tr>
              <a:tr h="384048">
                <a:tc>
                  <a:txBody>
                    <a:bodyPr/>
                    <a:lstStyle/>
                    <a:p>
                      <a:pPr algn="l"/>
                      <a:r>
                        <a:rPr sz="1250" b="0">
                          <a:solidFill>
                            <a:srgbClr val="1F2421"/>
                          </a:solidFill>
                          <a:latin typeface="Calibri"/>
                        </a:rPr>
                        <a:t>Lot size</a:t>
                      </a:r>
                    </a:p>
                  </a:txBody>
                  <a:tcPr marL="91440" marR="91440" marT="18288" marB="18288" anchor="ctr">
                    <a:solidFill>
                      <a:srgbClr val="E7EFEA"/>
                    </a:solidFill>
                  </a:tcPr>
                </a:tc>
                <a:tc>
                  <a:txBody>
                    <a:bodyPr/>
                    <a:lstStyle/>
                    <a:p>
                      <a:pPr algn="ctr"/>
                      <a:r>
                        <a:rPr sz="1250" b="0">
                          <a:solidFill>
                            <a:srgbClr val="1F2421"/>
                          </a:solidFill>
                          <a:latin typeface="Calibri"/>
                        </a:rPr>
                        <a:t>9,475 sq ft</a:t>
                      </a:r>
                    </a:p>
                  </a:txBody>
                  <a:tcPr marL="91440" marR="91440" marT="18288" marB="18288" anchor="ctr">
                    <a:solidFill>
                      <a:srgbClr val="E7EFEA"/>
                    </a:solidFill>
                  </a:tcPr>
                </a:tc>
                <a:tc>
                  <a:txBody>
                    <a:bodyPr/>
                    <a:lstStyle/>
                    <a:p>
                      <a:pPr algn="ctr"/>
                      <a:r>
                        <a:rPr sz="1250" b="0">
                          <a:solidFill>
                            <a:srgbClr val="1F2421"/>
                          </a:solidFill>
                          <a:latin typeface="Calibri"/>
                        </a:rPr>
                        <a:t>range 1,300–215,245</a:t>
                      </a:r>
                    </a:p>
                  </a:txBody>
                  <a:tcPr marL="91440" marR="91440" marT="18288" marB="18288" anchor="ctr">
                    <a:solidFill>
                      <a:srgbClr val="E7EFEA"/>
                    </a:solidFill>
                  </a:tcPr>
                </a:tc>
              </a:tr>
              <a:tr h="384048">
                <a:tc>
                  <a:txBody>
                    <a:bodyPr/>
                    <a:lstStyle/>
                    <a:p>
                      <a:pPr algn="l"/>
                      <a:r>
                        <a:rPr sz="1250" b="0">
                          <a:solidFill>
                            <a:srgbClr val="1F2421"/>
                          </a:solidFill>
                          <a:latin typeface="Calibri"/>
                        </a:rPr>
                        <a:t>Property age</a:t>
                      </a:r>
                    </a:p>
                  </a:txBody>
                  <a:tcPr marL="91440" marR="91440" marT="18288" marB="18288" anchor="ctr">
                    <a:solidFill>
                      <a:srgbClr val="FFFFFF"/>
                    </a:solidFill>
                  </a:tcPr>
                </a:tc>
                <a:tc>
                  <a:txBody>
                    <a:bodyPr/>
                    <a:lstStyle/>
                    <a:p>
                      <a:pPr algn="ctr"/>
                      <a:r>
                        <a:rPr sz="1250" b="0">
                          <a:solidFill>
                            <a:srgbClr val="1F2421"/>
                          </a:solidFill>
                          <a:latin typeface="Calibri"/>
                        </a:rPr>
                        <a:t>35 years</a:t>
                      </a:r>
                    </a:p>
                  </a:txBody>
                  <a:tcPr marL="91440" marR="91440" marT="18288" marB="18288" anchor="ctr">
                    <a:solidFill>
                      <a:srgbClr val="FFFFFF"/>
                    </a:solidFill>
                  </a:tcPr>
                </a:tc>
                <a:tc>
                  <a:txBody>
                    <a:bodyPr/>
                    <a:lstStyle/>
                    <a:p>
                      <a:pPr algn="ctr"/>
                      <a:r>
                        <a:rPr sz="1250" b="0">
                          <a:solidFill>
                            <a:srgbClr val="1F2421"/>
                          </a:solidFill>
                          <a:latin typeface="Calibri"/>
                        </a:rPr>
                        <a:t>range 0–136</a:t>
                      </a:r>
                    </a:p>
                  </a:txBody>
                  <a:tcPr marL="91440" marR="91440" marT="18288" marB="18288" anchor="ctr">
                    <a:solidFill>
                      <a:srgbClr val="FFFFFF"/>
                    </a:solidFill>
                  </a:tcPr>
                </a:tc>
              </a:tr>
              <a:tr h="384048">
                <a:tc>
                  <a:txBody>
                    <a:bodyPr/>
                    <a:lstStyle/>
                    <a:p>
                      <a:pPr algn="l"/>
                      <a:r>
                        <a:rPr sz="1250" b="0">
                          <a:solidFill>
                            <a:srgbClr val="1F2421"/>
                          </a:solidFill>
                          <a:latin typeface="Calibri"/>
                        </a:rPr>
                        <a:t>Price per sq ft</a:t>
                      </a:r>
                    </a:p>
                  </a:txBody>
                  <a:tcPr marL="91440" marR="91440" marT="18288" marB="18288" anchor="ctr">
                    <a:solidFill>
                      <a:srgbClr val="E7EFEA"/>
                    </a:solidFill>
                  </a:tcPr>
                </a:tc>
                <a:tc>
                  <a:txBody>
                    <a:bodyPr/>
                    <a:lstStyle/>
                    <a:p>
                      <a:pPr algn="ctr"/>
                      <a:r>
                        <a:rPr sz="1250" b="0">
                          <a:solidFill>
                            <a:srgbClr val="1F2421"/>
                          </a:solidFill>
                          <a:latin typeface="Calibri"/>
                        </a:rPr>
                        <a:t>$120.11</a:t>
                      </a:r>
                    </a:p>
                  </a:txBody>
                  <a:tcPr marL="91440" marR="91440" marT="18288" marB="18288" anchor="ctr">
                    <a:solidFill>
                      <a:srgbClr val="E7EFEA"/>
                    </a:solidFill>
                  </a:tcPr>
                </a:tc>
                <a:tc>
                  <a:txBody>
                    <a:bodyPr/>
                    <a:lstStyle/>
                    <a:p>
                      <a:pPr algn="ctr"/>
                      <a:r>
                        <a:rPr sz="1250" b="0">
                          <a:solidFill>
                            <a:srgbClr val="1F2421"/>
                          </a:solidFill>
                          <a:latin typeface="Calibri"/>
                        </a:rPr>
                        <a:t>median across all sales</a:t>
                      </a:r>
                    </a:p>
                  </a:txBody>
                  <a:tcPr marL="91440" marR="91440" marT="18288" marB="18288" anchor="ctr">
                    <a:solidFill>
                      <a:srgbClr val="E7EFEA"/>
                    </a:solidFill>
                  </a:tcPr>
                </a:tc>
              </a:tr>
              <a:tr h="384048">
                <a:tc>
                  <a:txBody>
                    <a:bodyPr/>
                    <a:lstStyle/>
                    <a:p>
                      <a:pPr algn="l"/>
                      <a:r>
                        <a:rPr sz="1250" b="0">
                          <a:solidFill>
                            <a:srgbClr val="1F2421"/>
                          </a:solidFill>
                          <a:latin typeface="Calibri"/>
                        </a:rPr>
                        <a:t>Bedrooms</a:t>
                      </a:r>
                    </a:p>
                  </a:txBody>
                  <a:tcPr marL="91440" marR="91440" marT="18288" marB="18288" anchor="ctr">
                    <a:solidFill>
                      <a:srgbClr val="FFFFFF"/>
                    </a:solidFill>
                  </a:tcPr>
                </a:tc>
                <a:tc>
                  <a:txBody>
                    <a:bodyPr/>
                    <a:lstStyle/>
                    <a:p>
                      <a:pPr algn="ctr"/>
                      <a:r>
                        <a:rPr sz="1250" b="0">
                          <a:solidFill>
                            <a:srgbClr val="1F2421"/>
                          </a:solidFill>
                          <a:latin typeface="Calibri"/>
                        </a:rPr>
                        <a:t>3.0</a:t>
                      </a:r>
                    </a:p>
                  </a:txBody>
                  <a:tcPr marL="91440" marR="91440" marT="18288" marB="18288" anchor="ctr">
                    <a:solidFill>
                      <a:srgbClr val="FFFFFF"/>
                    </a:solidFill>
                  </a:tcPr>
                </a:tc>
                <a:tc>
                  <a:txBody>
                    <a:bodyPr/>
                    <a:lstStyle/>
                    <a:p>
                      <a:pPr algn="ctr"/>
                      <a:r>
                        <a:rPr sz="1250" b="0">
                          <a:solidFill>
                            <a:srgbClr val="1F2421"/>
                          </a:solidFill>
                          <a:latin typeface="Calibri"/>
                        </a:rPr>
                        <a:t>above grade</a:t>
                      </a:r>
                    </a:p>
                  </a:txBody>
                  <a:tcPr marL="91440" marR="91440" marT="18288" marB="18288" anchor="ctr">
                    <a:solidFill>
                      <a:srgbClr val="FFFFFF"/>
                    </a:solidFill>
                  </a:tcPr>
                </a:tc>
              </a:tr>
              <a:tr h="384048">
                <a:tc>
                  <a:txBody>
                    <a:bodyPr/>
                    <a:lstStyle/>
                    <a:p>
                      <a:pPr algn="l"/>
                      <a:r>
                        <a:rPr sz="1250" b="0">
                          <a:solidFill>
                            <a:srgbClr val="1F2421"/>
                          </a:solidFill>
                          <a:latin typeface="Calibri"/>
                        </a:rPr>
                        <a:t>Bathrooms</a:t>
                      </a:r>
                    </a:p>
                  </a:txBody>
                  <a:tcPr marL="91440" marR="91440" marT="18288" marB="18288" anchor="ctr">
                    <a:solidFill>
                      <a:srgbClr val="E7EFEA"/>
                    </a:solidFill>
                  </a:tcPr>
                </a:tc>
                <a:tc>
                  <a:txBody>
                    <a:bodyPr/>
                    <a:lstStyle/>
                    <a:p>
                      <a:pPr algn="ctr"/>
                      <a:r>
                        <a:rPr sz="1250" b="0">
                          <a:solidFill>
                            <a:srgbClr val="1F2421"/>
                          </a:solidFill>
                          <a:latin typeface="Calibri"/>
                        </a:rPr>
                        <a:t>2.0</a:t>
                      </a:r>
                    </a:p>
                  </a:txBody>
                  <a:tcPr marL="91440" marR="91440" marT="18288" marB="18288" anchor="ctr">
                    <a:solidFill>
                      <a:srgbClr val="E7EFEA"/>
                    </a:solidFill>
                  </a:tcPr>
                </a:tc>
                <a:tc>
                  <a:txBody>
                    <a:bodyPr/>
                    <a:lstStyle/>
                    <a:p>
                      <a:pPr algn="ctr"/>
                      <a:r>
                        <a:rPr sz="1250" b="0">
                          <a:solidFill>
                            <a:srgbClr val="1F2421"/>
                          </a:solidFill>
                          <a:latin typeface="Calibri"/>
                        </a:rPr>
                        <a:t>half bath counts 0.5</a:t>
                      </a:r>
                    </a:p>
                  </a:txBody>
                  <a:tcPr marL="91440" marR="91440" marT="18288" marB="18288" anchor="ctr">
                    <a:solidFill>
                      <a:srgbClr val="E7EFEA"/>
                    </a:solidFill>
                  </a:tcPr>
                </a:tc>
              </a:tr>
            </a:tbl>
          </a:graphicData>
        </a:graphic>
      </p:graphicFrame>
      <p:sp>
        <p:nvSpPr>
          <p:cNvPr id="10" name="TextBox 9"/>
          <p:cNvSpPr txBox="1"/>
          <p:nvPr/>
        </p:nvSpPr>
        <p:spPr>
          <a:xfrm>
            <a:off x="4937760" y="5266944"/>
            <a:ext cx="6611112" cy="822960"/>
          </a:xfrm>
          <a:prstGeom prst="rect">
            <a:avLst/>
          </a:prstGeom>
          <a:noFill/>
        </p:spPr>
        <p:txBody>
          <a:bodyPr wrap="square" anchor="t" lIns="0" rIns="0" tIns="0" bIns="0">
            <a:spAutoFit/>
          </a:bodyPr>
          <a:lstStyle/>
          <a:p>
            <a:pPr algn="l">
              <a:lnSpc>
                <a:spcPct val="125000"/>
              </a:lnSpc>
            </a:pPr>
            <a:r>
              <a:rPr sz="1250" b="0">
                <a:solidFill>
                  <a:srgbClr val="637268"/>
                </a:solidFill>
                <a:latin typeface="Calibri"/>
              </a:rPr>
              <a:t>Larger and newer homes command higher prices, and the model recovers that relationship on its own — permutation importance later confirms living area and property age are the two strongest drivers.</a:t>
            </a:r>
          </a:p>
        </p:txBody>
      </p:sp>
      <p:sp>
        <p:nvSpPr>
          <p:cNvPr id="11" name="TextBox 10"/>
          <p:cNvSpPr txBox="1"/>
          <p:nvPr/>
        </p:nvSpPr>
        <p:spPr>
          <a:xfrm>
            <a:off x="731520" y="6382512"/>
            <a:ext cx="8686800" cy="274320"/>
          </a:xfrm>
          <a:prstGeom prst="rect">
            <a:avLst/>
          </a:prstGeom>
          <a:noFill/>
        </p:spPr>
        <p:txBody>
          <a:bodyPr wrap="square" anchor="t" lIns="0" rIns="0" tIns="0" bIns="0">
            <a:spAutoFit/>
          </a:bodyPr>
          <a:lstStyle/>
          <a:p>
            <a:pPr algn="l">
              <a:lnSpc>
                <a:spcPct val="100000"/>
              </a:lnSpc>
            </a:pPr>
            <a:r>
              <a:rPr sz="950" b="0">
                <a:solidFill>
                  <a:srgbClr val="637268"/>
                </a:solidFill>
                <a:latin typeface="Calibri"/>
              </a:rPr>
              <a:t>HomeValue — House Price Prediction System</a:t>
            </a:r>
          </a:p>
        </p:txBody>
      </p:sp>
      <p:sp>
        <p:nvSpPr>
          <p:cNvPr id="12" name="TextBox 11"/>
          <p:cNvSpPr txBox="1"/>
          <p:nvPr/>
        </p:nvSpPr>
        <p:spPr>
          <a:xfrm>
            <a:off x="10545775" y="6382512"/>
            <a:ext cx="914400" cy="274320"/>
          </a:xfrm>
          <a:prstGeom prst="rect">
            <a:avLst/>
          </a:prstGeom>
          <a:noFill/>
        </p:spPr>
        <p:txBody>
          <a:bodyPr wrap="square" anchor="t" lIns="0" rIns="0" tIns="0" bIns="0">
            <a:spAutoFit/>
          </a:bodyPr>
          <a:lstStyle/>
          <a:p>
            <a:pPr algn="r">
              <a:lnSpc>
                <a:spcPct val="100000"/>
              </a:lnSpc>
            </a:pPr>
            <a:r>
              <a:rPr sz="950" b="1">
                <a:solidFill>
                  <a:srgbClr val="2F6B4F"/>
                </a:solidFill>
                <a:latin typeface="Calibr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 name="TextBox 2"/>
          <p:cNvSpPr txBox="1"/>
          <p:nvPr/>
        </p:nvSpPr>
        <p:spPr>
          <a:xfrm>
            <a:off x="731520" y="502920"/>
            <a:ext cx="10728655" cy="274320"/>
          </a:xfrm>
          <a:prstGeom prst="rect">
            <a:avLst/>
          </a:prstGeom>
          <a:noFill/>
        </p:spPr>
        <p:txBody>
          <a:bodyPr wrap="square" anchor="t" lIns="0" rIns="0" tIns="0" bIns="0">
            <a:spAutoFit/>
          </a:bodyPr>
          <a:lstStyle/>
          <a:p>
            <a:pPr algn="l">
              <a:lnSpc>
                <a:spcPct val="100000"/>
              </a:lnSpc>
            </a:pPr>
            <a:r>
              <a:rPr sz="1100" b="1">
                <a:solidFill>
                  <a:srgbClr val="2F6B4F"/>
                </a:solidFill>
                <a:latin typeface="Calibri"/>
              </a:rPr>
              <a:t>METHOD</a:t>
            </a:r>
          </a:p>
        </p:txBody>
      </p:sp>
      <p:sp>
        <p:nvSpPr>
          <p:cNvPr id="4" name="TextBox 3"/>
          <p:cNvSpPr txBox="1"/>
          <p:nvPr/>
        </p:nvSpPr>
        <p:spPr>
          <a:xfrm>
            <a:off x="731520" y="813816"/>
            <a:ext cx="10728655" cy="566928"/>
          </a:xfrm>
          <a:prstGeom prst="rect">
            <a:avLst/>
          </a:prstGeom>
          <a:noFill/>
        </p:spPr>
        <p:txBody>
          <a:bodyPr wrap="square" anchor="t" lIns="0" rIns="0" tIns="0" bIns="0">
            <a:spAutoFit/>
          </a:bodyPr>
          <a:lstStyle/>
          <a:p>
            <a:pPr algn="l">
              <a:lnSpc>
                <a:spcPct val="100000"/>
              </a:lnSpc>
            </a:pPr>
            <a:r>
              <a:rPr sz="3000" b="1">
                <a:solidFill>
                  <a:srgbClr val="1F2421"/>
                </a:solidFill>
                <a:latin typeface="Calibri"/>
              </a:rPr>
              <a:t>Features and preprocessing</a:t>
            </a:r>
          </a:p>
        </p:txBody>
      </p:sp>
      <p:sp>
        <p:nvSpPr>
          <p:cNvPr id="5" name="TextBox 4"/>
          <p:cNvSpPr txBox="1"/>
          <p:nvPr/>
        </p:nvSpPr>
        <p:spPr>
          <a:xfrm>
            <a:off x="731520" y="1417320"/>
            <a:ext cx="10728655" cy="365760"/>
          </a:xfrm>
          <a:prstGeom prst="rect">
            <a:avLst/>
          </a:prstGeom>
          <a:noFill/>
        </p:spPr>
        <p:txBody>
          <a:bodyPr wrap="square" anchor="t" lIns="0" rIns="0" tIns="0" bIns="0">
            <a:spAutoFit/>
          </a:bodyPr>
          <a:lstStyle/>
          <a:p>
            <a:pPr algn="l">
              <a:lnSpc>
                <a:spcPct val="100000"/>
              </a:lnSpc>
            </a:pPr>
            <a:r>
              <a:rPr sz="1400" b="0">
                <a:solidFill>
                  <a:srgbClr val="637268"/>
                </a:solidFill>
                <a:latin typeface="Calibri"/>
              </a:rPr>
              <a:t>Nine inputs, one target, all transforms inside a single Pipeline.</a:t>
            </a:r>
          </a:p>
        </p:txBody>
      </p:sp>
      <p:sp>
        <p:nvSpPr>
          <p:cNvPr id="6" name="Rectangle 5"/>
          <p:cNvSpPr/>
          <p:nvPr/>
        </p:nvSpPr>
        <p:spPr>
          <a:xfrm>
            <a:off x="731520" y="1874520"/>
            <a:ext cx="10728655" cy="9525"/>
          </a:xfrm>
          <a:prstGeom prst="rect">
            <a:avLst/>
          </a:prstGeom>
          <a:solidFill>
            <a:srgbClr val="DCE3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TextBox 6"/>
          <p:cNvSpPr txBox="1"/>
          <p:nvPr/>
        </p:nvSpPr>
        <p:spPr>
          <a:xfrm>
            <a:off x="731520" y="2203704"/>
            <a:ext cx="5212080" cy="274320"/>
          </a:xfrm>
          <a:prstGeom prst="rect">
            <a:avLst/>
          </a:prstGeom>
          <a:noFill/>
        </p:spPr>
        <p:txBody>
          <a:bodyPr wrap="square" anchor="t" lIns="0" rIns="0" tIns="0" bIns="0">
            <a:spAutoFit/>
          </a:bodyPr>
          <a:lstStyle/>
          <a:p>
            <a:pPr algn="l">
              <a:lnSpc>
                <a:spcPct val="100000"/>
              </a:lnSpc>
            </a:pPr>
            <a:r>
              <a:rPr sz="1500" b="1">
                <a:solidFill>
                  <a:srgbClr val="2F6B4F"/>
                </a:solidFill>
                <a:latin typeface="Calibri"/>
              </a:rPr>
              <a:t>Numeric</a:t>
            </a:r>
          </a:p>
        </p:txBody>
      </p:sp>
      <p:graphicFrame>
        <p:nvGraphicFramePr>
          <p:cNvPr id="8" name="Table 7"/>
          <p:cNvGraphicFramePr>
            <a:graphicFrameLocks noGrp="1"/>
          </p:cNvGraphicFramePr>
          <p:nvPr/>
        </p:nvGraphicFramePr>
        <p:xfrm>
          <a:off x="731520" y="2587752"/>
          <a:ext cx="5212080" cy="2615184"/>
        </p:xfrm>
        <a:graphic>
          <a:graphicData uri="http://schemas.openxmlformats.org/drawingml/2006/table">
            <a:tbl>
              <a:tblPr firstRow="1">
                <a:tableStyleId>{5C22544A-7EE6-4342-B048-85BDC9FD1C3A}</a:tableStyleId>
              </a:tblPr>
              <a:tblGrid>
                <a:gridCol w="1463040"/>
                <a:gridCol w="1600200"/>
                <a:gridCol w="2148840"/>
              </a:tblGrid>
              <a:tr h="420624">
                <a:tc>
                  <a:txBody>
                    <a:bodyPr/>
                    <a:lstStyle/>
                    <a:p>
                      <a:pPr algn="l"/>
                      <a:r>
                        <a:rPr sz="1200" b="1">
                          <a:solidFill>
                            <a:srgbClr val="FFFFFF"/>
                          </a:solidFill>
                          <a:latin typeface="Calibri"/>
                        </a:rPr>
                        <a:t>Feature</a:t>
                      </a:r>
                    </a:p>
                  </a:txBody>
                  <a:tcPr marL="91440" marR="91440" anchor="ctr">
                    <a:solidFill>
                      <a:srgbClr val="2F6B4F"/>
                    </a:solidFill>
                  </a:tcPr>
                </a:tc>
                <a:tc>
                  <a:txBody>
                    <a:bodyPr/>
                    <a:lstStyle/>
                    <a:p>
                      <a:pPr algn="ctr"/>
                      <a:r>
                        <a:rPr sz="1200" b="1">
                          <a:solidFill>
                            <a:srgbClr val="FFFFFF"/>
                          </a:solidFill>
                          <a:latin typeface="Calibri"/>
                        </a:rPr>
                        <a:t>Meaning</a:t>
                      </a:r>
                    </a:p>
                  </a:txBody>
                  <a:tcPr marL="91440" marR="91440" anchor="ctr">
                    <a:solidFill>
                      <a:srgbClr val="2F6B4F"/>
                    </a:solidFill>
                  </a:tcPr>
                </a:tc>
                <a:tc>
                  <a:txBody>
                    <a:bodyPr/>
                    <a:lstStyle/>
                    <a:p>
                      <a:pPr algn="ctr"/>
                      <a:r>
                        <a:rPr sz="1200" b="1">
                          <a:solidFill>
                            <a:srgbClr val="FFFFFF"/>
                          </a:solidFill>
                          <a:latin typeface="Calibri"/>
                        </a:rPr>
                        <a:t>Transform</a:t>
                      </a:r>
                    </a:p>
                  </a:txBody>
                  <a:tcPr marL="91440" marR="91440" anchor="ctr">
                    <a:solidFill>
                      <a:srgbClr val="2F6B4F"/>
                    </a:solidFill>
                  </a:tcPr>
                </a:tc>
              </a:tr>
              <a:tr h="365760">
                <a:tc>
                  <a:txBody>
                    <a:bodyPr/>
                    <a:lstStyle/>
                    <a:p>
                      <a:pPr algn="l"/>
                      <a:r>
                        <a:rPr sz="1200" b="0">
                          <a:solidFill>
                            <a:srgbClr val="1F2421"/>
                          </a:solidFill>
                          <a:latin typeface="Calibri"/>
                        </a:rPr>
                        <a:t>area_sqft</a:t>
                      </a:r>
                    </a:p>
                  </a:txBody>
                  <a:tcPr marL="91440" marR="91440" marT="18288" marB="18288" anchor="ctr">
                    <a:solidFill>
                      <a:srgbClr val="FFFFFF"/>
                    </a:solidFill>
                  </a:tcPr>
                </a:tc>
                <a:tc>
                  <a:txBody>
                    <a:bodyPr/>
                    <a:lstStyle/>
                    <a:p>
                      <a:pPr algn="ctr"/>
                      <a:r>
                        <a:rPr sz="1200" b="0">
                          <a:solidFill>
                            <a:srgbClr val="1F2421"/>
                          </a:solidFill>
                          <a:latin typeface="Calibri"/>
                        </a:rPr>
                        <a:t>Living area</a:t>
                      </a:r>
                    </a:p>
                  </a:txBody>
                  <a:tcPr marL="91440" marR="91440" marT="18288" marB="18288" anchor="ctr">
                    <a:solidFill>
                      <a:srgbClr val="FFFFFF"/>
                    </a:solidFill>
                  </a:tcPr>
                </a:tc>
                <a:tc>
                  <a:txBody>
                    <a:bodyPr/>
                    <a:lstStyle/>
                    <a:p>
                      <a:pPr algn="ctr"/>
                      <a:r>
                        <a:rPr sz="1200" b="0">
                          <a:solidFill>
                            <a:srgbClr val="1F2421"/>
                          </a:solidFill>
                          <a:latin typeface="Calibri"/>
                        </a:rPr>
                        <a:t>median impute + scale</a:t>
                      </a:r>
                    </a:p>
                  </a:txBody>
                  <a:tcPr marL="91440" marR="91440" marT="18288" marB="18288" anchor="ctr">
                    <a:solidFill>
                      <a:srgbClr val="FFFFFF"/>
                    </a:solidFill>
                  </a:tcPr>
                </a:tc>
              </a:tr>
              <a:tr h="365760">
                <a:tc>
                  <a:txBody>
                    <a:bodyPr/>
                    <a:lstStyle/>
                    <a:p>
                      <a:pPr algn="l"/>
                      <a:r>
                        <a:rPr sz="1200" b="0">
                          <a:solidFill>
                            <a:srgbClr val="1F2421"/>
                          </a:solidFill>
                          <a:latin typeface="Calibri"/>
                        </a:rPr>
                        <a:t>lot_area_sqft</a:t>
                      </a:r>
                    </a:p>
                  </a:txBody>
                  <a:tcPr marL="91440" marR="91440" marT="18288" marB="18288" anchor="ctr">
                    <a:solidFill>
                      <a:srgbClr val="E7EFEA"/>
                    </a:solidFill>
                  </a:tcPr>
                </a:tc>
                <a:tc>
                  <a:txBody>
                    <a:bodyPr/>
                    <a:lstStyle/>
                    <a:p>
                      <a:pPr algn="ctr"/>
                      <a:r>
                        <a:rPr sz="1200" b="0">
                          <a:solidFill>
                            <a:srgbClr val="1F2421"/>
                          </a:solidFill>
                          <a:latin typeface="Calibri"/>
                        </a:rPr>
                        <a:t>Lot size</a:t>
                      </a:r>
                    </a:p>
                  </a:txBody>
                  <a:tcPr marL="91440" marR="91440" marT="18288" marB="18288" anchor="ctr">
                    <a:solidFill>
                      <a:srgbClr val="E7EFEA"/>
                    </a:solidFill>
                  </a:tcPr>
                </a:tc>
                <a:tc>
                  <a:txBody>
                    <a:bodyPr/>
                    <a:lstStyle/>
                    <a:p>
                      <a:pPr algn="ctr"/>
                      <a:r>
                        <a:rPr sz="1200" b="0">
                          <a:solidFill>
                            <a:srgbClr val="1F2421"/>
                          </a:solidFill>
                          <a:latin typeface="Calibri"/>
                        </a:rPr>
                        <a:t>median impute + scale</a:t>
                      </a:r>
                    </a:p>
                  </a:txBody>
                  <a:tcPr marL="91440" marR="91440" marT="18288" marB="18288" anchor="ctr">
                    <a:solidFill>
                      <a:srgbClr val="E7EFEA"/>
                    </a:solidFill>
                  </a:tcPr>
                </a:tc>
              </a:tr>
              <a:tr h="365760">
                <a:tc>
                  <a:txBody>
                    <a:bodyPr/>
                    <a:lstStyle/>
                    <a:p>
                      <a:pPr algn="l"/>
                      <a:r>
                        <a:rPr sz="1200" b="0">
                          <a:solidFill>
                            <a:srgbClr val="1F2421"/>
                          </a:solidFill>
                          <a:latin typeface="Calibri"/>
                        </a:rPr>
                        <a:t>bedrooms</a:t>
                      </a:r>
                    </a:p>
                  </a:txBody>
                  <a:tcPr marL="91440" marR="91440" marT="18288" marB="18288" anchor="ctr">
                    <a:solidFill>
                      <a:srgbClr val="FFFFFF"/>
                    </a:solidFill>
                  </a:tcPr>
                </a:tc>
                <a:tc>
                  <a:txBody>
                    <a:bodyPr/>
                    <a:lstStyle/>
                    <a:p>
                      <a:pPr algn="ctr"/>
                      <a:r>
                        <a:rPr sz="1200" b="0">
                          <a:solidFill>
                            <a:srgbClr val="1F2421"/>
                          </a:solidFill>
                          <a:latin typeface="Calibri"/>
                        </a:rPr>
                        <a:t>Bedrooms</a:t>
                      </a:r>
                    </a:p>
                  </a:txBody>
                  <a:tcPr marL="91440" marR="91440" marT="18288" marB="18288" anchor="ctr">
                    <a:solidFill>
                      <a:srgbClr val="FFFFFF"/>
                    </a:solidFill>
                  </a:tcPr>
                </a:tc>
                <a:tc>
                  <a:txBody>
                    <a:bodyPr/>
                    <a:lstStyle/>
                    <a:p>
                      <a:pPr algn="ctr"/>
                      <a:r>
                        <a:rPr sz="1200" b="0">
                          <a:solidFill>
                            <a:srgbClr val="1F2421"/>
                          </a:solidFill>
                          <a:latin typeface="Calibri"/>
                        </a:rPr>
                        <a:t>median impute + scale</a:t>
                      </a:r>
                    </a:p>
                  </a:txBody>
                  <a:tcPr marL="91440" marR="91440" marT="18288" marB="18288" anchor="ctr">
                    <a:solidFill>
                      <a:srgbClr val="FFFFFF"/>
                    </a:solidFill>
                  </a:tcPr>
                </a:tc>
              </a:tr>
              <a:tr h="365760">
                <a:tc>
                  <a:txBody>
                    <a:bodyPr/>
                    <a:lstStyle/>
                    <a:p>
                      <a:pPr algn="l"/>
                      <a:r>
                        <a:rPr sz="1200" b="0">
                          <a:solidFill>
                            <a:srgbClr val="1F2421"/>
                          </a:solidFill>
                          <a:latin typeface="Calibri"/>
                        </a:rPr>
                        <a:t>bathrooms</a:t>
                      </a:r>
                    </a:p>
                  </a:txBody>
                  <a:tcPr marL="91440" marR="91440" marT="18288" marB="18288" anchor="ctr">
                    <a:solidFill>
                      <a:srgbClr val="E7EFEA"/>
                    </a:solidFill>
                  </a:tcPr>
                </a:tc>
                <a:tc>
                  <a:txBody>
                    <a:bodyPr/>
                    <a:lstStyle/>
                    <a:p>
                      <a:pPr algn="ctr"/>
                      <a:r>
                        <a:rPr sz="1200" b="0">
                          <a:solidFill>
                            <a:srgbClr val="1F2421"/>
                          </a:solidFill>
                          <a:latin typeface="Calibri"/>
                        </a:rPr>
                        <a:t>Bathrooms</a:t>
                      </a:r>
                    </a:p>
                  </a:txBody>
                  <a:tcPr marL="91440" marR="91440" marT="18288" marB="18288" anchor="ctr">
                    <a:solidFill>
                      <a:srgbClr val="E7EFEA"/>
                    </a:solidFill>
                  </a:tcPr>
                </a:tc>
                <a:tc>
                  <a:txBody>
                    <a:bodyPr/>
                    <a:lstStyle/>
                    <a:p>
                      <a:pPr algn="ctr"/>
                      <a:r>
                        <a:rPr sz="1200" b="0">
                          <a:solidFill>
                            <a:srgbClr val="1F2421"/>
                          </a:solidFill>
                          <a:latin typeface="Calibri"/>
                        </a:rPr>
                        <a:t>median impute + scale</a:t>
                      </a:r>
                    </a:p>
                  </a:txBody>
                  <a:tcPr marL="91440" marR="91440" marT="18288" marB="18288" anchor="ctr">
                    <a:solidFill>
                      <a:srgbClr val="E7EFEA"/>
                    </a:solidFill>
                  </a:tcPr>
                </a:tc>
              </a:tr>
              <a:tr h="365760">
                <a:tc>
                  <a:txBody>
                    <a:bodyPr/>
                    <a:lstStyle/>
                    <a:p>
                      <a:pPr algn="l"/>
                      <a:r>
                        <a:rPr sz="1200" b="0">
                          <a:solidFill>
                            <a:srgbClr val="1F2421"/>
                          </a:solidFill>
                          <a:latin typeface="Calibri"/>
                        </a:rPr>
                        <a:t>property_age</a:t>
                      </a:r>
                    </a:p>
                  </a:txBody>
                  <a:tcPr marL="91440" marR="91440" marT="18288" marB="18288" anchor="ctr">
                    <a:solidFill>
                      <a:srgbClr val="FFFFFF"/>
                    </a:solidFill>
                  </a:tcPr>
                </a:tc>
                <a:tc>
                  <a:txBody>
                    <a:bodyPr/>
                    <a:lstStyle/>
                    <a:p>
                      <a:pPr algn="ctr"/>
                      <a:r>
                        <a:rPr sz="1200" b="0">
                          <a:solidFill>
                            <a:srgbClr val="1F2421"/>
                          </a:solidFill>
                          <a:latin typeface="Calibri"/>
                        </a:rPr>
                        <a:t>Property age</a:t>
                      </a:r>
                    </a:p>
                  </a:txBody>
                  <a:tcPr marL="91440" marR="91440" marT="18288" marB="18288" anchor="ctr">
                    <a:solidFill>
                      <a:srgbClr val="FFFFFF"/>
                    </a:solidFill>
                  </a:tcPr>
                </a:tc>
                <a:tc>
                  <a:txBody>
                    <a:bodyPr/>
                    <a:lstStyle/>
                    <a:p>
                      <a:pPr algn="ctr"/>
                      <a:r>
                        <a:rPr sz="1200" b="0">
                          <a:solidFill>
                            <a:srgbClr val="1F2421"/>
                          </a:solidFill>
                          <a:latin typeface="Calibri"/>
                        </a:rPr>
                        <a:t>median impute + scale</a:t>
                      </a:r>
                    </a:p>
                  </a:txBody>
                  <a:tcPr marL="91440" marR="91440" marT="18288" marB="18288" anchor="ctr">
                    <a:solidFill>
                      <a:srgbClr val="FFFFFF"/>
                    </a:solidFill>
                  </a:tcPr>
                </a:tc>
              </a:tr>
              <a:tr h="365760">
                <a:tc>
                  <a:txBody>
                    <a:bodyPr/>
                    <a:lstStyle/>
                    <a:p>
                      <a:pPr algn="l"/>
                      <a:r>
                        <a:rPr sz="1200" b="0">
                          <a:solidFill>
                            <a:srgbClr val="1F2421"/>
                          </a:solidFill>
                          <a:latin typeface="Calibri"/>
                        </a:rPr>
                        <a:t>floors</a:t>
                      </a:r>
                    </a:p>
                  </a:txBody>
                  <a:tcPr marL="91440" marR="91440" marT="18288" marB="18288" anchor="ctr">
                    <a:solidFill>
                      <a:srgbClr val="E7EFEA"/>
                    </a:solidFill>
                  </a:tcPr>
                </a:tc>
                <a:tc>
                  <a:txBody>
                    <a:bodyPr/>
                    <a:lstStyle/>
                    <a:p>
                      <a:pPr algn="ctr"/>
                      <a:r>
                        <a:rPr sz="1200" b="0">
                          <a:solidFill>
                            <a:srgbClr val="1F2421"/>
                          </a:solidFill>
                          <a:latin typeface="Calibri"/>
                        </a:rPr>
                        <a:t>Storeys</a:t>
                      </a:r>
                    </a:p>
                  </a:txBody>
                  <a:tcPr marL="91440" marR="91440" marT="18288" marB="18288" anchor="ctr">
                    <a:solidFill>
                      <a:srgbClr val="E7EFEA"/>
                    </a:solidFill>
                  </a:tcPr>
                </a:tc>
                <a:tc>
                  <a:txBody>
                    <a:bodyPr/>
                    <a:lstStyle/>
                    <a:p>
                      <a:pPr algn="ctr"/>
                      <a:r>
                        <a:rPr sz="1200" b="0">
                          <a:solidFill>
                            <a:srgbClr val="1F2421"/>
                          </a:solidFill>
                          <a:latin typeface="Calibri"/>
                        </a:rPr>
                        <a:t>median impute + scale</a:t>
                      </a:r>
                    </a:p>
                  </a:txBody>
                  <a:tcPr marL="91440" marR="91440" marT="18288" marB="18288" anchor="ctr">
                    <a:solidFill>
                      <a:srgbClr val="E7EFEA"/>
                    </a:solidFill>
                  </a:tcPr>
                </a:tc>
              </a:tr>
            </a:tbl>
          </a:graphicData>
        </a:graphic>
      </p:graphicFrame>
      <p:sp>
        <p:nvSpPr>
          <p:cNvPr id="9" name="TextBox 8"/>
          <p:cNvSpPr txBox="1"/>
          <p:nvPr/>
        </p:nvSpPr>
        <p:spPr>
          <a:xfrm>
            <a:off x="6355080" y="2203704"/>
            <a:ext cx="5193792" cy="274320"/>
          </a:xfrm>
          <a:prstGeom prst="rect">
            <a:avLst/>
          </a:prstGeom>
          <a:noFill/>
        </p:spPr>
        <p:txBody>
          <a:bodyPr wrap="square" anchor="t" lIns="0" rIns="0" tIns="0" bIns="0">
            <a:spAutoFit/>
          </a:bodyPr>
          <a:lstStyle/>
          <a:p>
            <a:pPr algn="l">
              <a:lnSpc>
                <a:spcPct val="100000"/>
              </a:lnSpc>
            </a:pPr>
            <a:r>
              <a:rPr sz="1500" b="1">
                <a:solidFill>
                  <a:srgbClr val="2F6B4F"/>
                </a:solidFill>
                <a:latin typeface="Calibri"/>
              </a:rPr>
              <a:t>Categorical</a:t>
            </a:r>
          </a:p>
        </p:txBody>
      </p:sp>
      <p:graphicFrame>
        <p:nvGraphicFramePr>
          <p:cNvPr id="10" name="Table 9"/>
          <p:cNvGraphicFramePr>
            <a:graphicFrameLocks noGrp="1"/>
          </p:cNvGraphicFramePr>
          <p:nvPr/>
        </p:nvGraphicFramePr>
        <p:xfrm>
          <a:off x="6355080" y="2587752"/>
          <a:ext cx="5193792" cy="1517904"/>
        </p:xfrm>
        <a:graphic>
          <a:graphicData uri="http://schemas.openxmlformats.org/drawingml/2006/table">
            <a:tbl>
              <a:tblPr firstRow="1">
                <a:tableStyleId>{5C22544A-7EE6-4342-B048-85BDC9FD1C3A}</a:tableStyleId>
              </a:tblPr>
              <a:tblGrid>
                <a:gridCol w="1463040"/>
                <a:gridCol w="1600200"/>
                <a:gridCol w="2130552"/>
              </a:tblGrid>
              <a:tr h="420624">
                <a:tc>
                  <a:txBody>
                    <a:bodyPr/>
                    <a:lstStyle/>
                    <a:p>
                      <a:pPr algn="l"/>
                      <a:r>
                        <a:rPr sz="1200" b="1">
                          <a:solidFill>
                            <a:srgbClr val="FFFFFF"/>
                          </a:solidFill>
                          <a:latin typeface="Calibri"/>
                        </a:rPr>
                        <a:t>Feature</a:t>
                      </a:r>
                    </a:p>
                  </a:txBody>
                  <a:tcPr marL="91440" marR="91440" anchor="ctr">
                    <a:solidFill>
                      <a:srgbClr val="2F6B4F"/>
                    </a:solidFill>
                  </a:tcPr>
                </a:tc>
                <a:tc>
                  <a:txBody>
                    <a:bodyPr/>
                    <a:lstStyle/>
                    <a:p>
                      <a:pPr algn="ctr"/>
                      <a:r>
                        <a:rPr sz="1200" b="1">
                          <a:solidFill>
                            <a:srgbClr val="FFFFFF"/>
                          </a:solidFill>
                          <a:latin typeface="Calibri"/>
                        </a:rPr>
                        <a:t>Meaning</a:t>
                      </a:r>
                    </a:p>
                  </a:txBody>
                  <a:tcPr marL="91440" marR="91440" anchor="ctr">
                    <a:solidFill>
                      <a:srgbClr val="2F6B4F"/>
                    </a:solidFill>
                  </a:tcPr>
                </a:tc>
                <a:tc>
                  <a:txBody>
                    <a:bodyPr/>
                    <a:lstStyle/>
                    <a:p>
                      <a:pPr algn="ctr"/>
                      <a:r>
                        <a:rPr sz="1200" b="1">
                          <a:solidFill>
                            <a:srgbClr val="FFFFFF"/>
                          </a:solidFill>
                          <a:latin typeface="Calibri"/>
                        </a:rPr>
                        <a:t>Transform</a:t>
                      </a:r>
                    </a:p>
                  </a:txBody>
                  <a:tcPr marL="91440" marR="91440" anchor="ctr">
                    <a:solidFill>
                      <a:srgbClr val="2F6B4F"/>
                    </a:solidFill>
                  </a:tcPr>
                </a:tc>
              </a:tr>
              <a:tr h="365760">
                <a:tc>
                  <a:txBody>
                    <a:bodyPr/>
                    <a:lstStyle/>
                    <a:p>
                      <a:pPr algn="l"/>
                      <a:r>
                        <a:rPr sz="1200" b="0">
                          <a:solidFill>
                            <a:srgbClr val="1F2421"/>
                          </a:solidFill>
                          <a:latin typeface="Calibri"/>
                        </a:rPr>
                        <a:t>location</a:t>
                      </a:r>
                    </a:p>
                  </a:txBody>
                  <a:tcPr marL="91440" marR="91440" marT="18288" marB="18288" anchor="ctr">
                    <a:solidFill>
                      <a:srgbClr val="FFFFFF"/>
                    </a:solidFill>
                  </a:tcPr>
                </a:tc>
                <a:tc>
                  <a:txBody>
                    <a:bodyPr/>
                    <a:lstStyle/>
                    <a:p>
                      <a:pPr algn="ctr"/>
                      <a:r>
                        <a:rPr sz="1200" b="0">
                          <a:solidFill>
                            <a:srgbClr val="1F2421"/>
                          </a:solidFill>
                          <a:latin typeface="Calibri"/>
                        </a:rPr>
                        <a:t>Neighbourhood</a:t>
                      </a:r>
                    </a:p>
                  </a:txBody>
                  <a:tcPr marL="91440" marR="91440" marT="18288" marB="18288" anchor="ctr">
                    <a:solidFill>
                      <a:srgbClr val="FFFFFF"/>
                    </a:solidFill>
                  </a:tcPr>
                </a:tc>
                <a:tc>
                  <a:txBody>
                    <a:bodyPr/>
                    <a:lstStyle/>
                    <a:p>
                      <a:pPr algn="ctr"/>
                      <a:r>
                        <a:rPr sz="1200" b="0">
                          <a:solidFill>
                            <a:srgbClr val="1F2421"/>
                          </a:solidFill>
                          <a:latin typeface="Calibri"/>
                        </a:rPr>
                        <a:t>25 values, one-hot</a:t>
                      </a:r>
                    </a:p>
                  </a:txBody>
                  <a:tcPr marL="91440" marR="91440" marT="18288" marB="18288" anchor="ctr">
                    <a:solidFill>
                      <a:srgbClr val="FFFFFF"/>
                    </a:solidFill>
                  </a:tcPr>
                </a:tc>
              </a:tr>
              <a:tr h="365760">
                <a:tc>
                  <a:txBody>
                    <a:bodyPr/>
                    <a:lstStyle/>
                    <a:p>
                      <a:pPr algn="l"/>
                      <a:r>
                        <a:rPr sz="1200" b="0">
                          <a:solidFill>
                            <a:srgbClr val="1F2421"/>
                          </a:solidFill>
                          <a:latin typeface="Calibri"/>
                        </a:rPr>
                        <a:t>parking</a:t>
                      </a:r>
                    </a:p>
                  </a:txBody>
                  <a:tcPr marL="91440" marR="91440" marT="18288" marB="18288" anchor="ctr">
                    <a:solidFill>
                      <a:srgbClr val="E7EFEA"/>
                    </a:solidFill>
                  </a:tcPr>
                </a:tc>
                <a:tc>
                  <a:txBody>
                    <a:bodyPr/>
                    <a:lstStyle/>
                    <a:p>
                      <a:pPr algn="ctr"/>
                      <a:r>
                        <a:rPr sz="1200" b="0">
                          <a:solidFill>
                            <a:srgbClr val="1F2421"/>
                          </a:solidFill>
                          <a:latin typeface="Calibri"/>
                        </a:rPr>
                        <a:t>Garage</a:t>
                      </a:r>
                    </a:p>
                  </a:txBody>
                  <a:tcPr marL="91440" marR="91440" marT="18288" marB="18288" anchor="ctr">
                    <a:solidFill>
                      <a:srgbClr val="E7EFEA"/>
                    </a:solidFill>
                  </a:tcPr>
                </a:tc>
                <a:tc>
                  <a:txBody>
                    <a:bodyPr/>
                    <a:lstStyle/>
                    <a:p>
                      <a:pPr algn="ctr"/>
                      <a:r>
                        <a:rPr sz="1200" b="0">
                          <a:solidFill>
                            <a:srgbClr val="1F2421"/>
                          </a:solidFill>
                          <a:latin typeface="Calibri"/>
                        </a:rPr>
                        <a:t>4 values, one-hot</a:t>
                      </a:r>
                    </a:p>
                  </a:txBody>
                  <a:tcPr marL="91440" marR="91440" marT="18288" marB="18288" anchor="ctr">
                    <a:solidFill>
                      <a:srgbClr val="E7EFEA"/>
                    </a:solidFill>
                  </a:tcPr>
                </a:tc>
              </a:tr>
              <a:tr h="365760">
                <a:tc>
                  <a:txBody>
                    <a:bodyPr/>
                    <a:lstStyle/>
                    <a:p>
                      <a:pPr algn="l"/>
                      <a:r>
                        <a:rPr sz="1200" b="0">
                          <a:solidFill>
                            <a:srgbClr val="1F2421"/>
                          </a:solidFill>
                          <a:latin typeface="Calibri"/>
                        </a:rPr>
                        <a:t>property_type</a:t>
                      </a:r>
                    </a:p>
                  </a:txBody>
                  <a:tcPr marL="91440" marR="91440" marT="18288" marB="18288" anchor="ctr">
                    <a:solidFill>
                      <a:srgbClr val="FFFFFF"/>
                    </a:solidFill>
                  </a:tcPr>
                </a:tc>
                <a:tc>
                  <a:txBody>
                    <a:bodyPr/>
                    <a:lstStyle/>
                    <a:p>
                      <a:pPr algn="ctr"/>
                      <a:r>
                        <a:rPr sz="1200" b="0">
                          <a:solidFill>
                            <a:srgbClr val="1F2421"/>
                          </a:solidFill>
                          <a:latin typeface="Calibri"/>
                        </a:rPr>
                        <a:t>Building type</a:t>
                      </a:r>
                    </a:p>
                  </a:txBody>
                  <a:tcPr marL="91440" marR="91440" marT="18288" marB="18288" anchor="ctr">
                    <a:solidFill>
                      <a:srgbClr val="FFFFFF"/>
                    </a:solidFill>
                  </a:tcPr>
                </a:tc>
                <a:tc>
                  <a:txBody>
                    <a:bodyPr/>
                    <a:lstStyle/>
                    <a:p>
                      <a:pPr algn="ctr"/>
                      <a:r>
                        <a:rPr sz="1200" b="0">
                          <a:solidFill>
                            <a:srgbClr val="1F2421"/>
                          </a:solidFill>
                          <a:latin typeface="Calibri"/>
                        </a:rPr>
                        <a:t>5 values, one-hot</a:t>
                      </a:r>
                    </a:p>
                  </a:txBody>
                  <a:tcPr marL="91440" marR="91440" marT="18288" marB="18288" anchor="ctr">
                    <a:solidFill>
                      <a:srgbClr val="FFFFFF"/>
                    </a:solidFill>
                  </a:tcPr>
                </a:tc>
              </a:tr>
            </a:tbl>
          </a:graphicData>
        </a:graphic>
      </p:graphicFrame>
      <p:sp>
        <p:nvSpPr>
          <p:cNvPr id="11" name="Rounded Rectangle 10"/>
          <p:cNvSpPr/>
          <p:nvPr/>
        </p:nvSpPr>
        <p:spPr>
          <a:xfrm>
            <a:off x="731520" y="5129784"/>
            <a:ext cx="10728655" cy="1051560"/>
          </a:xfrm>
          <a:prstGeom prst="roundRect">
            <a:avLst>
              <a:gd name="adj" fmla="val 8000"/>
            </a:avLst>
          </a:prstGeom>
          <a:solidFill>
            <a:srgbClr val="E7EF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2" name="Rectangle 11"/>
          <p:cNvSpPr/>
          <p:nvPr/>
        </p:nvSpPr>
        <p:spPr>
          <a:xfrm>
            <a:off x="731520" y="5129784"/>
            <a:ext cx="54864" cy="1051560"/>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3" name="TextBox 12"/>
          <p:cNvSpPr txBox="1"/>
          <p:nvPr/>
        </p:nvSpPr>
        <p:spPr>
          <a:xfrm>
            <a:off x="1005840" y="5330952"/>
            <a:ext cx="10180015" cy="822960"/>
          </a:xfrm>
          <a:prstGeom prst="rect">
            <a:avLst/>
          </a:prstGeom>
          <a:noFill/>
        </p:spPr>
        <p:txBody>
          <a:bodyPr wrap="square" anchor="t" lIns="0" rIns="0" tIns="0" bIns="0">
            <a:spAutoFit/>
          </a:bodyPr>
          <a:lstStyle/>
          <a:p>
            <a:pPr algn="l">
              <a:lnSpc>
                <a:spcPct val="120000"/>
              </a:lnSpc>
            </a:pPr>
            <a:r>
              <a:rPr sz="1350" b="1">
                <a:solidFill>
                  <a:srgbClr val="1F2421"/>
                </a:solidFill>
                <a:latin typeface="Calibri"/>
              </a:rPr>
              <a:t>Why the transforms live inside the Pipeline</a:t>
            </a:r>
          </a:p>
          <a:p>
            <a:pPr algn="l">
              <a:lnSpc>
                <a:spcPct val="120000"/>
              </a:lnSpc>
              <a:spcBef>
                <a:spcPts val="300"/>
              </a:spcBef>
            </a:pPr>
            <a:r>
              <a:rPr sz="1200" b="0">
                <a:solidFill>
                  <a:srgbClr val="1F2421"/>
                </a:solidFill>
                <a:latin typeface="Calibri"/>
              </a:rPr>
              <a:t>Imputation, scaling and one-hot encoding are fitted on the training split and stored with the model, so inference applies exactly the same transforms. No train/serve skew, no leakage.</a:t>
            </a:r>
          </a:p>
        </p:txBody>
      </p:sp>
      <p:sp>
        <p:nvSpPr>
          <p:cNvPr id="14" name="TextBox 13"/>
          <p:cNvSpPr txBox="1"/>
          <p:nvPr/>
        </p:nvSpPr>
        <p:spPr>
          <a:xfrm>
            <a:off x="731520" y="6382512"/>
            <a:ext cx="8686800" cy="274320"/>
          </a:xfrm>
          <a:prstGeom prst="rect">
            <a:avLst/>
          </a:prstGeom>
          <a:noFill/>
        </p:spPr>
        <p:txBody>
          <a:bodyPr wrap="square" anchor="t" lIns="0" rIns="0" tIns="0" bIns="0">
            <a:spAutoFit/>
          </a:bodyPr>
          <a:lstStyle/>
          <a:p>
            <a:pPr algn="l">
              <a:lnSpc>
                <a:spcPct val="100000"/>
              </a:lnSpc>
            </a:pPr>
            <a:r>
              <a:rPr sz="950" b="0">
                <a:solidFill>
                  <a:srgbClr val="637268"/>
                </a:solidFill>
                <a:latin typeface="Calibri"/>
              </a:rPr>
              <a:t>HomeValue — House Price Prediction System</a:t>
            </a:r>
          </a:p>
        </p:txBody>
      </p:sp>
      <p:sp>
        <p:nvSpPr>
          <p:cNvPr id="15" name="TextBox 14"/>
          <p:cNvSpPr txBox="1"/>
          <p:nvPr/>
        </p:nvSpPr>
        <p:spPr>
          <a:xfrm>
            <a:off x="10545775" y="6382512"/>
            <a:ext cx="914400" cy="274320"/>
          </a:xfrm>
          <a:prstGeom prst="rect">
            <a:avLst/>
          </a:prstGeom>
          <a:noFill/>
        </p:spPr>
        <p:txBody>
          <a:bodyPr wrap="square" anchor="t" lIns="0" rIns="0" tIns="0" bIns="0">
            <a:spAutoFit/>
          </a:bodyPr>
          <a:lstStyle/>
          <a:p>
            <a:pPr algn="r">
              <a:lnSpc>
                <a:spcPct val="100000"/>
              </a:lnSpc>
            </a:pPr>
            <a:r>
              <a:rPr sz="950" b="1">
                <a:solidFill>
                  <a:srgbClr val="2F6B4F"/>
                </a:solidFill>
                <a:latin typeface="Calibr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 name="TextBox 2"/>
          <p:cNvSpPr txBox="1"/>
          <p:nvPr/>
        </p:nvSpPr>
        <p:spPr>
          <a:xfrm>
            <a:off x="731520" y="502920"/>
            <a:ext cx="10728655" cy="274320"/>
          </a:xfrm>
          <a:prstGeom prst="rect">
            <a:avLst/>
          </a:prstGeom>
          <a:noFill/>
        </p:spPr>
        <p:txBody>
          <a:bodyPr wrap="square" anchor="t" lIns="0" rIns="0" tIns="0" bIns="0">
            <a:spAutoFit/>
          </a:bodyPr>
          <a:lstStyle/>
          <a:p>
            <a:pPr algn="l">
              <a:lnSpc>
                <a:spcPct val="100000"/>
              </a:lnSpc>
            </a:pPr>
            <a:r>
              <a:rPr sz="1100" b="1">
                <a:solidFill>
                  <a:srgbClr val="2F6B4F"/>
                </a:solidFill>
                <a:latin typeface="Calibri"/>
              </a:rPr>
              <a:t>BASELINE</a:t>
            </a:r>
          </a:p>
        </p:txBody>
      </p:sp>
      <p:sp>
        <p:nvSpPr>
          <p:cNvPr id="4" name="TextBox 3"/>
          <p:cNvSpPr txBox="1"/>
          <p:nvPr/>
        </p:nvSpPr>
        <p:spPr>
          <a:xfrm>
            <a:off x="731520" y="813816"/>
            <a:ext cx="10728655" cy="566928"/>
          </a:xfrm>
          <a:prstGeom prst="rect">
            <a:avLst/>
          </a:prstGeom>
          <a:noFill/>
        </p:spPr>
        <p:txBody>
          <a:bodyPr wrap="square" anchor="t" lIns="0" rIns="0" tIns="0" bIns="0">
            <a:spAutoFit/>
          </a:bodyPr>
          <a:lstStyle/>
          <a:p>
            <a:pPr algn="l">
              <a:lnSpc>
                <a:spcPct val="100000"/>
              </a:lnSpc>
            </a:pPr>
            <a:r>
              <a:rPr sz="3000" b="1">
                <a:solidFill>
                  <a:srgbClr val="1F2421"/>
                </a:solidFill>
                <a:latin typeface="Calibri"/>
              </a:rPr>
              <a:t>Model 1 — Linear Regression</a:t>
            </a:r>
          </a:p>
        </p:txBody>
      </p:sp>
      <p:sp>
        <p:nvSpPr>
          <p:cNvPr id="5" name="TextBox 4"/>
          <p:cNvSpPr txBox="1"/>
          <p:nvPr/>
        </p:nvSpPr>
        <p:spPr>
          <a:xfrm>
            <a:off x="731520" y="1417320"/>
            <a:ext cx="10728655" cy="365760"/>
          </a:xfrm>
          <a:prstGeom prst="rect">
            <a:avLst/>
          </a:prstGeom>
          <a:noFill/>
        </p:spPr>
        <p:txBody>
          <a:bodyPr wrap="square" anchor="t" lIns="0" rIns="0" tIns="0" bIns="0">
            <a:spAutoFit/>
          </a:bodyPr>
          <a:lstStyle/>
          <a:p>
            <a:pPr algn="l">
              <a:lnSpc>
                <a:spcPct val="100000"/>
              </a:lnSpc>
            </a:pPr>
            <a:r>
              <a:rPr sz="1400" b="0">
                <a:solidFill>
                  <a:srgbClr val="637268"/>
                </a:solidFill>
                <a:latin typeface="Calibri"/>
              </a:rPr>
              <a:t>A deliberately simple reference point. Every project needs one.</a:t>
            </a:r>
          </a:p>
        </p:txBody>
      </p:sp>
      <p:sp>
        <p:nvSpPr>
          <p:cNvPr id="6" name="Rectangle 5"/>
          <p:cNvSpPr/>
          <p:nvPr/>
        </p:nvSpPr>
        <p:spPr>
          <a:xfrm>
            <a:off x="731520" y="1874520"/>
            <a:ext cx="10728655" cy="9525"/>
          </a:xfrm>
          <a:prstGeom prst="rect">
            <a:avLst/>
          </a:prstGeom>
          <a:solidFill>
            <a:srgbClr val="DCE3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graphicFrame>
        <p:nvGraphicFramePr>
          <p:cNvPr id="7" name="Table 6"/>
          <p:cNvGraphicFramePr>
            <a:graphicFrameLocks noGrp="1"/>
          </p:cNvGraphicFramePr>
          <p:nvPr/>
        </p:nvGraphicFramePr>
        <p:xfrm>
          <a:off x="731520" y="2203704"/>
          <a:ext cx="5852160" cy="2249424"/>
        </p:xfrm>
        <a:graphic>
          <a:graphicData uri="http://schemas.openxmlformats.org/drawingml/2006/table">
            <a:tbl>
              <a:tblPr firstRow="1">
                <a:tableStyleId>{5C22544A-7EE6-4342-B048-85BDC9FD1C3A}</a:tableStyleId>
              </a:tblPr>
              <a:tblGrid>
                <a:gridCol w="2377440"/>
                <a:gridCol w="1737360"/>
                <a:gridCol w="1737360"/>
              </a:tblGrid>
              <a:tr h="420624">
                <a:tc>
                  <a:txBody>
                    <a:bodyPr/>
                    <a:lstStyle/>
                    <a:p>
                      <a:pPr algn="l"/>
                      <a:r>
                        <a:rPr sz="1200" b="1">
                          <a:solidFill>
                            <a:srgbClr val="FFFFFF"/>
                          </a:solidFill>
                          <a:latin typeface="Calibri"/>
                        </a:rPr>
                        <a:t>Metric</a:t>
                      </a:r>
                    </a:p>
                  </a:txBody>
                  <a:tcPr marL="91440" marR="91440" anchor="ctr">
                    <a:solidFill>
                      <a:srgbClr val="2F6B4F"/>
                    </a:solidFill>
                  </a:tcPr>
                </a:tc>
                <a:tc>
                  <a:txBody>
                    <a:bodyPr/>
                    <a:lstStyle/>
                    <a:p>
                      <a:pPr algn="ctr"/>
                      <a:r>
                        <a:rPr sz="1200" b="1">
                          <a:solidFill>
                            <a:srgbClr val="FFFFFF"/>
                          </a:solidFill>
                          <a:latin typeface="Calibri"/>
                        </a:rPr>
                        <a:t>Train</a:t>
                      </a:r>
                    </a:p>
                  </a:txBody>
                  <a:tcPr marL="91440" marR="91440" anchor="ctr">
                    <a:solidFill>
                      <a:srgbClr val="2F6B4F"/>
                    </a:solidFill>
                  </a:tcPr>
                </a:tc>
                <a:tc>
                  <a:txBody>
                    <a:bodyPr/>
                    <a:lstStyle/>
                    <a:p>
                      <a:pPr algn="ctr"/>
                      <a:r>
                        <a:rPr sz="1200" b="1">
                          <a:solidFill>
                            <a:srgbClr val="FFFFFF"/>
                          </a:solidFill>
                          <a:latin typeface="Calibri"/>
                        </a:rPr>
                        <a:t>Held-out test</a:t>
                      </a:r>
                    </a:p>
                  </a:txBody>
                  <a:tcPr marL="91440" marR="91440" anchor="ctr">
                    <a:solidFill>
                      <a:srgbClr val="2F6B4F"/>
                    </a:solidFill>
                  </a:tcPr>
                </a:tc>
              </a:tr>
              <a:tr h="457200">
                <a:tc>
                  <a:txBody>
                    <a:bodyPr/>
                    <a:lstStyle/>
                    <a:p>
                      <a:pPr algn="l"/>
                      <a:r>
                        <a:rPr sz="1350" b="0">
                          <a:solidFill>
                            <a:srgbClr val="1F2421"/>
                          </a:solidFill>
                          <a:latin typeface="Calibri"/>
                        </a:rPr>
                        <a:t>MAE</a:t>
                      </a:r>
                    </a:p>
                  </a:txBody>
                  <a:tcPr marL="91440" marR="91440" marT="18288" marB="18288" anchor="ctr">
                    <a:solidFill>
                      <a:srgbClr val="FFFFFF"/>
                    </a:solidFill>
                  </a:tcPr>
                </a:tc>
                <a:tc>
                  <a:txBody>
                    <a:bodyPr/>
                    <a:lstStyle/>
                    <a:p>
                      <a:pPr algn="ctr"/>
                      <a:r>
                        <a:rPr sz="1350" b="0">
                          <a:solidFill>
                            <a:srgbClr val="1F2421"/>
                          </a:solidFill>
                          <a:latin typeface="Calibri"/>
                        </a:rPr>
                        <a:t>$21,103.68</a:t>
                      </a:r>
                    </a:p>
                  </a:txBody>
                  <a:tcPr marL="91440" marR="91440" marT="18288" marB="18288" anchor="ctr">
                    <a:solidFill>
                      <a:srgbClr val="FFFFFF"/>
                    </a:solidFill>
                  </a:tcPr>
                </a:tc>
                <a:tc>
                  <a:txBody>
                    <a:bodyPr/>
                    <a:lstStyle/>
                    <a:p>
                      <a:pPr algn="ctr"/>
                      <a:r>
                        <a:rPr sz="1350" b="1">
                          <a:solidFill>
                            <a:srgbClr val="1F2421"/>
                          </a:solidFill>
                          <a:latin typeface="Calibri"/>
                        </a:rPr>
                        <a:t>$21,974.48</a:t>
                      </a:r>
                    </a:p>
                  </a:txBody>
                  <a:tcPr marL="91440" marR="91440" marT="18288" marB="18288" anchor="ctr">
                    <a:solidFill>
                      <a:srgbClr val="FFFFFF"/>
                    </a:solidFill>
                  </a:tcPr>
                </a:tc>
              </a:tr>
              <a:tr h="457200">
                <a:tc>
                  <a:txBody>
                    <a:bodyPr/>
                    <a:lstStyle/>
                    <a:p>
                      <a:pPr algn="l"/>
                      <a:r>
                        <a:rPr sz="1350" b="0">
                          <a:solidFill>
                            <a:srgbClr val="1F2421"/>
                          </a:solidFill>
                          <a:latin typeface="Calibri"/>
                        </a:rPr>
                        <a:t>RMSE</a:t>
                      </a:r>
                    </a:p>
                  </a:txBody>
                  <a:tcPr marL="91440" marR="91440" marT="18288" marB="18288" anchor="ctr">
                    <a:solidFill>
                      <a:srgbClr val="E7EFEA"/>
                    </a:solidFill>
                  </a:tcPr>
                </a:tc>
                <a:tc>
                  <a:txBody>
                    <a:bodyPr/>
                    <a:lstStyle/>
                    <a:p>
                      <a:pPr algn="ctr"/>
                      <a:r>
                        <a:rPr sz="1350" b="0">
                          <a:solidFill>
                            <a:srgbClr val="1F2421"/>
                          </a:solidFill>
                          <a:latin typeface="Calibri"/>
                        </a:rPr>
                        <a:t>$30,609.74</a:t>
                      </a:r>
                    </a:p>
                  </a:txBody>
                  <a:tcPr marL="91440" marR="91440" marT="18288" marB="18288" anchor="ctr">
                    <a:solidFill>
                      <a:srgbClr val="E7EFEA"/>
                    </a:solidFill>
                  </a:tcPr>
                </a:tc>
                <a:tc>
                  <a:txBody>
                    <a:bodyPr/>
                    <a:lstStyle/>
                    <a:p>
                      <a:pPr algn="ctr"/>
                      <a:r>
                        <a:rPr sz="1350" b="1">
                          <a:solidFill>
                            <a:srgbClr val="1F2421"/>
                          </a:solidFill>
                          <a:latin typeface="Calibri"/>
                        </a:rPr>
                        <a:t>$30,378.88</a:t>
                      </a:r>
                    </a:p>
                  </a:txBody>
                  <a:tcPr marL="91440" marR="91440" marT="18288" marB="18288" anchor="ctr">
                    <a:solidFill>
                      <a:srgbClr val="E7EFEA"/>
                    </a:solidFill>
                  </a:tcPr>
                </a:tc>
              </a:tr>
              <a:tr h="457200">
                <a:tc>
                  <a:txBody>
                    <a:bodyPr/>
                    <a:lstStyle/>
                    <a:p>
                      <a:pPr algn="l"/>
                      <a:r>
                        <a:rPr sz="1350" b="0">
                          <a:solidFill>
                            <a:srgbClr val="1F2421"/>
                          </a:solidFill>
                          <a:latin typeface="Calibri"/>
                        </a:rPr>
                        <a:t>R²</a:t>
                      </a:r>
                    </a:p>
                  </a:txBody>
                  <a:tcPr marL="91440" marR="91440" marT="18288" marB="18288" anchor="ctr">
                    <a:solidFill>
                      <a:srgbClr val="FFFFFF"/>
                    </a:solidFill>
                  </a:tcPr>
                </a:tc>
                <a:tc>
                  <a:txBody>
                    <a:bodyPr/>
                    <a:lstStyle/>
                    <a:p>
                      <a:pPr algn="ctr"/>
                      <a:r>
                        <a:rPr sz="1350" b="0">
                          <a:solidFill>
                            <a:srgbClr val="1F2421"/>
                          </a:solidFill>
                          <a:latin typeface="Calibri"/>
                        </a:rPr>
                        <a:t>0.8561</a:t>
                      </a:r>
                    </a:p>
                  </a:txBody>
                  <a:tcPr marL="91440" marR="91440" marT="18288" marB="18288" anchor="ctr">
                    <a:solidFill>
                      <a:srgbClr val="FFFFFF"/>
                    </a:solidFill>
                  </a:tcPr>
                </a:tc>
                <a:tc>
                  <a:txBody>
                    <a:bodyPr/>
                    <a:lstStyle/>
                    <a:p>
                      <a:pPr algn="ctr"/>
                      <a:r>
                        <a:rPr sz="1350" b="1">
                          <a:solidFill>
                            <a:srgbClr val="1F2421"/>
                          </a:solidFill>
                          <a:latin typeface="Calibri"/>
                        </a:rPr>
                        <a:t>0.8329</a:t>
                      </a:r>
                    </a:p>
                  </a:txBody>
                  <a:tcPr marL="91440" marR="91440" marT="18288" marB="18288" anchor="ctr">
                    <a:solidFill>
                      <a:srgbClr val="FFFFFF"/>
                    </a:solidFill>
                  </a:tcPr>
                </a:tc>
              </a:tr>
              <a:tr h="457200">
                <a:tc>
                  <a:txBody>
                    <a:bodyPr/>
                    <a:lstStyle/>
                    <a:p>
                      <a:pPr algn="l"/>
                      <a:r>
                        <a:rPr sz="1350" b="0">
                          <a:solidFill>
                            <a:srgbClr val="1F2421"/>
                          </a:solidFill>
                          <a:latin typeface="Calibri"/>
                        </a:rPr>
                        <a:t>MAPE</a:t>
                      </a:r>
                    </a:p>
                  </a:txBody>
                  <a:tcPr marL="91440" marR="91440" marT="18288" marB="18288" anchor="ctr">
                    <a:solidFill>
                      <a:srgbClr val="E7EFEA"/>
                    </a:solidFill>
                  </a:tcPr>
                </a:tc>
                <a:tc>
                  <a:txBody>
                    <a:bodyPr/>
                    <a:lstStyle/>
                    <a:p>
                      <a:pPr algn="ctr"/>
                      <a:r>
                        <a:rPr sz="1350" b="0">
                          <a:solidFill>
                            <a:srgbClr val="1F2421"/>
                          </a:solidFill>
                          <a:latin typeface="Calibri"/>
                        </a:rPr>
                        <a:t>12.68%</a:t>
                      </a:r>
                    </a:p>
                  </a:txBody>
                  <a:tcPr marL="91440" marR="91440" marT="18288" marB="18288" anchor="ctr">
                    <a:solidFill>
                      <a:srgbClr val="E7EFEA"/>
                    </a:solidFill>
                  </a:tcPr>
                </a:tc>
                <a:tc>
                  <a:txBody>
                    <a:bodyPr/>
                    <a:lstStyle/>
                    <a:p>
                      <a:pPr algn="ctr"/>
                      <a:r>
                        <a:rPr sz="1350" b="1">
                          <a:solidFill>
                            <a:srgbClr val="1F2421"/>
                          </a:solidFill>
                          <a:latin typeface="Calibri"/>
                        </a:rPr>
                        <a:t>13.87%</a:t>
                      </a:r>
                    </a:p>
                  </a:txBody>
                  <a:tcPr marL="91440" marR="91440" marT="18288" marB="18288" anchor="ctr">
                    <a:solidFill>
                      <a:srgbClr val="E7EFEA"/>
                    </a:solidFill>
                  </a:tcPr>
                </a:tc>
              </a:tr>
            </a:tbl>
          </a:graphicData>
        </a:graphic>
      </p:graphicFrame>
      <p:sp>
        <p:nvSpPr>
          <p:cNvPr id="8" name="TextBox 7"/>
          <p:cNvSpPr txBox="1"/>
          <p:nvPr/>
        </p:nvSpPr>
        <p:spPr>
          <a:xfrm>
            <a:off x="6675120" y="2295144"/>
            <a:ext cx="4873752" cy="2743200"/>
          </a:xfrm>
          <a:prstGeom prst="rect">
            <a:avLst/>
          </a:prstGeom>
          <a:noFill/>
        </p:spPr>
        <p:txBody>
          <a:bodyPr wrap="square" lIns="0" rIns="0" tIns="0" bIns="0">
            <a:spAutoFit/>
          </a:bodyPr>
          <a:lstStyle/>
          <a:p>
            <a:pPr>
              <a:lnSpc>
                <a:spcPct val="118000"/>
              </a:lnSpc>
            </a:pPr>
            <a:r>
              <a:rPr sz="1300">
                <a:solidFill>
                  <a:srgbClr val="1F2421"/>
                </a:solidFill>
                <a:latin typeface="Calibri"/>
              </a:rPr>
              <a:t>•  Strengths: fast, fully interpretable, coefficients read directly as dollar effects.</a:t>
            </a:r>
          </a:p>
          <a:p>
            <a:pPr>
              <a:lnSpc>
                <a:spcPct val="118000"/>
              </a:lnSpc>
              <a:spcBef>
                <a:spcPts val="1200"/>
              </a:spcBef>
            </a:pPr>
            <a:r>
              <a:rPr sz="1300">
                <a:solidFill>
                  <a:srgbClr val="1F2421"/>
                </a:solidFill>
                <a:latin typeface="Calibri"/>
              </a:rPr>
              <a:t>•  Weakness: assumes each feature adds a fixed amount, so it cannot capture that an extra bathroom matters more in a large house than a small one.</a:t>
            </a:r>
          </a:p>
          <a:p>
            <a:pPr>
              <a:lnSpc>
                <a:spcPct val="118000"/>
              </a:lnSpc>
              <a:spcBef>
                <a:spcPts val="1200"/>
              </a:spcBef>
            </a:pPr>
            <a:r>
              <a:rPr sz="1300">
                <a:solidFill>
                  <a:srgbClr val="1F2421"/>
                </a:solidFill>
                <a:latin typeface="Calibri"/>
              </a:rPr>
              <a:t>•  Held-out R² of 0.8329 — already respectable, which is exactly why it is a fair baseline rather than a straw man.</a:t>
            </a:r>
          </a:p>
        </p:txBody>
      </p:sp>
      <p:sp>
        <p:nvSpPr>
          <p:cNvPr id="9" name="TextBox 8"/>
          <p:cNvSpPr txBox="1"/>
          <p:nvPr/>
        </p:nvSpPr>
        <p:spPr>
          <a:xfrm>
            <a:off x="731520" y="6382512"/>
            <a:ext cx="8686800" cy="274320"/>
          </a:xfrm>
          <a:prstGeom prst="rect">
            <a:avLst/>
          </a:prstGeom>
          <a:noFill/>
        </p:spPr>
        <p:txBody>
          <a:bodyPr wrap="square" anchor="t" lIns="0" rIns="0" tIns="0" bIns="0">
            <a:spAutoFit/>
          </a:bodyPr>
          <a:lstStyle/>
          <a:p>
            <a:pPr algn="l">
              <a:lnSpc>
                <a:spcPct val="100000"/>
              </a:lnSpc>
            </a:pPr>
            <a:r>
              <a:rPr sz="950" b="0">
                <a:solidFill>
                  <a:srgbClr val="637268"/>
                </a:solidFill>
                <a:latin typeface="Calibri"/>
              </a:rPr>
              <a:t>HomeValue — House Price Prediction System</a:t>
            </a:r>
          </a:p>
        </p:txBody>
      </p:sp>
      <p:sp>
        <p:nvSpPr>
          <p:cNvPr id="10" name="TextBox 9"/>
          <p:cNvSpPr txBox="1"/>
          <p:nvPr/>
        </p:nvSpPr>
        <p:spPr>
          <a:xfrm>
            <a:off x="10545775" y="6382512"/>
            <a:ext cx="914400" cy="274320"/>
          </a:xfrm>
          <a:prstGeom prst="rect">
            <a:avLst/>
          </a:prstGeom>
          <a:noFill/>
        </p:spPr>
        <p:txBody>
          <a:bodyPr wrap="square" anchor="t" lIns="0" rIns="0" tIns="0" bIns="0">
            <a:spAutoFit/>
          </a:bodyPr>
          <a:lstStyle/>
          <a:p>
            <a:pPr algn="r">
              <a:lnSpc>
                <a:spcPct val="100000"/>
              </a:lnSpc>
            </a:pPr>
            <a:r>
              <a:rPr sz="950" b="1">
                <a:solidFill>
                  <a:srgbClr val="2F6B4F"/>
                </a:solidFill>
                <a:latin typeface="Calibr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 name="TextBox 2"/>
          <p:cNvSpPr txBox="1"/>
          <p:nvPr/>
        </p:nvSpPr>
        <p:spPr>
          <a:xfrm>
            <a:off x="731520" y="502920"/>
            <a:ext cx="10728655" cy="274320"/>
          </a:xfrm>
          <a:prstGeom prst="rect">
            <a:avLst/>
          </a:prstGeom>
          <a:noFill/>
        </p:spPr>
        <p:txBody>
          <a:bodyPr wrap="square" anchor="t" lIns="0" rIns="0" tIns="0" bIns="0">
            <a:spAutoFit/>
          </a:bodyPr>
          <a:lstStyle/>
          <a:p>
            <a:pPr algn="l">
              <a:lnSpc>
                <a:spcPct val="100000"/>
              </a:lnSpc>
            </a:pPr>
            <a:r>
              <a:rPr sz="1100" b="1">
                <a:solidFill>
                  <a:srgbClr val="2F6B4F"/>
                </a:solidFill>
                <a:latin typeface="Calibri"/>
              </a:rPr>
              <a:t>SELECTED MODEL</a:t>
            </a:r>
          </a:p>
        </p:txBody>
      </p:sp>
      <p:sp>
        <p:nvSpPr>
          <p:cNvPr id="4" name="TextBox 3"/>
          <p:cNvSpPr txBox="1"/>
          <p:nvPr/>
        </p:nvSpPr>
        <p:spPr>
          <a:xfrm>
            <a:off x="731520" y="813816"/>
            <a:ext cx="10728655" cy="566928"/>
          </a:xfrm>
          <a:prstGeom prst="rect">
            <a:avLst/>
          </a:prstGeom>
          <a:noFill/>
        </p:spPr>
        <p:txBody>
          <a:bodyPr wrap="square" anchor="t" lIns="0" rIns="0" tIns="0" bIns="0">
            <a:spAutoFit/>
          </a:bodyPr>
          <a:lstStyle/>
          <a:p>
            <a:pPr algn="l">
              <a:lnSpc>
                <a:spcPct val="100000"/>
              </a:lnSpc>
            </a:pPr>
            <a:r>
              <a:rPr sz="3000" b="1">
                <a:solidFill>
                  <a:srgbClr val="1F2421"/>
                </a:solidFill>
                <a:latin typeface="Calibri"/>
              </a:rPr>
              <a:t>Model 2 — Random Forest</a:t>
            </a:r>
          </a:p>
        </p:txBody>
      </p:sp>
      <p:sp>
        <p:nvSpPr>
          <p:cNvPr id="5" name="TextBox 4"/>
          <p:cNvSpPr txBox="1"/>
          <p:nvPr/>
        </p:nvSpPr>
        <p:spPr>
          <a:xfrm>
            <a:off x="731520" y="1417320"/>
            <a:ext cx="10728655" cy="365760"/>
          </a:xfrm>
          <a:prstGeom prst="rect">
            <a:avLst/>
          </a:prstGeom>
          <a:noFill/>
        </p:spPr>
        <p:txBody>
          <a:bodyPr wrap="square" anchor="t" lIns="0" rIns="0" tIns="0" bIns="0">
            <a:spAutoFit/>
          </a:bodyPr>
          <a:lstStyle/>
          <a:p>
            <a:pPr algn="l">
              <a:lnSpc>
                <a:spcPct val="100000"/>
              </a:lnSpc>
            </a:pPr>
            <a:r>
              <a:rPr sz="1400" b="0">
                <a:solidFill>
                  <a:srgbClr val="637268"/>
                </a:solidFill>
                <a:latin typeface="Calibri"/>
              </a:rPr>
              <a:t>An ensemble of decision trees, averaged to reduce variance.</a:t>
            </a:r>
          </a:p>
        </p:txBody>
      </p:sp>
      <p:sp>
        <p:nvSpPr>
          <p:cNvPr id="6" name="Rectangle 5"/>
          <p:cNvSpPr/>
          <p:nvPr/>
        </p:nvSpPr>
        <p:spPr>
          <a:xfrm>
            <a:off x="731520" y="1874520"/>
            <a:ext cx="10728655" cy="9525"/>
          </a:xfrm>
          <a:prstGeom prst="rect">
            <a:avLst/>
          </a:prstGeom>
          <a:solidFill>
            <a:srgbClr val="DCE3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graphicFrame>
        <p:nvGraphicFramePr>
          <p:cNvPr id="7" name="Table 6"/>
          <p:cNvGraphicFramePr>
            <a:graphicFrameLocks noGrp="1"/>
          </p:cNvGraphicFramePr>
          <p:nvPr/>
        </p:nvGraphicFramePr>
        <p:xfrm>
          <a:off x="731520" y="2203704"/>
          <a:ext cx="5852160" cy="2249424"/>
        </p:xfrm>
        <a:graphic>
          <a:graphicData uri="http://schemas.openxmlformats.org/drawingml/2006/table">
            <a:tbl>
              <a:tblPr firstRow="1">
                <a:tableStyleId>{5C22544A-7EE6-4342-B048-85BDC9FD1C3A}</a:tableStyleId>
              </a:tblPr>
              <a:tblGrid>
                <a:gridCol w="2377440"/>
                <a:gridCol w="1737360"/>
                <a:gridCol w="1737360"/>
              </a:tblGrid>
              <a:tr h="420624">
                <a:tc>
                  <a:txBody>
                    <a:bodyPr/>
                    <a:lstStyle/>
                    <a:p>
                      <a:pPr algn="l"/>
                      <a:r>
                        <a:rPr sz="1200" b="1">
                          <a:solidFill>
                            <a:srgbClr val="FFFFFF"/>
                          </a:solidFill>
                          <a:latin typeface="Calibri"/>
                        </a:rPr>
                        <a:t>Metric</a:t>
                      </a:r>
                    </a:p>
                  </a:txBody>
                  <a:tcPr marL="91440" marR="91440" anchor="ctr">
                    <a:solidFill>
                      <a:srgbClr val="2F6B4F"/>
                    </a:solidFill>
                  </a:tcPr>
                </a:tc>
                <a:tc>
                  <a:txBody>
                    <a:bodyPr/>
                    <a:lstStyle/>
                    <a:p>
                      <a:pPr algn="ctr"/>
                      <a:r>
                        <a:rPr sz="1200" b="1">
                          <a:solidFill>
                            <a:srgbClr val="FFFFFF"/>
                          </a:solidFill>
                          <a:latin typeface="Calibri"/>
                        </a:rPr>
                        <a:t>Train</a:t>
                      </a:r>
                    </a:p>
                  </a:txBody>
                  <a:tcPr marL="91440" marR="91440" anchor="ctr">
                    <a:solidFill>
                      <a:srgbClr val="2F6B4F"/>
                    </a:solidFill>
                  </a:tcPr>
                </a:tc>
                <a:tc>
                  <a:txBody>
                    <a:bodyPr/>
                    <a:lstStyle/>
                    <a:p>
                      <a:pPr algn="ctr"/>
                      <a:r>
                        <a:rPr sz="1200" b="1">
                          <a:solidFill>
                            <a:srgbClr val="FFFFFF"/>
                          </a:solidFill>
                          <a:latin typeface="Calibri"/>
                        </a:rPr>
                        <a:t>Held-out test</a:t>
                      </a:r>
                    </a:p>
                  </a:txBody>
                  <a:tcPr marL="91440" marR="91440" anchor="ctr">
                    <a:solidFill>
                      <a:srgbClr val="2F6B4F"/>
                    </a:solidFill>
                  </a:tcPr>
                </a:tc>
              </a:tr>
              <a:tr h="457200">
                <a:tc>
                  <a:txBody>
                    <a:bodyPr/>
                    <a:lstStyle/>
                    <a:p>
                      <a:pPr algn="l"/>
                      <a:r>
                        <a:rPr sz="1350" b="0">
                          <a:solidFill>
                            <a:srgbClr val="1F2421"/>
                          </a:solidFill>
                          <a:latin typeface="Calibri"/>
                        </a:rPr>
                        <a:t>MAE</a:t>
                      </a:r>
                    </a:p>
                  </a:txBody>
                  <a:tcPr marL="91440" marR="91440" marT="18288" marB="18288" anchor="ctr">
                    <a:solidFill>
                      <a:srgbClr val="FFFFFF"/>
                    </a:solidFill>
                  </a:tcPr>
                </a:tc>
                <a:tc>
                  <a:txBody>
                    <a:bodyPr/>
                    <a:lstStyle/>
                    <a:p>
                      <a:pPr algn="ctr"/>
                      <a:r>
                        <a:rPr sz="1350" b="0">
                          <a:solidFill>
                            <a:srgbClr val="1F2421"/>
                          </a:solidFill>
                          <a:latin typeface="Calibri"/>
                        </a:rPr>
                        <a:t>$8,324.85</a:t>
                      </a:r>
                    </a:p>
                  </a:txBody>
                  <a:tcPr marL="91440" marR="91440" marT="18288" marB="18288" anchor="ctr">
                    <a:solidFill>
                      <a:srgbClr val="FFFFFF"/>
                    </a:solidFill>
                  </a:tcPr>
                </a:tc>
                <a:tc>
                  <a:txBody>
                    <a:bodyPr/>
                    <a:lstStyle/>
                    <a:p>
                      <a:pPr algn="ctr"/>
                      <a:r>
                        <a:rPr sz="1350" b="1">
                          <a:solidFill>
                            <a:srgbClr val="1F2421"/>
                          </a:solidFill>
                          <a:latin typeface="Calibri"/>
                        </a:rPr>
                        <a:t>$19,039.07</a:t>
                      </a:r>
                    </a:p>
                  </a:txBody>
                  <a:tcPr marL="91440" marR="91440" marT="18288" marB="18288" anchor="ctr">
                    <a:solidFill>
                      <a:srgbClr val="FFFFFF"/>
                    </a:solidFill>
                  </a:tcPr>
                </a:tc>
              </a:tr>
              <a:tr h="457200">
                <a:tc>
                  <a:txBody>
                    <a:bodyPr/>
                    <a:lstStyle/>
                    <a:p>
                      <a:pPr algn="l"/>
                      <a:r>
                        <a:rPr sz="1350" b="0">
                          <a:solidFill>
                            <a:srgbClr val="1F2421"/>
                          </a:solidFill>
                          <a:latin typeface="Calibri"/>
                        </a:rPr>
                        <a:t>RMSE</a:t>
                      </a:r>
                    </a:p>
                  </a:txBody>
                  <a:tcPr marL="91440" marR="91440" marT="18288" marB="18288" anchor="ctr">
                    <a:solidFill>
                      <a:srgbClr val="E7EFEA"/>
                    </a:solidFill>
                  </a:tcPr>
                </a:tc>
                <a:tc>
                  <a:txBody>
                    <a:bodyPr/>
                    <a:lstStyle/>
                    <a:p>
                      <a:pPr algn="ctr"/>
                      <a:r>
                        <a:rPr sz="1350" b="0">
                          <a:solidFill>
                            <a:srgbClr val="1F2421"/>
                          </a:solidFill>
                          <a:latin typeface="Calibri"/>
                        </a:rPr>
                        <a:t>$12,949.28</a:t>
                      </a:r>
                    </a:p>
                  </a:txBody>
                  <a:tcPr marL="91440" marR="91440" marT="18288" marB="18288" anchor="ctr">
                    <a:solidFill>
                      <a:srgbClr val="E7EFEA"/>
                    </a:solidFill>
                  </a:tcPr>
                </a:tc>
                <a:tc>
                  <a:txBody>
                    <a:bodyPr/>
                    <a:lstStyle/>
                    <a:p>
                      <a:pPr algn="ctr"/>
                      <a:r>
                        <a:rPr sz="1350" b="1">
                          <a:solidFill>
                            <a:srgbClr val="1F2421"/>
                          </a:solidFill>
                          <a:latin typeface="Calibri"/>
                        </a:rPr>
                        <a:t>$27,040.66</a:t>
                      </a:r>
                    </a:p>
                  </a:txBody>
                  <a:tcPr marL="91440" marR="91440" marT="18288" marB="18288" anchor="ctr">
                    <a:solidFill>
                      <a:srgbClr val="E7EFEA"/>
                    </a:solidFill>
                  </a:tcPr>
                </a:tc>
              </a:tr>
              <a:tr h="457200">
                <a:tc>
                  <a:txBody>
                    <a:bodyPr/>
                    <a:lstStyle/>
                    <a:p>
                      <a:pPr algn="l"/>
                      <a:r>
                        <a:rPr sz="1350" b="0">
                          <a:solidFill>
                            <a:srgbClr val="1F2421"/>
                          </a:solidFill>
                          <a:latin typeface="Calibri"/>
                        </a:rPr>
                        <a:t>R²</a:t>
                      </a:r>
                    </a:p>
                  </a:txBody>
                  <a:tcPr marL="91440" marR="91440" marT="18288" marB="18288" anchor="ctr">
                    <a:solidFill>
                      <a:srgbClr val="FFFFFF"/>
                    </a:solidFill>
                  </a:tcPr>
                </a:tc>
                <a:tc>
                  <a:txBody>
                    <a:bodyPr/>
                    <a:lstStyle/>
                    <a:p>
                      <a:pPr algn="ctr"/>
                      <a:r>
                        <a:rPr sz="1350" b="0">
                          <a:solidFill>
                            <a:srgbClr val="1F2421"/>
                          </a:solidFill>
                          <a:latin typeface="Calibri"/>
                        </a:rPr>
                        <a:t>0.9743</a:t>
                      </a:r>
                    </a:p>
                  </a:txBody>
                  <a:tcPr marL="91440" marR="91440" marT="18288" marB="18288" anchor="ctr">
                    <a:solidFill>
                      <a:srgbClr val="FFFFFF"/>
                    </a:solidFill>
                  </a:tcPr>
                </a:tc>
                <a:tc>
                  <a:txBody>
                    <a:bodyPr/>
                    <a:lstStyle/>
                    <a:p>
                      <a:pPr algn="ctr"/>
                      <a:r>
                        <a:rPr sz="1350" b="1">
                          <a:solidFill>
                            <a:srgbClr val="1F2421"/>
                          </a:solidFill>
                          <a:latin typeface="Calibri"/>
                        </a:rPr>
                        <a:t>0.8676</a:t>
                      </a:r>
                    </a:p>
                  </a:txBody>
                  <a:tcPr marL="91440" marR="91440" marT="18288" marB="18288" anchor="ctr">
                    <a:solidFill>
                      <a:srgbClr val="FFFFFF"/>
                    </a:solidFill>
                  </a:tcPr>
                </a:tc>
              </a:tr>
              <a:tr h="457200">
                <a:tc>
                  <a:txBody>
                    <a:bodyPr/>
                    <a:lstStyle/>
                    <a:p>
                      <a:pPr algn="l"/>
                      <a:r>
                        <a:rPr sz="1350" b="0">
                          <a:solidFill>
                            <a:srgbClr val="1F2421"/>
                          </a:solidFill>
                          <a:latin typeface="Calibri"/>
                        </a:rPr>
                        <a:t>MAPE</a:t>
                      </a:r>
                    </a:p>
                  </a:txBody>
                  <a:tcPr marL="91440" marR="91440" marT="18288" marB="18288" anchor="ctr">
                    <a:solidFill>
                      <a:srgbClr val="E7EFEA"/>
                    </a:solidFill>
                  </a:tcPr>
                </a:tc>
                <a:tc>
                  <a:txBody>
                    <a:bodyPr/>
                    <a:lstStyle/>
                    <a:p>
                      <a:pPr algn="ctr"/>
                      <a:r>
                        <a:rPr sz="1350" b="0">
                          <a:solidFill>
                            <a:srgbClr val="1F2421"/>
                          </a:solidFill>
                          <a:latin typeface="Calibri"/>
                        </a:rPr>
                        <a:t>4.90%</a:t>
                      </a:r>
                    </a:p>
                  </a:txBody>
                  <a:tcPr marL="91440" marR="91440" marT="18288" marB="18288" anchor="ctr">
                    <a:solidFill>
                      <a:srgbClr val="E7EFEA"/>
                    </a:solidFill>
                  </a:tcPr>
                </a:tc>
                <a:tc>
                  <a:txBody>
                    <a:bodyPr/>
                    <a:lstStyle/>
                    <a:p>
                      <a:pPr algn="ctr"/>
                      <a:r>
                        <a:rPr sz="1350" b="1">
                          <a:solidFill>
                            <a:srgbClr val="1F2421"/>
                          </a:solidFill>
                          <a:latin typeface="Calibri"/>
                        </a:rPr>
                        <a:t>12.18%</a:t>
                      </a:r>
                    </a:p>
                  </a:txBody>
                  <a:tcPr marL="91440" marR="91440" marT="18288" marB="18288" anchor="ctr">
                    <a:solidFill>
                      <a:srgbClr val="E7EFEA"/>
                    </a:solidFill>
                  </a:tcPr>
                </a:tc>
              </a:tr>
            </a:tbl>
          </a:graphicData>
        </a:graphic>
      </p:graphicFrame>
      <p:sp>
        <p:nvSpPr>
          <p:cNvPr id="8" name="TextBox 7"/>
          <p:cNvSpPr txBox="1"/>
          <p:nvPr/>
        </p:nvSpPr>
        <p:spPr>
          <a:xfrm>
            <a:off x="6675120" y="2295144"/>
            <a:ext cx="4873752" cy="2743200"/>
          </a:xfrm>
          <a:prstGeom prst="rect">
            <a:avLst/>
          </a:prstGeom>
          <a:noFill/>
        </p:spPr>
        <p:txBody>
          <a:bodyPr wrap="square" lIns="0" rIns="0" tIns="0" bIns="0">
            <a:spAutoFit/>
          </a:bodyPr>
          <a:lstStyle/>
          <a:p>
            <a:pPr>
              <a:lnSpc>
                <a:spcPct val="118000"/>
              </a:lnSpc>
            </a:pPr>
            <a:r>
              <a:rPr sz="1300">
                <a:solidFill>
                  <a:srgbClr val="1F2421"/>
                </a:solidFill>
                <a:latin typeface="Calibri"/>
              </a:rPr>
              <a:t>•  Captures interactions between features without being told they exist.</a:t>
            </a:r>
          </a:p>
          <a:p>
            <a:pPr>
              <a:lnSpc>
                <a:spcPct val="118000"/>
              </a:lnSpc>
              <a:spcBef>
                <a:spcPts val="1200"/>
              </a:spcBef>
            </a:pPr>
            <a:r>
              <a:rPr sz="1300">
                <a:solidFill>
                  <a:srgbClr val="1F2421"/>
                </a:solidFill>
                <a:latin typeface="Calibri"/>
              </a:rPr>
              <a:t>•  Handles the mix of numeric and categorical inputs naturally.</a:t>
            </a:r>
          </a:p>
          <a:p>
            <a:pPr>
              <a:lnSpc>
                <a:spcPct val="118000"/>
              </a:lnSpc>
              <a:spcBef>
                <a:spcPts val="1200"/>
              </a:spcBef>
            </a:pPr>
            <a:r>
              <a:rPr sz="1300">
                <a:solidFill>
                  <a:srgbClr val="1F2421"/>
                </a:solidFill>
                <a:latin typeface="Calibri"/>
              </a:rPr>
              <a:t>•  Train R² of 0.9743 against test R² of 0.8676 — the gap is headroom for regularisation, and we report it rather than hide it.</a:t>
            </a:r>
          </a:p>
        </p:txBody>
      </p:sp>
      <p:sp>
        <p:nvSpPr>
          <p:cNvPr id="9" name="TextBox 8"/>
          <p:cNvSpPr txBox="1"/>
          <p:nvPr/>
        </p:nvSpPr>
        <p:spPr>
          <a:xfrm>
            <a:off x="731520" y="6382512"/>
            <a:ext cx="8686800" cy="274320"/>
          </a:xfrm>
          <a:prstGeom prst="rect">
            <a:avLst/>
          </a:prstGeom>
          <a:noFill/>
        </p:spPr>
        <p:txBody>
          <a:bodyPr wrap="square" anchor="t" lIns="0" rIns="0" tIns="0" bIns="0">
            <a:spAutoFit/>
          </a:bodyPr>
          <a:lstStyle/>
          <a:p>
            <a:pPr algn="l">
              <a:lnSpc>
                <a:spcPct val="100000"/>
              </a:lnSpc>
            </a:pPr>
            <a:r>
              <a:rPr sz="950" b="0">
                <a:solidFill>
                  <a:srgbClr val="637268"/>
                </a:solidFill>
                <a:latin typeface="Calibri"/>
              </a:rPr>
              <a:t>HomeValue — House Price Prediction System</a:t>
            </a:r>
          </a:p>
        </p:txBody>
      </p:sp>
      <p:sp>
        <p:nvSpPr>
          <p:cNvPr id="10" name="TextBox 9"/>
          <p:cNvSpPr txBox="1"/>
          <p:nvPr/>
        </p:nvSpPr>
        <p:spPr>
          <a:xfrm>
            <a:off x="10545775" y="6382512"/>
            <a:ext cx="914400" cy="274320"/>
          </a:xfrm>
          <a:prstGeom prst="rect">
            <a:avLst/>
          </a:prstGeom>
          <a:noFill/>
        </p:spPr>
        <p:txBody>
          <a:bodyPr wrap="square" anchor="t" lIns="0" rIns="0" tIns="0" bIns="0">
            <a:spAutoFit/>
          </a:bodyPr>
          <a:lstStyle/>
          <a:p>
            <a:pPr algn="r">
              <a:lnSpc>
                <a:spcPct val="100000"/>
              </a:lnSpc>
            </a:pPr>
            <a:r>
              <a:rPr sz="950" b="1">
                <a:solidFill>
                  <a:srgbClr val="2F6B4F"/>
                </a:solidFill>
                <a:latin typeface="Calibri"/>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 name="TextBox 2"/>
          <p:cNvSpPr txBox="1"/>
          <p:nvPr/>
        </p:nvSpPr>
        <p:spPr>
          <a:xfrm>
            <a:off x="731520" y="502920"/>
            <a:ext cx="10728655" cy="274320"/>
          </a:xfrm>
          <a:prstGeom prst="rect">
            <a:avLst/>
          </a:prstGeom>
          <a:noFill/>
        </p:spPr>
        <p:txBody>
          <a:bodyPr wrap="square" anchor="t" lIns="0" rIns="0" tIns="0" bIns="0">
            <a:spAutoFit/>
          </a:bodyPr>
          <a:lstStyle/>
          <a:p>
            <a:pPr algn="l">
              <a:lnSpc>
                <a:spcPct val="100000"/>
              </a:lnSpc>
            </a:pPr>
            <a:r>
              <a:rPr sz="1100" b="1">
                <a:solidFill>
                  <a:srgbClr val="2F6B4F"/>
                </a:solidFill>
                <a:latin typeface="Calibri"/>
              </a:rPr>
              <a:t>SELECTION</a:t>
            </a:r>
          </a:p>
        </p:txBody>
      </p:sp>
      <p:sp>
        <p:nvSpPr>
          <p:cNvPr id="4" name="TextBox 3"/>
          <p:cNvSpPr txBox="1"/>
          <p:nvPr/>
        </p:nvSpPr>
        <p:spPr>
          <a:xfrm>
            <a:off x="731520" y="813816"/>
            <a:ext cx="10728655" cy="566928"/>
          </a:xfrm>
          <a:prstGeom prst="rect">
            <a:avLst/>
          </a:prstGeom>
          <a:noFill/>
        </p:spPr>
        <p:txBody>
          <a:bodyPr wrap="square" anchor="t" lIns="0" rIns="0" tIns="0" bIns="0">
            <a:spAutoFit/>
          </a:bodyPr>
          <a:lstStyle/>
          <a:p>
            <a:pPr algn="l">
              <a:lnSpc>
                <a:spcPct val="100000"/>
              </a:lnSpc>
            </a:pPr>
            <a:r>
              <a:rPr sz="3000" b="1">
                <a:solidFill>
                  <a:srgbClr val="1F2421"/>
                </a:solidFill>
                <a:latin typeface="Calibri"/>
              </a:rPr>
              <a:t>Model comparison</a:t>
            </a:r>
          </a:p>
        </p:txBody>
      </p:sp>
      <p:sp>
        <p:nvSpPr>
          <p:cNvPr id="5" name="TextBox 4"/>
          <p:cNvSpPr txBox="1"/>
          <p:nvPr/>
        </p:nvSpPr>
        <p:spPr>
          <a:xfrm>
            <a:off x="731520" y="1417320"/>
            <a:ext cx="10728655" cy="365760"/>
          </a:xfrm>
          <a:prstGeom prst="rect">
            <a:avLst/>
          </a:prstGeom>
          <a:noFill/>
        </p:spPr>
        <p:txBody>
          <a:bodyPr wrap="square" anchor="t" lIns="0" rIns="0" tIns="0" bIns="0">
            <a:spAutoFit/>
          </a:bodyPr>
          <a:lstStyle/>
          <a:p>
            <a:pPr algn="l">
              <a:lnSpc>
                <a:spcPct val="100000"/>
              </a:lnSpc>
            </a:pPr>
            <a:r>
              <a:rPr sz="1400" b="0">
                <a:solidFill>
                  <a:srgbClr val="637268"/>
                </a:solidFill>
                <a:latin typeface="Calibri"/>
              </a:rPr>
              <a:t>Decided on the held-out test set only. Lower is better.</a:t>
            </a:r>
          </a:p>
        </p:txBody>
      </p:sp>
      <p:sp>
        <p:nvSpPr>
          <p:cNvPr id="6" name="Rectangle 5"/>
          <p:cNvSpPr/>
          <p:nvPr/>
        </p:nvSpPr>
        <p:spPr>
          <a:xfrm>
            <a:off x="731520" y="1874520"/>
            <a:ext cx="10728655" cy="9525"/>
          </a:xfrm>
          <a:prstGeom prst="rect">
            <a:avLst/>
          </a:prstGeom>
          <a:solidFill>
            <a:srgbClr val="DCE3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Rectangle 6"/>
          <p:cNvSpPr/>
          <p:nvPr/>
        </p:nvSpPr>
        <p:spPr>
          <a:xfrm>
            <a:off x="731520" y="4992624"/>
            <a:ext cx="6583680" cy="12700"/>
          </a:xfrm>
          <a:prstGeom prst="rect">
            <a:avLst/>
          </a:prstGeom>
          <a:solidFill>
            <a:srgbClr val="DCE3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8" name="Rounded Rectangle 7"/>
          <p:cNvSpPr/>
          <p:nvPr/>
        </p:nvSpPr>
        <p:spPr>
          <a:xfrm>
            <a:off x="731520" y="3554736"/>
            <a:ext cx="786384" cy="1437888"/>
          </a:xfrm>
          <a:prstGeom prst="roundRect">
            <a:avLst>
              <a:gd name="adj" fmla="val 6000"/>
            </a:avLst>
          </a:prstGeom>
          <a:solidFill>
            <a:srgbClr val="7FA8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9" name="TextBox 8"/>
          <p:cNvSpPr txBox="1"/>
          <p:nvPr/>
        </p:nvSpPr>
        <p:spPr>
          <a:xfrm>
            <a:off x="548640" y="3298704"/>
            <a:ext cx="1152144" cy="237744"/>
          </a:xfrm>
          <a:prstGeom prst="rect">
            <a:avLst/>
          </a:prstGeom>
          <a:noFill/>
        </p:spPr>
        <p:txBody>
          <a:bodyPr wrap="square" anchor="t" lIns="0" rIns="0" tIns="0" bIns="0">
            <a:spAutoFit/>
          </a:bodyPr>
          <a:lstStyle/>
          <a:p>
            <a:pPr algn="ctr">
              <a:lnSpc>
                <a:spcPct val="100000"/>
              </a:lnSpc>
            </a:pPr>
            <a:r>
              <a:rPr sz="1100" b="1">
                <a:solidFill>
                  <a:srgbClr val="1F2421"/>
                </a:solidFill>
                <a:latin typeface="Calibri"/>
              </a:rPr>
              <a:t>21,974</a:t>
            </a:r>
          </a:p>
        </p:txBody>
      </p:sp>
      <p:sp>
        <p:nvSpPr>
          <p:cNvPr id="10" name="Rounded Rectangle 9"/>
          <p:cNvSpPr/>
          <p:nvPr/>
        </p:nvSpPr>
        <p:spPr>
          <a:xfrm>
            <a:off x="1554480" y="3746813"/>
            <a:ext cx="786384" cy="1245811"/>
          </a:xfrm>
          <a:prstGeom prst="roundRect">
            <a:avLst>
              <a:gd name="adj" fmla="val 6000"/>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1" name="TextBox 10"/>
          <p:cNvSpPr txBox="1"/>
          <p:nvPr/>
        </p:nvSpPr>
        <p:spPr>
          <a:xfrm>
            <a:off x="1371600" y="3490781"/>
            <a:ext cx="1152144" cy="237744"/>
          </a:xfrm>
          <a:prstGeom prst="rect">
            <a:avLst/>
          </a:prstGeom>
          <a:noFill/>
        </p:spPr>
        <p:txBody>
          <a:bodyPr wrap="square" anchor="t" lIns="0" rIns="0" tIns="0" bIns="0">
            <a:spAutoFit/>
          </a:bodyPr>
          <a:lstStyle/>
          <a:p>
            <a:pPr algn="ctr">
              <a:lnSpc>
                <a:spcPct val="100000"/>
              </a:lnSpc>
            </a:pPr>
            <a:r>
              <a:rPr sz="1100" b="1">
                <a:solidFill>
                  <a:srgbClr val="1F2421"/>
                </a:solidFill>
                <a:latin typeface="Calibri"/>
              </a:rPr>
              <a:t>19,039</a:t>
            </a:r>
          </a:p>
        </p:txBody>
      </p:sp>
      <p:sp>
        <p:nvSpPr>
          <p:cNvPr id="12" name="TextBox 11"/>
          <p:cNvSpPr txBox="1"/>
          <p:nvPr/>
        </p:nvSpPr>
        <p:spPr>
          <a:xfrm>
            <a:off x="731520" y="5084064"/>
            <a:ext cx="1645920" cy="274320"/>
          </a:xfrm>
          <a:prstGeom prst="rect">
            <a:avLst/>
          </a:prstGeom>
          <a:noFill/>
        </p:spPr>
        <p:txBody>
          <a:bodyPr wrap="square" anchor="t" lIns="0" rIns="0" tIns="0" bIns="0">
            <a:spAutoFit/>
          </a:bodyPr>
          <a:lstStyle/>
          <a:p>
            <a:pPr algn="ctr">
              <a:lnSpc>
                <a:spcPct val="100000"/>
              </a:lnSpc>
            </a:pPr>
            <a:r>
              <a:rPr sz="1250" b="1">
                <a:solidFill>
                  <a:srgbClr val="1F2421"/>
                </a:solidFill>
                <a:latin typeface="Calibri"/>
              </a:rPr>
              <a:t>MAE</a:t>
            </a:r>
          </a:p>
        </p:txBody>
      </p:sp>
      <p:sp>
        <p:nvSpPr>
          <p:cNvPr id="13" name="Rounded Rectangle 12"/>
          <p:cNvSpPr/>
          <p:nvPr/>
        </p:nvSpPr>
        <p:spPr>
          <a:xfrm>
            <a:off x="3200400" y="3004798"/>
            <a:ext cx="786384" cy="1987826"/>
          </a:xfrm>
          <a:prstGeom prst="roundRect">
            <a:avLst>
              <a:gd name="adj" fmla="val 6000"/>
            </a:avLst>
          </a:prstGeom>
          <a:solidFill>
            <a:srgbClr val="7FA8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4" name="TextBox 13"/>
          <p:cNvSpPr txBox="1"/>
          <p:nvPr/>
        </p:nvSpPr>
        <p:spPr>
          <a:xfrm>
            <a:off x="3017520" y="2748766"/>
            <a:ext cx="1152144" cy="237744"/>
          </a:xfrm>
          <a:prstGeom prst="rect">
            <a:avLst/>
          </a:prstGeom>
          <a:noFill/>
        </p:spPr>
        <p:txBody>
          <a:bodyPr wrap="square" anchor="t" lIns="0" rIns="0" tIns="0" bIns="0">
            <a:spAutoFit/>
          </a:bodyPr>
          <a:lstStyle/>
          <a:p>
            <a:pPr algn="ctr">
              <a:lnSpc>
                <a:spcPct val="100000"/>
              </a:lnSpc>
            </a:pPr>
            <a:r>
              <a:rPr sz="1100" b="1">
                <a:solidFill>
                  <a:srgbClr val="1F2421"/>
                </a:solidFill>
                <a:latin typeface="Calibri"/>
              </a:rPr>
              <a:t>30,379</a:t>
            </a:r>
          </a:p>
        </p:txBody>
      </p:sp>
      <p:sp>
        <p:nvSpPr>
          <p:cNvPr id="15" name="Rounded Rectangle 14"/>
          <p:cNvSpPr/>
          <p:nvPr/>
        </p:nvSpPr>
        <p:spPr>
          <a:xfrm>
            <a:off x="4023360" y="3223233"/>
            <a:ext cx="786384" cy="1769391"/>
          </a:xfrm>
          <a:prstGeom prst="roundRect">
            <a:avLst>
              <a:gd name="adj" fmla="val 6000"/>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6" name="TextBox 15"/>
          <p:cNvSpPr txBox="1"/>
          <p:nvPr/>
        </p:nvSpPr>
        <p:spPr>
          <a:xfrm>
            <a:off x="3840480" y="2967201"/>
            <a:ext cx="1152144" cy="237744"/>
          </a:xfrm>
          <a:prstGeom prst="rect">
            <a:avLst/>
          </a:prstGeom>
          <a:noFill/>
        </p:spPr>
        <p:txBody>
          <a:bodyPr wrap="square" anchor="t" lIns="0" rIns="0" tIns="0" bIns="0">
            <a:spAutoFit/>
          </a:bodyPr>
          <a:lstStyle/>
          <a:p>
            <a:pPr algn="ctr">
              <a:lnSpc>
                <a:spcPct val="100000"/>
              </a:lnSpc>
            </a:pPr>
            <a:r>
              <a:rPr sz="1100" b="1">
                <a:solidFill>
                  <a:srgbClr val="1F2421"/>
                </a:solidFill>
                <a:latin typeface="Calibri"/>
              </a:rPr>
              <a:t>27,041</a:t>
            </a:r>
          </a:p>
        </p:txBody>
      </p:sp>
      <p:sp>
        <p:nvSpPr>
          <p:cNvPr id="17" name="TextBox 16"/>
          <p:cNvSpPr txBox="1"/>
          <p:nvPr/>
        </p:nvSpPr>
        <p:spPr>
          <a:xfrm>
            <a:off x="3200400" y="5084064"/>
            <a:ext cx="1645920" cy="274320"/>
          </a:xfrm>
          <a:prstGeom prst="rect">
            <a:avLst/>
          </a:prstGeom>
          <a:noFill/>
        </p:spPr>
        <p:txBody>
          <a:bodyPr wrap="square" anchor="t" lIns="0" rIns="0" tIns="0" bIns="0">
            <a:spAutoFit/>
          </a:bodyPr>
          <a:lstStyle/>
          <a:p>
            <a:pPr algn="ctr">
              <a:lnSpc>
                <a:spcPct val="100000"/>
              </a:lnSpc>
            </a:pPr>
            <a:r>
              <a:rPr sz="1250" b="1">
                <a:solidFill>
                  <a:srgbClr val="1F2421"/>
                </a:solidFill>
                <a:latin typeface="Calibri"/>
              </a:rPr>
              <a:t>RMSE</a:t>
            </a:r>
          </a:p>
        </p:txBody>
      </p:sp>
      <p:sp>
        <p:nvSpPr>
          <p:cNvPr id="18" name="Rounded Rectangle 17"/>
          <p:cNvSpPr/>
          <p:nvPr/>
        </p:nvSpPr>
        <p:spPr>
          <a:xfrm>
            <a:off x="5669280" y="4979924"/>
            <a:ext cx="786384" cy="12700"/>
          </a:xfrm>
          <a:prstGeom prst="roundRect">
            <a:avLst>
              <a:gd name="adj" fmla="val 6000"/>
            </a:avLst>
          </a:prstGeom>
          <a:solidFill>
            <a:srgbClr val="7FA8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9" name="TextBox 18"/>
          <p:cNvSpPr txBox="1"/>
          <p:nvPr/>
        </p:nvSpPr>
        <p:spPr>
          <a:xfrm>
            <a:off x="5486400" y="4723892"/>
            <a:ext cx="1152144" cy="237744"/>
          </a:xfrm>
          <a:prstGeom prst="rect">
            <a:avLst/>
          </a:prstGeom>
          <a:noFill/>
        </p:spPr>
        <p:txBody>
          <a:bodyPr wrap="square" anchor="t" lIns="0" rIns="0" tIns="0" bIns="0">
            <a:spAutoFit/>
          </a:bodyPr>
          <a:lstStyle/>
          <a:p>
            <a:pPr algn="ctr">
              <a:lnSpc>
                <a:spcPct val="100000"/>
              </a:lnSpc>
            </a:pPr>
            <a:r>
              <a:rPr sz="1100" b="1">
                <a:solidFill>
                  <a:srgbClr val="1F2421"/>
                </a:solidFill>
                <a:latin typeface="Calibri"/>
              </a:rPr>
              <a:t>13.87</a:t>
            </a:r>
          </a:p>
        </p:txBody>
      </p:sp>
      <p:sp>
        <p:nvSpPr>
          <p:cNvPr id="20" name="Rounded Rectangle 19"/>
          <p:cNvSpPr/>
          <p:nvPr/>
        </p:nvSpPr>
        <p:spPr>
          <a:xfrm>
            <a:off x="6492240" y="4979924"/>
            <a:ext cx="786384" cy="12700"/>
          </a:xfrm>
          <a:prstGeom prst="roundRect">
            <a:avLst>
              <a:gd name="adj" fmla="val 6000"/>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1" name="TextBox 20"/>
          <p:cNvSpPr txBox="1"/>
          <p:nvPr/>
        </p:nvSpPr>
        <p:spPr>
          <a:xfrm>
            <a:off x="6309360" y="4723892"/>
            <a:ext cx="1152144" cy="237744"/>
          </a:xfrm>
          <a:prstGeom prst="rect">
            <a:avLst/>
          </a:prstGeom>
          <a:noFill/>
        </p:spPr>
        <p:txBody>
          <a:bodyPr wrap="square" anchor="t" lIns="0" rIns="0" tIns="0" bIns="0">
            <a:spAutoFit/>
          </a:bodyPr>
          <a:lstStyle/>
          <a:p>
            <a:pPr algn="ctr">
              <a:lnSpc>
                <a:spcPct val="100000"/>
              </a:lnSpc>
            </a:pPr>
            <a:r>
              <a:rPr sz="1100" b="1">
                <a:solidFill>
                  <a:srgbClr val="1F2421"/>
                </a:solidFill>
                <a:latin typeface="Calibri"/>
              </a:rPr>
              <a:t>12.18</a:t>
            </a:r>
          </a:p>
        </p:txBody>
      </p:sp>
      <p:sp>
        <p:nvSpPr>
          <p:cNvPr id="22" name="TextBox 21"/>
          <p:cNvSpPr txBox="1"/>
          <p:nvPr/>
        </p:nvSpPr>
        <p:spPr>
          <a:xfrm>
            <a:off x="5669280" y="5084064"/>
            <a:ext cx="1645920" cy="274320"/>
          </a:xfrm>
          <a:prstGeom prst="rect">
            <a:avLst/>
          </a:prstGeom>
          <a:noFill/>
        </p:spPr>
        <p:txBody>
          <a:bodyPr wrap="square" anchor="t" lIns="0" rIns="0" tIns="0" bIns="0">
            <a:spAutoFit/>
          </a:bodyPr>
          <a:lstStyle/>
          <a:p>
            <a:pPr algn="ctr">
              <a:lnSpc>
                <a:spcPct val="100000"/>
              </a:lnSpc>
            </a:pPr>
            <a:r>
              <a:rPr sz="1250" b="1">
                <a:solidFill>
                  <a:srgbClr val="1F2421"/>
                </a:solidFill>
                <a:latin typeface="Calibri"/>
              </a:rPr>
              <a:t>MAPE %</a:t>
            </a:r>
          </a:p>
        </p:txBody>
      </p:sp>
      <p:sp>
        <p:nvSpPr>
          <p:cNvPr id="23" name="Rectangle 22"/>
          <p:cNvSpPr/>
          <p:nvPr/>
        </p:nvSpPr>
        <p:spPr>
          <a:xfrm>
            <a:off x="731520" y="2340864"/>
            <a:ext cx="173736" cy="173736"/>
          </a:xfrm>
          <a:prstGeom prst="rect">
            <a:avLst/>
          </a:prstGeom>
          <a:solidFill>
            <a:srgbClr val="7FA8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4" name="TextBox 23"/>
          <p:cNvSpPr txBox="1"/>
          <p:nvPr/>
        </p:nvSpPr>
        <p:spPr>
          <a:xfrm>
            <a:off x="978408" y="2295144"/>
            <a:ext cx="2194560" cy="256032"/>
          </a:xfrm>
          <a:prstGeom prst="rect">
            <a:avLst/>
          </a:prstGeom>
          <a:noFill/>
        </p:spPr>
        <p:txBody>
          <a:bodyPr wrap="square" anchor="t" lIns="0" rIns="0" tIns="0" bIns="0">
            <a:spAutoFit/>
          </a:bodyPr>
          <a:lstStyle/>
          <a:p>
            <a:pPr algn="l">
              <a:lnSpc>
                <a:spcPct val="100000"/>
              </a:lnSpc>
            </a:pPr>
            <a:r>
              <a:rPr sz="1050" b="0">
                <a:solidFill>
                  <a:srgbClr val="637268"/>
                </a:solidFill>
                <a:latin typeface="Calibri"/>
              </a:rPr>
              <a:t>Linear Regression</a:t>
            </a:r>
          </a:p>
        </p:txBody>
      </p:sp>
      <p:sp>
        <p:nvSpPr>
          <p:cNvPr id="25" name="Rectangle 24"/>
          <p:cNvSpPr/>
          <p:nvPr/>
        </p:nvSpPr>
        <p:spPr>
          <a:xfrm>
            <a:off x="3434852" y="2340864"/>
            <a:ext cx="173736" cy="173736"/>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6" name="TextBox 25"/>
          <p:cNvSpPr txBox="1"/>
          <p:nvPr/>
        </p:nvSpPr>
        <p:spPr>
          <a:xfrm>
            <a:off x="3681740" y="2295144"/>
            <a:ext cx="2194560" cy="256032"/>
          </a:xfrm>
          <a:prstGeom prst="rect">
            <a:avLst/>
          </a:prstGeom>
          <a:noFill/>
        </p:spPr>
        <p:txBody>
          <a:bodyPr wrap="square" anchor="t" lIns="0" rIns="0" tIns="0" bIns="0">
            <a:spAutoFit/>
          </a:bodyPr>
          <a:lstStyle/>
          <a:p>
            <a:pPr algn="l">
              <a:lnSpc>
                <a:spcPct val="100000"/>
              </a:lnSpc>
            </a:pPr>
            <a:r>
              <a:rPr sz="1050" b="0">
                <a:solidFill>
                  <a:srgbClr val="637268"/>
                </a:solidFill>
                <a:latin typeface="Calibri"/>
              </a:rPr>
              <a:t>Random Forest</a:t>
            </a:r>
          </a:p>
        </p:txBody>
      </p:sp>
      <p:sp>
        <p:nvSpPr>
          <p:cNvPr id="27" name="Rounded Rectangle 26"/>
          <p:cNvSpPr/>
          <p:nvPr/>
        </p:nvSpPr>
        <p:spPr>
          <a:xfrm>
            <a:off x="7589520" y="2295144"/>
            <a:ext cx="3959352" cy="2926080"/>
          </a:xfrm>
          <a:prstGeom prst="roundRect">
            <a:avLst>
              <a:gd name="adj" fmla="val 6000"/>
            </a:avLst>
          </a:prstGeom>
          <a:solidFill>
            <a:srgbClr val="E7EF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8" name="Rectangle 27"/>
          <p:cNvSpPr/>
          <p:nvPr/>
        </p:nvSpPr>
        <p:spPr>
          <a:xfrm>
            <a:off x="7589520" y="2295144"/>
            <a:ext cx="3959352" cy="54864"/>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9" name="TextBox 28"/>
          <p:cNvSpPr txBox="1"/>
          <p:nvPr/>
        </p:nvSpPr>
        <p:spPr>
          <a:xfrm>
            <a:off x="7882127" y="2569464"/>
            <a:ext cx="3383280" cy="2377440"/>
          </a:xfrm>
          <a:prstGeom prst="rect">
            <a:avLst/>
          </a:prstGeom>
          <a:noFill/>
        </p:spPr>
        <p:txBody>
          <a:bodyPr wrap="square" anchor="t" lIns="0" rIns="0" tIns="0" bIns="0">
            <a:spAutoFit/>
          </a:bodyPr>
          <a:lstStyle/>
          <a:p>
            <a:pPr algn="l">
              <a:lnSpc>
                <a:spcPct val="120000"/>
              </a:lnSpc>
            </a:pPr>
            <a:r>
              <a:rPr sz="1550" b="1">
                <a:solidFill>
                  <a:srgbClr val="1F2421"/>
                </a:solidFill>
                <a:latin typeface="Calibri"/>
              </a:rPr>
              <a:t>Random Forest wins</a:t>
            </a:r>
          </a:p>
          <a:p>
            <a:pPr algn="l">
              <a:lnSpc>
                <a:spcPct val="120000"/>
              </a:lnSpc>
              <a:spcBef>
                <a:spcPts val="800"/>
              </a:spcBef>
            </a:pPr>
            <a:r>
              <a:rPr sz="1200" b="0">
                <a:solidFill>
                  <a:srgbClr val="1F2421"/>
                </a:solidFill>
                <a:latin typeface="Calibri"/>
              </a:rPr>
              <a:t>RMSE $27,041 vs $30,379</a:t>
            </a:r>
          </a:p>
          <a:p>
            <a:pPr algn="l">
              <a:lnSpc>
                <a:spcPct val="120000"/>
              </a:lnSpc>
              <a:spcBef>
                <a:spcPts val="300"/>
              </a:spcBef>
            </a:pPr>
            <a:r>
              <a:rPr sz="1200" b="0">
                <a:solidFill>
                  <a:srgbClr val="1F2421"/>
                </a:solidFill>
                <a:latin typeface="Calibri"/>
              </a:rPr>
              <a:t>MAE $19,039 vs $21,974</a:t>
            </a:r>
          </a:p>
          <a:p>
            <a:pPr algn="l">
              <a:lnSpc>
                <a:spcPct val="120000"/>
              </a:lnSpc>
              <a:spcBef>
                <a:spcPts val="300"/>
              </a:spcBef>
            </a:pPr>
            <a:r>
              <a:rPr sz="1200" b="0">
                <a:solidFill>
                  <a:srgbClr val="1F2421"/>
                </a:solidFill>
                <a:latin typeface="Calibri"/>
              </a:rPr>
              <a:t>R² 0.8676 vs 0.8329</a:t>
            </a:r>
          </a:p>
          <a:p>
            <a:pPr algn="l">
              <a:lnSpc>
                <a:spcPct val="120000"/>
              </a:lnSpc>
              <a:spcBef>
                <a:spcPts val="800"/>
              </a:spcBef>
            </a:pPr>
            <a:r>
              <a:rPr sz="1200" b="1">
                <a:solidFill>
                  <a:srgbClr val="2F6B4F"/>
                </a:solidFill>
                <a:latin typeface="Calibri"/>
              </a:rPr>
              <a:t>About 11% lower test RMSE and 13% lower test MAE.</a:t>
            </a:r>
          </a:p>
        </p:txBody>
      </p:sp>
      <p:sp>
        <p:nvSpPr>
          <p:cNvPr id="30" name="TextBox 29"/>
          <p:cNvSpPr txBox="1"/>
          <p:nvPr/>
        </p:nvSpPr>
        <p:spPr>
          <a:xfrm>
            <a:off x="731520" y="6382512"/>
            <a:ext cx="8686800" cy="274320"/>
          </a:xfrm>
          <a:prstGeom prst="rect">
            <a:avLst/>
          </a:prstGeom>
          <a:noFill/>
        </p:spPr>
        <p:txBody>
          <a:bodyPr wrap="square" anchor="t" lIns="0" rIns="0" tIns="0" bIns="0">
            <a:spAutoFit/>
          </a:bodyPr>
          <a:lstStyle/>
          <a:p>
            <a:pPr algn="l">
              <a:lnSpc>
                <a:spcPct val="100000"/>
              </a:lnSpc>
            </a:pPr>
            <a:r>
              <a:rPr sz="950" b="0">
                <a:solidFill>
                  <a:srgbClr val="637268"/>
                </a:solidFill>
                <a:latin typeface="Calibri"/>
              </a:rPr>
              <a:t>HomeValue — House Price Prediction System</a:t>
            </a:r>
          </a:p>
        </p:txBody>
      </p:sp>
      <p:sp>
        <p:nvSpPr>
          <p:cNvPr id="31" name="TextBox 30"/>
          <p:cNvSpPr txBox="1"/>
          <p:nvPr/>
        </p:nvSpPr>
        <p:spPr>
          <a:xfrm>
            <a:off x="10545775" y="6382512"/>
            <a:ext cx="914400" cy="274320"/>
          </a:xfrm>
          <a:prstGeom prst="rect">
            <a:avLst/>
          </a:prstGeom>
          <a:noFill/>
        </p:spPr>
        <p:txBody>
          <a:bodyPr wrap="square" anchor="t" lIns="0" rIns="0" tIns="0" bIns="0">
            <a:spAutoFit/>
          </a:bodyPr>
          <a:lstStyle/>
          <a:p>
            <a:pPr algn="r">
              <a:lnSpc>
                <a:spcPct val="100000"/>
              </a:lnSpc>
            </a:pPr>
            <a:r>
              <a:rPr sz="950" b="1">
                <a:solidFill>
                  <a:srgbClr val="2F6B4F"/>
                </a:solidFill>
                <a:latin typeface="Calibri"/>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 name="TextBox 2"/>
          <p:cNvSpPr txBox="1"/>
          <p:nvPr/>
        </p:nvSpPr>
        <p:spPr>
          <a:xfrm>
            <a:off x="731520" y="502920"/>
            <a:ext cx="10728655" cy="274320"/>
          </a:xfrm>
          <a:prstGeom prst="rect">
            <a:avLst/>
          </a:prstGeom>
          <a:noFill/>
        </p:spPr>
        <p:txBody>
          <a:bodyPr wrap="square" anchor="t" lIns="0" rIns="0" tIns="0" bIns="0">
            <a:spAutoFit/>
          </a:bodyPr>
          <a:lstStyle/>
          <a:p>
            <a:pPr algn="l">
              <a:lnSpc>
                <a:spcPct val="100000"/>
              </a:lnSpc>
            </a:pPr>
            <a:r>
              <a:rPr sz="1100" b="1">
                <a:solidFill>
                  <a:srgbClr val="2F6B4F"/>
                </a:solidFill>
                <a:latin typeface="Calibri"/>
              </a:rPr>
              <a:t>HELD-OUT PERFORMANCE</a:t>
            </a:r>
          </a:p>
        </p:txBody>
      </p:sp>
      <p:sp>
        <p:nvSpPr>
          <p:cNvPr id="4" name="TextBox 3"/>
          <p:cNvSpPr txBox="1"/>
          <p:nvPr/>
        </p:nvSpPr>
        <p:spPr>
          <a:xfrm>
            <a:off x="731520" y="813816"/>
            <a:ext cx="10728655" cy="566928"/>
          </a:xfrm>
          <a:prstGeom prst="rect">
            <a:avLst/>
          </a:prstGeom>
          <a:noFill/>
        </p:spPr>
        <p:txBody>
          <a:bodyPr wrap="square" anchor="t" lIns="0" rIns="0" tIns="0" bIns="0">
            <a:spAutoFit/>
          </a:bodyPr>
          <a:lstStyle/>
          <a:p>
            <a:pPr algn="l">
              <a:lnSpc>
                <a:spcPct val="100000"/>
              </a:lnSpc>
            </a:pPr>
            <a:r>
              <a:rPr sz="3000" b="1">
                <a:solidFill>
                  <a:srgbClr val="1F2421"/>
                </a:solidFill>
                <a:latin typeface="Calibri"/>
              </a:rPr>
              <a:t>Results</a:t>
            </a:r>
          </a:p>
        </p:txBody>
      </p:sp>
      <p:sp>
        <p:nvSpPr>
          <p:cNvPr id="5" name="TextBox 4"/>
          <p:cNvSpPr txBox="1"/>
          <p:nvPr/>
        </p:nvSpPr>
        <p:spPr>
          <a:xfrm>
            <a:off x="731520" y="1417320"/>
            <a:ext cx="10728655" cy="365760"/>
          </a:xfrm>
          <a:prstGeom prst="rect">
            <a:avLst/>
          </a:prstGeom>
          <a:noFill/>
        </p:spPr>
        <p:txBody>
          <a:bodyPr wrap="square" anchor="t" lIns="0" rIns="0" tIns="0" bIns="0">
            <a:spAutoFit/>
          </a:bodyPr>
          <a:lstStyle/>
          <a:p>
            <a:pPr algn="l">
              <a:lnSpc>
                <a:spcPct val="100000"/>
              </a:lnSpc>
            </a:pPr>
            <a:r>
              <a:rPr sz="1400" b="0">
                <a:solidFill>
                  <a:srgbClr val="637268"/>
                </a:solidFill>
                <a:latin typeface="Calibri"/>
              </a:rPr>
              <a:t>What the numbers mean in plain language.</a:t>
            </a:r>
          </a:p>
        </p:txBody>
      </p:sp>
      <p:sp>
        <p:nvSpPr>
          <p:cNvPr id="6" name="Rectangle 5"/>
          <p:cNvSpPr/>
          <p:nvPr/>
        </p:nvSpPr>
        <p:spPr>
          <a:xfrm>
            <a:off x="731520" y="1874520"/>
            <a:ext cx="10728655" cy="9525"/>
          </a:xfrm>
          <a:prstGeom prst="rect">
            <a:avLst/>
          </a:prstGeom>
          <a:solidFill>
            <a:srgbClr val="DCE3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Rounded Rectangle 6"/>
          <p:cNvSpPr/>
          <p:nvPr/>
        </p:nvSpPr>
        <p:spPr>
          <a:xfrm>
            <a:off x="731520" y="2203704"/>
            <a:ext cx="2606040" cy="1783080"/>
          </a:xfrm>
          <a:prstGeom prst="roundRect">
            <a:avLst>
              <a:gd name="adj" fmla="val 8000"/>
            </a:avLst>
          </a:prstGeom>
          <a:solidFill>
            <a:srgbClr val="E7EFEA"/>
          </a:solidFill>
          <a:ln w="9525">
            <a:solidFill>
              <a:srgbClr val="DCE3D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8" name="Rectangle 7"/>
          <p:cNvSpPr/>
          <p:nvPr/>
        </p:nvSpPr>
        <p:spPr>
          <a:xfrm>
            <a:off x="731520" y="2203704"/>
            <a:ext cx="50292" cy="1783080"/>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9" name="TextBox 8"/>
          <p:cNvSpPr txBox="1"/>
          <p:nvPr/>
        </p:nvSpPr>
        <p:spPr>
          <a:xfrm>
            <a:off x="987552" y="2423160"/>
            <a:ext cx="2194560" cy="502920"/>
          </a:xfrm>
          <a:prstGeom prst="rect">
            <a:avLst/>
          </a:prstGeom>
          <a:noFill/>
        </p:spPr>
        <p:txBody>
          <a:bodyPr wrap="square" anchor="t" lIns="0" rIns="0" tIns="0" bIns="0">
            <a:spAutoFit/>
          </a:bodyPr>
          <a:lstStyle/>
          <a:p>
            <a:pPr algn="l">
              <a:lnSpc>
                <a:spcPct val="100000"/>
              </a:lnSpc>
            </a:pPr>
            <a:r>
              <a:rPr sz="2700" b="1">
                <a:solidFill>
                  <a:srgbClr val="2F6B4F"/>
                </a:solidFill>
                <a:latin typeface="Calibri"/>
              </a:rPr>
              <a:t>0.868</a:t>
            </a:r>
          </a:p>
        </p:txBody>
      </p:sp>
      <p:sp>
        <p:nvSpPr>
          <p:cNvPr id="10" name="TextBox 9"/>
          <p:cNvSpPr txBox="1"/>
          <p:nvPr/>
        </p:nvSpPr>
        <p:spPr>
          <a:xfrm>
            <a:off x="987552" y="2971800"/>
            <a:ext cx="2194560" cy="310896"/>
          </a:xfrm>
          <a:prstGeom prst="rect">
            <a:avLst/>
          </a:prstGeom>
          <a:noFill/>
        </p:spPr>
        <p:txBody>
          <a:bodyPr wrap="square" anchor="t" lIns="0" rIns="0" tIns="0" bIns="0">
            <a:spAutoFit/>
          </a:bodyPr>
          <a:lstStyle/>
          <a:p>
            <a:pPr algn="l">
              <a:lnSpc>
                <a:spcPct val="100000"/>
              </a:lnSpc>
            </a:pPr>
            <a:r>
              <a:rPr sz="1250" b="1">
                <a:solidFill>
                  <a:srgbClr val="1F2421"/>
                </a:solidFill>
                <a:latin typeface="Calibri"/>
              </a:rPr>
              <a:t>Test R²</a:t>
            </a:r>
          </a:p>
        </p:txBody>
      </p:sp>
      <p:sp>
        <p:nvSpPr>
          <p:cNvPr id="11" name="TextBox 10"/>
          <p:cNvSpPr txBox="1"/>
          <p:nvPr/>
        </p:nvSpPr>
        <p:spPr>
          <a:xfrm>
            <a:off x="987552" y="3300984"/>
            <a:ext cx="2194560" cy="457200"/>
          </a:xfrm>
          <a:prstGeom prst="rect">
            <a:avLst/>
          </a:prstGeom>
          <a:noFill/>
        </p:spPr>
        <p:txBody>
          <a:bodyPr wrap="square" anchor="t" lIns="0" rIns="0" tIns="0" bIns="0">
            <a:spAutoFit/>
          </a:bodyPr>
          <a:lstStyle/>
          <a:p>
            <a:pPr algn="l">
              <a:lnSpc>
                <a:spcPct val="115000"/>
              </a:lnSpc>
            </a:pPr>
            <a:r>
              <a:rPr sz="1050" b="0">
                <a:solidFill>
                  <a:srgbClr val="637268"/>
                </a:solidFill>
                <a:latin typeface="Calibri"/>
              </a:rPr>
              <a:t>Share of price variance explained on homes never seen in training</a:t>
            </a:r>
          </a:p>
        </p:txBody>
      </p:sp>
      <p:sp>
        <p:nvSpPr>
          <p:cNvPr id="12" name="Rounded Rectangle 11"/>
          <p:cNvSpPr/>
          <p:nvPr/>
        </p:nvSpPr>
        <p:spPr>
          <a:xfrm>
            <a:off x="3465576" y="2203704"/>
            <a:ext cx="2606040" cy="1783080"/>
          </a:xfrm>
          <a:prstGeom prst="roundRect">
            <a:avLst>
              <a:gd name="adj" fmla="val 8000"/>
            </a:avLst>
          </a:prstGeom>
          <a:solidFill>
            <a:srgbClr val="E7EFEA"/>
          </a:solidFill>
          <a:ln w="9525">
            <a:solidFill>
              <a:srgbClr val="DCE3D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3" name="Rectangle 12"/>
          <p:cNvSpPr/>
          <p:nvPr/>
        </p:nvSpPr>
        <p:spPr>
          <a:xfrm>
            <a:off x="3465576" y="2203704"/>
            <a:ext cx="50292" cy="1783080"/>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4" name="TextBox 13"/>
          <p:cNvSpPr txBox="1"/>
          <p:nvPr/>
        </p:nvSpPr>
        <p:spPr>
          <a:xfrm>
            <a:off x="3721608" y="2423160"/>
            <a:ext cx="2194560" cy="502920"/>
          </a:xfrm>
          <a:prstGeom prst="rect">
            <a:avLst/>
          </a:prstGeom>
          <a:noFill/>
        </p:spPr>
        <p:txBody>
          <a:bodyPr wrap="square" anchor="t" lIns="0" rIns="0" tIns="0" bIns="0">
            <a:spAutoFit/>
          </a:bodyPr>
          <a:lstStyle/>
          <a:p>
            <a:pPr algn="l">
              <a:lnSpc>
                <a:spcPct val="100000"/>
              </a:lnSpc>
            </a:pPr>
            <a:r>
              <a:rPr sz="2700" b="1">
                <a:solidFill>
                  <a:srgbClr val="2F6B4F"/>
                </a:solidFill>
                <a:latin typeface="Calibri"/>
              </a:rPr>
              <a:t>$19,039</a:t>
            </a:r>
          </a:p>
        </p:txBody>
      </p:sp>
      <p:sp>
        <p:nvSpPr>
          <p:cNvPr id="15" name="TextBox 14"/>
          <p:cNvSpPr txBox="1"/>
          <p:nvPr/>
        </p:nvSpPr>
        <p:spPr>
          <a:xfrm>
            <a:off x="3721608" y="2971800"/>
            <a:ext cx="2194560" cy="310896"/>
          </a:xfrm>
          <a:prstGeom prst="rect">
            <a:avLst/>
          </a:prstGeom>
          <a:noFill/>
        </p:spPr>
        <p:txBody>
          <a:bodyPr wrap="square" anchor="t" lIns="0" rIns="0" tIns="0" bIns="0">
            <a:spAutoFit/>
          </a:bodyPr>
          <a:lstStyle/>
          <a:p>
            <a:pPr algn="l">
              <a:lnSpc>
                <a:spcPct val="100000"/>
              </a:lnSpc>
            </a:pPr>
            <a:r>
              <a:rPr sz="1250" b="1">
                <a:solidFill>
                  <a:srgbClr val="1F2421"/>
                </a:solidFill>
                <a:latin typeface="Calibri"/>
              </a:rPr>
              <a:t>Typical error</a:t>
            </a:r>
          </a:p>
        </p:txBody>
      </p:sp>
      <p:sp>
        <p:nvSpPr>
          <p:cNvPr id="16" name="TextBox 15"/>
          <p:cNvSpPr txBox="1"/>
          <p:nvPr/>
        </p:nvSpPr>
        <p:spPr>
          <a:xfrm>
            <a:off x="3721608" y="3300984"/>
            <a:ext cx="2194560" cy="457200"/>
          </a:xfrm>
          <a:prstGeom prst="rect">
            <a:avLst/>
          </a:prstGeom>
          <a:noFill/>
        </p:spPr>
        <p:txBody>
          <a:bodyPr wrap="square" anchor="t" lIns="0" rIns="0" tIns="0" bIns="0">
            <a:spAutoFit/>
          </a:bodyPr>
          <a:lstStyle/>
          <a:p>
            <a:pPr algn="l">
              <a:lnSpc>
                <a:spcPct val="115000"/>
              </a:lnSpc>
            </a:pPr>
            <a:r>
              <a:rPr sz="1050" b="0">
                <a:solidFill>
                  <a:srgbClr val="637268"/>
                </a:solidFill>
                <a:latin typeface="Calibri"/>
              </a:rPr>
              <a:t>Average miss in dollars across held-out sales</a:t>
            </a:r>
          </a:p>
        </p:txBody>
      </p:sp>
      <p:sp>
        <p:nvSpPr>
          <p:cNvPr id="17" name="Rounded Rectangle 16"/>
          <p:cNvSpPr/>
          <p:nvPr/>
        </p:nvSpPr>
        <p:spPr>
          <a:xfrm>
            <a:off x="6199632" y="2203704"/>
            <a:ext cx="2606040" cy="1783080"/>
          </a:xfrm>
          <a:prstGeom prst="roundRect">
            <a:avLst>
              <a:gd name="adj" fmla="val 8000"/>
            </a:avLst>
          </a:prstGeom>
          <a:solidFill>
            <a:srgbClr val="E7EFEA"/>
          </a:solidFill>
          <a:ln w="9525">
            <a:solidFill>
              <a:srgbClr val="DCE3D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8" name="Rectangle 17"/>
          <p:cNvSpPr/>
          <p:nvPr/>
        </p:nvSpPr>
        <p:spPr>
          <a:xfrm>
            <a:off x="6199632" y="2203704"/>
            <a:ext cx="50292" cy="1783080"/>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9" name="TextBox 18"/>
          <p:cNvSpPr txBox="1"/>
          <p:nvPr/>
        </p:nvSpPr>
        <p:spPr>
          <a:xfrm>
            <a:off x="6455664" y="2423160"/>
            <a:ext cx="2194560" cy="502920"/>
          </a:xfrm>
          <a:prstGeom prst="rect">
            <a:avLst/>
          </a:prstGeom>
          <a:noFill/>
        </p:spPr>
        <p:txBody>
          <a:bodyPr wrap="square" anchor="t" lIns="0" rIns="0" tIns="0" bIns="0">
            <a:spAutoFit/>
          </a:bodyPr>
          <a:lstStyle/>
          <a:p>
            <a:pPr algn="l">
              <a:lnSpc>
                <a:spcPct val="100000"/>
              </a:lnSpc>
            </a:pPr>
            <a:r>
              <a:rPr sz="2700" b="1">
                <a:solidFill>
                  <a:srgbClr val="2F6B4F"/>
                </a:solidFill>
                <a:latin typeface="Calibri"/>
              </a:rPr>
              <a:t>12.18%</a:t>
            </a:r>
          </a:p>
        </p:txBody>
      </p:sp>
      <p:sp>
        <p:nvSpPr>
          <p:cNvPr id="20" name="TextBox 19"/>
          <p:cNvSpPr txBox="1"/>
          <p:nvPr/>
        </p:nvSpPr>
        <p:spPr>
          <a:xfrm>
            <a:off x="6455664" y="2971800"/>
            <a:ext cx="2194560" cy="310896"/>
          </a:xfrm>
          <a:prstGeom prst="rect">
            <a:avLst/>
          </a:prstGeom>
          <a:noFill/>
        </p:spPr>
        <p:txBody>
          <a:bodyPr wrap="square" anchor="t" lIns="0" rIns="0" tIns="0" bIns="0">
            <a:spAutoFit/>
          </a:bodyPr>
          <a:lstStyle/>
          <a:p>
            <a:pPr algn="l">
              <a:lnSpc>
                <a:spcPct val="100000"/>
              </a:lnSpc>
            </a:pPr>
            <a:r>
              <a:rPr sz="1250" b="1">
                <a:solidFill>
                  <a:srgbClr val="1F2421"/>
                </a:solidFill>
                <a:latin typeface="Calibri"/>
              </a:rPr>
              <a:t>MAPE</a:t>
            </a:r>
          </a:p>
        </p:txBody>
      </p:sp>
      <p:sp>
        <p:nvSpPr>
          <p:cNvPr id="21" name="TextBox 20"/>
          <p:cNvSpPr txBox="1"/>
          <p:nvPr/>
        </p:nvSpPr>
        <p:spPr>
          <a:xfrm>
            <a:off x="6455664" y="3300984"/>
            <a:ext cx="2194560" cy="457200"/>
          </a:xfrm>
          <a:prstGeom prst="rect">
            <a:avLst/>
          </a:prstGeom>
          <a:noFill/>
        </p:spPr>
        <p:txBody>
          <a:bodyPr wrap="square" anchor="t" lIns="0" rIns="0" tIns="0" bIns="0">
            <a:spAutoFit/>
          </a:bodyPr>
          <a:lstStyle/>
          <a:p>
            <a:pPr algn="l">
              <a:lnSpc>
                <a:spcPct val="115000"/>
              </a:lnSpc>
            </a:pPr>
            <a:r>
              <a:rPr sz="1050" b="0">
                <a:solidFill>
                  <a:srgbClr val="637268"/>
                </a:solidFill>
                <a:latin typeface="Calibri"/>
              </a:rPr>
              <a:t>Average miss as a share of sale price</a:t>
            </a:r>
          </a:p>
        </p:txBody>
      </p:sp>
      <p:sp>
        <p:nvSpPr>
          <p:cNvPr id="22" name="Rounded Rectangle 21"/>
          <p:cNvSpPr/>
          <p:nvPr/>
        </p:nvSpPr>
        <p:spPr>
          <a:xfrm>
            <a:off x="8933688" y="2203704"/>
            <a:ext cx="2606040" cy="1783080"/>
          </a:xfrm>
          <a:prstGeom prst="roundRect">
            <a:avLst>
              <a:gd name="adj" fmla="val 8000"/>
            </a:avLst>
          </a:prstGeom>
          <a:solidFill>
            <a:srgbClr val="E7EFEA"/>
          </a:solidFill>
          <a:ln w="9525">
            <a:solidFill>
              <a:srgbClr val="DCE3D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3" name="Rectangle 22"/>
          <p:cNvSpPr/>
          <p:nvPr/>
        </p:nvSpPr>
        <p:spPr>
          <a:xfrm>
            <a:off x="8933688" y="2203704"/>
            <a:ext cx="50292" cy="1783080"/>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4" name="TextBox 23"/>
          <p:cNvSpPr txBox="1"/>
          <p:nvPr/>
        </p:nvSpPr>
        <p:spPr>
          <a:xfrm>
            <a:off x="9189720" y="2423160"/>
            <a:ext cx="2194560" cy="502920"/>
          </a:xfrm>
          <a:prstGeom prst="rect">
            <a:avLst/>
          </a:prstGeom>
          <a:noFill/>
        </p:spPr>
        <p:txBody>
          <a:bodyPr wrap="square" anchor="t" lIns="0" rIns="0" tIns="0" bIns="0">
            <a:spAutoFit/>
          </a:bodyPr>
          <a:lstStyle/>
          <a:p>
            <a:pPr algn="l">
              <a:lnSpc>
                <a:spcPct val="100000"/>
              </a:lnSpc>
            </a:pPr>
            <a:r>
              <a:rPr sz="2700" b="1">
                <a:solidFill>
                  <a:srgbClr val="2F6B4F"/>
                </a:solidFill>
                <a:latin typeface="Calibri"/>
              </a:rPr>
              <a:t>$27,041</a:t>
            </a:r>
          </a:p>
        </p:txBody>
      </p:sp>
      <p:sp>
        <p:nvSpPr>
          <p:cNvPr id="25" name="TextBox 24"/>
          <p:cNvSpPr txBox="1"/>
          <p:nvPr/>
        </p:nvSpPr>
        <p:spPr>
          <a:xfrm>
            <a:off x="9189720" y="2971800"/>
            <a:ext cx="2194560" cy="310896"/>
          </a:xfrm>
          <a:prstGeom prst="rect">
            <a:avLst/>
          </a:prstGeom>
          <a:noFill/>
        </p:spPr>
        <p:txBody>
          <a:bodyPr wrap="square" anchor="t" lIns="0" rIns="0" tIns="0" bIns="0">
            <a:spAutoFit/>
          </a:bodyPr>
          <a:lstStyle/>
          <a:p>
            <a:pPr algn="l">
              <a:lnSpc>
                <a:spcPct val="100000"/>
              </a:lnSpc>
            </a:pPr>
            <a:r>
              <a:rPr sz="1250" b="1">
                <a:solidFill>
                  <a:srgbClr val="1F2421"/>
                </a:solidFill>
                <a:latin typeface="Calibri"/>
              </a:rPr>
              <a:t>RMSE</a:t>
            </a:r>
          </a:p>
        </p:txBody>
      </p:sp>
      <p:sp>
        <p:nvSpPr>
          <p:cNvPr id="26" name="TextBox 25"/>
          <p:cNvSpPr txBox="1"/>
          <p:nvPr/>
        </p:nvSpPr>
        <p:spPr>
          <a:xfrm>
            <a:off x="9189720" y="3300984"/>
            <a:ext cx="2194560" cy="457200"/>
          </a:xfrm>
          <a:prstGeom prst="rect">
            <a:avLst/>
          </a:prstGeom>
          <a:noFill/>
        </p:spPr>
        <p:txBody>
          <a:bodyPr wrap="square" anchor="t" lIns="0" rIns="0" tIns="0" bIns="0">
            <a:spAutoFit/>
          </a:bodyPr>
          <a:lstStyle/>
          <a:p>
            <a:pPr algn="l">
              <a:lnSpc>
                <a:spcPct val="115000"/>
              </a:lnSpc>
            </a:pPr>
            <a:r>
              <a:rPr sz="1050" b="0">
                <a:solidFill>
                  <a:srgbClr val="637268"/>
                </a:solidFill>
                <a:latin typeface="Calibri"/>
              </a:rPr>
              <a:t>Root mean squared error, penalising large misses</a:t>
            </a:r>
          </a:p>
        </p:txBody>
      </p:sp>
      <p:sp>
        <p:nvSpPr>
          <p:cNvPr id="27" name="Rounded Rectangle 26"/>
          <p:cNvSpPr/>
          <p:nvPr/>
        </p:nvSpPr>
        <p:spPr>
          <a:xfrm>
            <a:off x="731520" y="4261104"/>
            <a:ext cx="10728655" cy="1371600"/>
          </a:xfrm>
          <a:prstGeom prst="roundRect">
            <a:avLst>
              <a:gd name="adj" fmla="val 6000"/>
            </a:avLst>
          </a:prstGeom>
          <a:solidFill>
            <a:srgbClr val="E7EF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8" name="Rectangle 27"/>
          <p:cNvSpPr/>
          <p:nvPr/>
        </p:nvSpPr>
        <p:spPr>
          <a:xfrm>
            <a:off x="731520" y="4261104"/>
            <a:ext cx="54864" cy="1371600"/>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9" name="TextBox 28"/>
          <p:cNvSpPr txBox="1"/>
          <p:nvPr/>
        </p:nvSpPr>
        <p:spPr>
          <a:xfrm>
            <a:off x="1024128" y="4489704"/>
            <a:ext cx="10134295" cy="1005840"/>
          </a:xfrm>
          <a:prstGeom prst="rect">
            <a:avLst/>
          </a:prstGeom>
          <a:noFill/>
        </p:spPr>
        <p:txBody>
          <a:bodyPr wrap="square" anchor="t" lIns="0" rIns="0" tIns="0" bIns="0">
            <a:spAutoFit/>
          </a:bodyPr>
          <a:lstStyle/>
          <a:p>
            <a:pPr algn="l">
              <a:lnSpc>
                <a:spcPct val="125000"/>
              </a:lnSpc>
            </a:pPr>
            <a:r>
              <a:rPr sz="1400" b="1">
                <a:solidFill>
                  <a:srgbClr val="1F2421"/>
                </a:solidFill>
                <a:latin typeface="Calibri"/>
              </a:rPr>
              <a:t>In one sentence</a:t>
            </a:r>
          </a:p>
          <a:p>
            <a:pPr algn="l">
              <a:lnSpc>
                <a:spcPct val="125000"/>
              </a:lnSpc>
              <a:spcBef>
                <a:spcPts val="500"/>
              </a:spcBef>
            </a:pPr>
            <a:r>
              <a:rPr sz="1400" b="0">
                <a:solidFill>
                  <a:srgbClr val="1F2421"/>
                </a:solidFill>
                <a:latin typeface="Calibri"/>
              </a:rPr>
              <a:t>On homes it has never seen, the model explains about 87% of the variation in sale price and is typically off by about $19,039 — a 12.2% miss on the median home.</a:t>
            </a:r>
          </a:p>
        </p:txBody>
      </p:sp>
      <p:sp>
        <p:nvSpPr>
          <p:cNvPr id="30" name="TextBox 29"/>
          <p:cNvSpPr txBox="1"/>
          <p:nvPr/>
        </p:nvSpPr>
        <p:spPr>
          <a:xfrm>
            <a:off x="731520" y="6382512"/>
            <a:ext cx="8686800" cy="274320"/>
          </a:xfrm>
          <a:prstGeom prst="rect">
            <a:avLst/>
          </a:prstGeom>
          <a:noFill/>
        </p:spPr>
        <p:txBody>
          <a:bodyPr wrap="square" anchor="t" lIns="0" rIns="0" tIns="0" bIns="0">
            <a:spAutoFit/>
          </a:bodyPr>
          <a:lstStyle/>
          <a:p>
            <a:pPr algn="l">
              <a:lnSpc>
                <a:spcPct val="100000"/>
              </a:lnSpc>
            </a:pPr>
            <a:r>
              <a:rPr sz="950" b="0">
                <a:solidFill>
                  <a:srgbClr val="637268"/>
                </a:solidFill>
                <a:latin typeface="Calibri"/>
              </a:rPr>
              <a:t>HomeValue — House Price Prediction System</a:t>
            </a:r>
          </a:p>
        </p:txBody>
      </p:sp>
      <p:sp>
        <p:nvSpPr>
          <p:cNvPr id="31" name="TextBox 30"/>
          <p:cNvSpPr txBox="1"/>
          <p:nvPr/>
        </p:nvSpPr>
        <p:spPr>
          <a:xfrm>
            <a:off x="10545775" y="6382512"/>
            <a:ext cx="914400" cy="274320"/>
          </a:xfrm>
          <a:prstGeom prst="rect">
            <a:avLst/>
          </a:prstGeom>
          <a:noFill/>
        </p:spPr>
        <p:txBody>
          <a:bodyPr wrap="square" anchor="t" lIns="0" rIns="0" tIns="0" bIns="0">
            <a:spAutoFit/>
          </a:bodyPr>
          <a:lstStyle/>
          <a:p>
            <a:pPr algn="r">
              <a:lnSpc>
                <a:spcPct val="100000"/>
              </a:lnSpc>
            </a:pPr>
            <a:r>
              <a:rPr sz="950" b="1">
                <a:solidFill>
                  <a:srgbClr val="2F6B4F"/>
                </a:solidFill>
                <a:latin typeface="Calibr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 name="TextBox 2"/>
          <p:cNvSpPr txBox="1"/>
          <p:nvPr/>
        </p:nvSpPr>
        <p:spPr>
          <a:xfrm>
            <a:off x="731520" y="502920"/>
            <a:ext cx="10728655" cy="274320"/>
          </a:xfrm>
          <a:prstGeom prst="rect">
            <a:avLst/>
          </a:prstGeom>
          <a:noFill/>
        </p:spPr>
        <p:txBody>
          <a:bodyPr wrap="square" anchor="t" lIns="0" rIns="0" tIns="0" bIns="0">
            <a:spAutoFit/>
          </a:bodyPr>
          <a:lstStyle/>
          <a:p>
            <a:pPr algn="l">
              <a:lnSpc>
                <a:spcPct val="100000"/>
              </a:lnSpc>
            </a:pPr>
            <a:r>
              <a:rPr sz="1100" b="1">
                <a:solidFill>
                  <a:srgbClr val="2F6B4F"/>
                </a:solidFill>
                <a:latin typeface="Calibri"/>
              </a:rPr>
              <a:t>FEATURE IMPORTANCE</a:t>
            </a:r>
          </a:p>
        </p:txBody>
      </p:sp>
      <p:sp>
        <p:nvSpPr>
          <p:cNvPr id="4" name="TextBox 3"/>
          <p:cNvSpPr txBox="1"/>
          <p:nvPr/>
        </p:nvSpPr>
        <p:spPr>
          <a:xfrm>
            <a:off x="731520" y="813816"/>
            <a:ext cx="10728655" cy="566928"/>
          </a:xfrm>
          <a:prstGeom prst="rect">
            <a:avLst/>
          </a:prstGeom>
          <a:noFill/>
        </p:spPr>
        <p:txBody>
          <a:bodyPr wrap="square" anchor="t" lIns="0" rIns="0" tIns="0" bIns="0">
            <a:spAutoFit/>
          </a:bodyPr>
          <a:lstStyle/>
          <a:p>
            <a:pPr algn="l">
              <a:lnSpc>
                <a:spcPct val="100000"/>
              </a:lnSpc>
            </a:pPr>
            <a:r>
              <a:rPr sz="3000" b="1">
                <a:solidFill>
                  <a:srgbClr val="1F2421"/>
                </a:solidFill>
                <a:latin typeface="Calibri"/>
              </a:rPr>
              <a:t>What drives the model</a:t>
            </a:r>
          </a:p>
        </p:txBody>
      </p:sp>
      <p:sp>
        <p:nvSpPr>
          <p:cNvPr id="5" name="TextBox 4"/>
          <p:cNvSpPr txBox="1"/>
          <p:nvPr/>
        </p:nvSpPr>
        <p:spPr>
          <a:xfrm>
            <a:off x="731520" y="1417320"/>
            <a:ext cx="10728655" cy="365760"/>
          </a:xfrm>
          <a:prstGeom prst="rect">
            <a:avLst/>
          </a:prstGeom>
          <a:noFill/>
        </p:spPr>
        <p:txBody>
          <a:bodyPr wrap="square" anchor="t" lIns="0" rIns="0" tIns="0" bIns="0">
            <a:spAutoFit/>
          </a:bodyPr>
          <a:lstStyle/>
          <a:p>
            <a:pPr algn="l">
              <a:lnSpc>
                <a:spcPct val="100000"/>
              </a:lnSpc>
            </a:pPr>
            <a:r>
              <a:rPr sz="1400" b="0">
                <a:solidFill>
                  <a:srgbClr val="637268"/>
                </a:solidFill>
                <a:latin typeface="Calibri"/>
              </a:rPr>
              <a:t>Association with the model's predictions — not a claim of causation.</a:t>
            </a:r>
          </a:p>
        </p:txBody>
      </p:sp>
      <p:sp>
        <p:nvSpPr>
          <p:cNvPr id="6" name="Rectangle 5"/>
          <p:cNvSpPr/>
          <p:nvPr/>
        </p:nvSpPr>
        <p:spPr>
          <a:xfrm>
            <a:off x="731520" y="1874520"/>
            <a:ext cx="10728655" cy="9525"/>
          </a:xfrm>
          <a:prstGeom prst="rect">
            <a:avLst/>
          </a:prstGeom>
          <a:solidFill>
            <a:srgbClr val="DCE3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TextBox 6"/>
          <p:cNvSpPr txBox="1"/>
          <p:nvPr/>
        </p:nvSpPr>
        <p:spPr>
          <a:xfrm>
            <a:off x="731520" y="2258568"/>
            <a:ext cx="1965960" cy="329184"/>
          </a:xfrm>
          <a:prstGeom prst="rect">
            <a:avLst/>
          </a:prstGeom>
          <a:noFill/>
        </p:spPr>
        <p:txBody>
          <a:bodyPr wrap="square" anchor="t" lIns="0" rIns="0" tIns="0" bIns="0">
            <a:spAutoFit/>
          </a:bodyPr>
          <a:lstStyle/>
          <a:p>
            <a:pPr algn="l">
              <a:lnSpc>
                <a:spcPct val="100000"/>
              </a:lnSpc>
            </a:pPr>
            <a:r>
              <a:rPr sz="1250" b="0">
                <a:solidFill>
                  <a:srgbClr val="1F2421"/>
                </a:solidFill>
                <a:latin typeface="Calibri"/>
              </a:rPr>
              <a:t>Parking / Garage</a:t>
            </a:r>
          </a:p>
        </p:txBody>
      </p:sp>
      <p:sp>
        <p:nvSpPr>
          <p:cNvPr id="8" name="Rectangle 7"/>
          <p:cNvSpPr/>
          <p:nvPr/>
        </p:nvSpPr>
        <p:spPr>
          <a:xfrm>
            <a:off x="2697480" y="2221992"/>
            <a:ext cx="2406195" cy="95097"/>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9" name="Rectangle 8"/>
          <p:cNvSpPr/>
          <p:nvPr/>
        </p:nvSpPr>
        <p:spPr>
          <a:xfrm>
            <a:off x="2697480" y="2335377"/>
            <a:ext cx="641469" cy="95097"/>
          </a:xfrm>
          <a:prstGeom prst="rect">
            <a:avLst/>
          </a:prstGeom>
          <a:solidFill>
            <a:srgbClr val="7FA8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0" name="TextBox 9"/>
          <p:cNvSpPr txBox="1"/>
          <p:nvPr/>
        </p:nvSpPr>
        <p:spPr>
          <a:xfrm>
            <a:off x="6163056" y="2258568"/>
            <a:ext cx="1188720" cy="329184"/>
          </a:xfrm>
          <a:prstGeom prst="rect">
            <a:avLst/>
          </a:prstGeom>
          <a:noFill/>
        </p:spPr>
        <p:txBody>
          <a:bodyPr wrap="square" anchor="t" lIns="0" rIns="0" tIns="0" bIns="0">
            <a:spAutoFit/>
          </a:bodyPr>
          <a:lstStyle/>
          <a:p>
            <a:pPr algn="l">
              <a:lnSpc>
                <a:spcPct val="100000"/>
              </a:lnSpc>
            </a:pPr>
            <a:r>
              <a:rPr sz="1200" b="1">
                <a:solidFill>
                  <a:srgbClr val="1F2421"/>
                </a:solidFill>
                <a:latin typeface="Calibri"/>
              </a:rPr>
              <a:t>35.1%</a:t>
            </a:r>
          </a:p>
        </p:txBody>
      </p:sp>
      <p:sp>
        <p:nvSpPr>
          <p:cNvPr id="11" name="TextBox 10"/>
          <p:cNvSpPr txBox="1"/>
          <p:nvPr/>
        </p:nvSpPr>
        <p:spPr>
          <a:xfrm>
            <a:off x="731520" y="2670048"/>
            <a:ext cx="1965960" cy="329184"/>
          </a:xfrm>
          <a:prstGeom prst="rect">
            <a:avLst/>
          </a:prstGeom>
          <a:noFill/>
        </p:spPr>
        <p:txBody>
          <a:bodyPr wrap="square" anchor="t" lIns="0" rIns="0" tIns="0" bIns="0">
            <a:spAutoFit/>
          </a:bodyPr>
          <a:lstStyle/>
          <a:p>
            <a:pPr algn="l">
              <a:lnSpc>
                <a:spcPct val="100000"/>
              </a:lnSpc>
            </a:pPr>
            <a:r>
              <a:rPr sz="1250" b="0">
                <a:solidFill>
                  <a:srgbClr val="1F2421"/>
                </a:solidFill>
                <a:latin typeface="Calibri"/>
              </a:rPr>
              <a:t>Living Area (sq ft)</a:t>
            </a:r>
          </a:p>
        </p:txBody>
      </p:sp>
      <p:sp>
        <p:nvSpPr>
          <p:cNvPr id="12" name="Rectangle 11"/>
          <p:cNvSpPr/>
          <p:nvPr/>
        </p:nvSpPr>
        <p:spPr>
          <a:xfrm>
            <a:off x="2697480" y="2633472"/>
            <a:ext cx="2115615" cy="95097"/>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3" name="Rectangle 12"/>
          <p:cNvSpPr/>
          <p:nvPr/>
        </p:nvSpPr>
        <p:spPr>
          <a:xfrm>
            <a:off x="2697480" y="2746857"/>
            <a:ext cx="3337560" cy="95097"/>
          </a:xfrm>
          <a:prstGeom prst="rect">
            <a:avLst/>
          </a:prstGeom>
          <a:solidFill>
            <a:srgbClr val="7FA8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4" name="TextBox 13"/>
          <p:cNvSpPr txBox="1"/>
          <p:nvPr/>
        </p:nvSpPr>
        <p:spPr>
          <a:xfrm>
            <a:off x="6163056" y="2670048"/>
            <a:ext cx="1188720" cy="329184"/>
          </a:xfrm>
          <a:prstGeom prst="rect">
            <a:avLst/>
          </a:prstGeom>
          <a:noFill/>
        </p:spPr>
        <p:txBody>
          <a:bodyPr wrap="square" anchor="t" lIns="0" rIns="0" tIns="0" bIns="0">
            <a:spAutoFit/>
          </a:bodyPr>
          <a:lstStyle/>
          <a:p>
            <a:pPr algn="l">
              <a:lnSpc>
                <a:spcPct val="100000"/>
              </a:lnSpc>
            </a:pPr>
            <a:r>
              <a:rPr sz="1200" b="1">
                <a:solidFill>
                  <a:srgbClr val="1F2421"/>
                </a:solidFill>
                <a:latin typeface="Calibri"/>
              </a:rPr>
              <a:t>30.9%</a:t>
            </a:r>
          </a:p>
        </p:txBody>
      </p:sp>
      <p:sp>
        <p:nvSpPr>
          <p:cNvPr id="15" name="TextBox 14"/>
          <p:cNvSpPr txBox="1"/>
          <p:nvPr/>
        </p:nvSpPr>
        <p:spPr>
          <a:xfrm>
            <a:off x="731520" y="3081528"/>
            <a:ext cx="1965960" cy="329184"/>
          </a:xfrm>
          <a:prstGeom prst="rect">
            <a:avLst/>
          </a:prstGeom>
          <a:noFill/>
        </p:spPr>
        <p:txBody>
          <a:bodyPr wrap="square" anchor="t" lIns="0" rIns="0" tIns="0" bIns="0">
            <a:spAutoFit/>
          </a:bodyPr>
          <a:lstStyle/>
          <a:p>
            <a:pPr algn="l">
              <a:lnSpc>
                <a:spcPct val="100000"/>
              </a:lnSpc>
            </a:pPr>
            <a:r>
              <a:rPr sz="1250" b="0">
                <a:solidFill>
                  <a:srgbClr val="1F2421"/>
                </a:solidFill>
                <a:latin typeface="Calibri"/>
              </a:rPr>
              <a:t>Property Age (years)</a:t>
            </a:r>
          </a:p>
        </p:txBody>
      </p:sp>
      <p:sp>
        <p:nvSpPr>
          <p:cNvPr id="16" name="Rectangle 15"/>
          <p:cNvSpPr/>
          <p:nvPr/>
        </p:nvSpPr>
        <p:spPr>
          <a:xfrm>
            <a:off x="2697480" y="3044952"/>
            <a:ext cx="921769" cy="95097"/>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7" name="Rectangle 16"/>
          <p:cNvSpPr/>
          <p:nvPr/>
        </p:nvSpPr>
        <p:spPr>
          <a:xfrm>
            <a:off x="2697480" y="3158337"/>
            <a:ext cx="1826406" cy="95097"/>
          </a:xfrm>
          <a:prstGeom prst="rect">
            <a:avLst/>
          </a:prstGeom>
          <a:solidFill>
            <a:srgbClr val="7FA8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8" name="TextBox 17"/>
          <p:cNvSpPr txBox="1"/>
          <p:nvPr/>
        </p:nvSpPr>
        <p:spPr>
          <a:xfrm>
            <a:off x="6163056" y="3081528"/>
            <a:ext cx="1188720" cy="329184"/>
          </a:xfrm>
          <a:prstGeom prst="rect">
            <a:avLst/>
          </a:prstGeom>
          <a:noFill/>
        </p:spPr>
        <p:txBody>
          <a:bodyPr wrap="square" anchor="t" lIns="0" rIns="0" tIns="0" bIns="0">
            <a:spAutoFit/>
          </a:bodyPr>
          <a:lstStyle/>
          <a:p>
            <a:pPr algn="l">
              <a:lnSpc>
                <a:spcPct val="100000"/>
              </a:lnSpc>
            </a:pPr>
            <a:r>
              <a:rPr sz="1200" b="1">
                <a:solidFill>
                  <a:srgbClr val="1F2421"/>
                </a:solidFill>
                <a:latin typeface="Calibri"/>
              </a:rPr>
              <a:t>13.4%</a:t>
            </a:r>
          </a:p>
        </p:txBody>
      </p:sp>
      <p:sp>
        <p:nvSpPr>
          <p:cNvPr id="19" name="TextBox 18"/>
          <p:cNvSpPr txBox="1"/>
          <p:nvPr/>
        </p:nvSpPr>
        <p:spPr>
          <a:xfrm>
            <a:off x="731520" y="3493008"/>
            <a:ext cx="1965960" cy="329184"/>
          </a:xfrm>
          <a:prstGeom prst="rect">
            <a:avLst/>
          </a:prstGeom>
          <a:noFill/>
        </p:spPr>
        <p:txBody>
          <a:bodyPr wrap="square" anchor="t" lIns="0" rIns="0" tIns="0" bIns="0">
            <a:spAutoFit/>
          </a:bodyPr>
          <a:lstStyle/>
          <a:p>
            <a:pPr algn="l">
              <a:lnSpc>
                <a:spcPct val="100000"/>
              </a:lnSpc>
            </a:pPr>
            <a:r>
              <a:rPr sz="1250" b="0">
                <a:solidFill>
                  <a:srgbClr val="1F2421"/>
                </a:solidFill>
                <a:latin typeface="Calibri"/>
              </a:rPr>
              <a:t>Bathrooms</a:t>
            </a:r>
          </a:p>
        </p:txBody>
      </p:sp>
      <p:sp>
        <p:nvSpPr>
          <p:cNvPr id="20" name="Rectangle 19"/>
          <p:cNvSpPr/>
          <p:nvPr/>
        </p:nvSpPr>
        <p:spPr>
          <a:xfrm>
            <a:off x="2697480" y="3456432"/>
            <a:ext cx="479046" cy="95097"/>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1" name="Rectangle 20"/>
          <p:cNvSpPr/>
          <p:nvPr/>
        </p:nvSpPr>
        <p:spPr>
          <a:xfrm>
            <a:off x="2697480" y="3569817"/>
            <a:ext cx="250830" cy="95097"/>
          </a:xfrm>
          <a:prstGeom prst="rect">
            <a:avLst/>
          </a:prstGeom>
          <a:solidFill>
            <a:srgbClr val="7FA8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2" name="TextBox 21"/>
          <p:cNvSpPr txBox="1"/>
          <p:nvPr/>
        </p:nvSpPr>
        <p:spPr>
          <a:xfrm>
            <a:off x="6163056" y="3493008"/>
            <a:ext cx="1188720" cy="329184"/>
          </a:xfrm>
          <a:prstGeom prst="rect">
            <a:avLst/>
          </a:prstGeom>
          <a:noFill/>
        </p:spPr>
        <p:txBody>
          <a:bodyPr wrap="square" anchor="t" lIns="0" rIns="0" tIns="0" bIns="0">
            <a:spAutoFit/>
          </a:bodyPr>
          <a:lstStyle/>
          <a:p>
            <a:pPr algn="l">
              <a:lnSpc>
                <a:spcPct val="100000"/>
              </a:lnSpc>
            </a:pPr>
            <a:r>
              <a:rPr sz="1200" b="1">
                <a:solidFill>
                  <a:srgbClr val="1F2421"/>
                </a:solidFill>
                <a:latin typeface="Calibri"/>
              </a:rPr>
              <a:t>7.0%</a:t>
            </a:r>
          </a:p>
        </p:txBody>
      </p:sp>
      <p:sp>
        <p:nvSpPr>
          <p:cNvPr id="23" name="TextBox 22"/>
          <p:cNvSpPr txBox="1"/>
          <p:nvPr/>
        </p:nvSpPr>
        <p:spPr>
          <a:xfrm>
            <a:off x="731520" y="3904488"/>
            <a:ext cx="1965960" cy="329184"/>
          </a:xfrm>
          <a:prstGeom prst="rect">
            <a:avLst/>
          </a:prstGeom>
          <a:noFill/>
        </p:spPr>
        <p:txBody>
          <a:bodyPr wrap="square" anchor="t" lIns="0" rIns="0" tIns="0" bIns="0">
            <a:spAutoFit/>
          </a:bodyPr>
          <a:lstStyle/>
          <a:p>
            <a:pPr algn="l">
              <a:lnSpc>
                <a:spcPct val="100000"/>
              </a:lnSpc>
            </a:pPr>
            <a:r>
              <a:rPr sz="1250" b="0">
                <a:solidFill>
                  <a:srgbClr val="1F2421"/>
                </a:solidFill>
                <a:latin typeface="Calibri"/>
              </a:rPr>
              <a:t>Lot Size (sq ft)</a:t>
            </a:r>
          </a:p>
        </p:txBody>
      </p:sp>
      <p:sp>
        <p:nvSpPr>
          <p:cNvPr id="24" name="Rectangle 23"/>
          <p:cNvSpPr/>
          <p:nvPr/>
        </p:nvSpPr>
        <p:spPr>
          <a:xfrm>
            <a:off x="2697480" y="3867912"/>
            <a:ext cx="357742" cy="95097"/>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5" name="Rectangle 24"/>
          <p:cNvSpPr/>
          <p:nvPr/>
        </p:nvSpPr>
        <p:spPr>
          <a:xfrm>
            <a:off x="2697480" y="3981297"/>
            <a:ext cx="226159" cy="95097"/>
          </a:xfrm>
          <a:prstGeom prst="rect">
            <a:avLst/>
          </a:prstGeom>
          <a:solidFill>
            <a:srgbClr val="7FA8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6" name="TextBox 25"/>
          <p:cNvSpPr txBox="1"/>
          <p:nvPr/>
        </p:nvSpPr>
        <p:spPr>
          <a:xfrm>
            <a:off x="6163056" y="3904488"/>
            <a:ext cx="1188720" cy="329184"/>
          </a:xfrm>
          <a:prstGeom prst="rect">
            <a:avLst/>
          </a:prstGeom>
          <a:noFill/>
        </p:spPr>
        <p:txBody>
          <a:bodyPr wrap="square" anchor="t" lIns="0" rIns="0" tIns="0" bIns="0">
            <a:spAutoFit/>
          </a:bodyPr>
          <a:lstStyle/>
          <a:p>
            <a:pPr algn="l">
              <a:lnSpc>
                <a:spcPct val="100000"/>
              </a:lnSpc>
            </a:pPr>
            <a:r>
              <a:rPr sz="1200" b="1">
                <a:solidFill>
                  <a:srgbClr val="1F2421"/>
                </a:solidFill>
                <a:latin typeface="Calibri"/>
              </a:rPr>
              <a:t>5.2%</a:t>
            </a:r>
          </a:p>
        </p:txBody>
      </p:sp>
      <p:sp>
        <p:nvSpPr>
          <p:cNvPr id="27" name="TextBox 26"/>
          <p:cNvSpPr txBox="1"/>
          <p:nvPr/>
        </p:nvSpPr>
        <p:spPr>
          <a:xfrm>
            <a:off x="731520" y="4315968"/>
            <a:ext cx="1965960" cy="329184"/>
          </a:xfrm>
          <a:prstGeom prst="rect">
            <a:avLst/>
          </a:prstGeom>
          <a:noFill/>
        </p:spPr>
        <p:txBody>
          <a:bodyPr wrap="square" anchor="t" lIns="0" rIns="0" tIns="0" bIns="0">
            <a:spAutoFit/>
          </a:bodyPr>
          <a:lstStyle/>
          <a:p>
            <a:pPr algn="l">
              <a:lnSpc>
                <a:spcPct val="100000"/>
              </a:lnSpc>
            </a:pPr>
            <a:r>
              <a:rPr sz="1250" b="0">
                <a:solidFill>
                  <a:srgbClr val="1F2421"/>
                </a:solidFill>
                <a:latin typeface="Calibri"/>
              </a:rPr>
              <a:t>Neighborhood / Location</a:t>
            </a:r>
          </a:p>
        </p:txBody>
      </p:sp>
      <p:sp>
        <p:nvSpPr>
          <p:cNvPr id="28" name="Rectangle 27"/>
          <p:cNvSpPr/>
          <p:nvPr/>
        </p:nvSpPr>
        <p:spPr>
          <a:xfrm>
            <a:off x="2697480" y="4279392"/>
            <a:ext cx="255628" cy="95097"/>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9" name="Rectangle 28"/>
          <p:cNvSpPr/>
          <p:nvPr/>
        </p:nvSpPr>
        <p:spPr>
          <a:xfrm>
            <a:off x="2697480" y="4392777"/>
            <a:ext cx="142548" cy="95097"/>
          </a:xfrm>
          <a:prstGeom prst="rect">
            <a:avLst/>
          </a:prstGeom>
          <a:solidFill>
            <a:srgbClr val="7FA8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0" name="TextBox 29"/>
          <p:cNvSpPr txBox="1"/>
          <p:nvPr/>
        </p:nvSpPr>
        <p:spPr>
          <a:xfrm>
            <a:off x="6163056" y="4315968"/>
            <a:ext cx="1188720" cy="329184"/>
          </a:xfrm>
          <a:prstGeom prst="rect">
            <a:avLst/>
          </a:prstGeom>
          <a:noFill/>
        </p:spPr>
        <p:txBody>
          <a:bodyPr wrap="square" anchor="t" lIns="0" rIns="0" tIns="0" bIns="0">
            <a:spAutoFit/>
          </a:bodyPr>
          <a:lstStyle/>
          <a:p>
            <a:pPr algn="l">
              <a:lnSpc>
                <a:spcPct val="100000"/>
              </a:lnSpc>
            </a:pPr>
            <a:r>
              <a:rPr sz="1200" b="1">
                <a:solidFill>
                  <a:srgbClr val="1F2421"/>
                </a:solidFill>
                <a:latin typeface="Calibri"/>
              </a:rPr>
              <a:t>3.7%</a:t>
            </a:r>
          </a:p>
        </p:txBody>
      </p:sp>
      <p:sp>
        <p:nvSpPr>
          <p:cNvPr id="31" name="TextBox 30"/>
          <p:cNvSpPr txBox="1"/>
          <p:nvPr/>
        </p:nvSpPr>
        <p:spPr>
          <a:xfrm>
            <a:off x="731520" y="4727448"/>
            <a:ext cx="1965960" cy="329184"/>
          </a:xfrm>
          <a:prstGeom prst="rect">
            <a:avLst/>
          </a:prstGeom>
          <a:noFill/>
        </p:spPr>
        <p:txBody>
          <a:bodyPr wrap="square" anchor="t" lIns="0" rIns="0" tIns="0" bIns="0">
            <a:spAutoFit/>
          </a:bodyPr>
          <a:lstStyle/>
          <a:p>
            <a:pPr algn="l">
              <a:lnSpc>
                <a:spcPct val="100000"/>
              </a:lnSpc>
            </a:pPr>
            <a:r>
              <a:rPr sz="1250" b="0">
                <a:solidFill>
                  <a:srgbClr val="1F2421"/>
                </a:solidFill>
                <a:latin typeface="Calibri"/>
              </a:rPr>
              <a:t>Bedrooms</a:t>
            </a:r>
          </a:p>
        </p:txBody>
      </p:sp>
      <p:sp>
        <p:nvSpPr>
          <p:cNvPr id="32" name="Rectangle 31"/>
          <p:cNvSpPr/>
          <p:nvPr/>
        </p:nvSpPr>
        <p:spPr>
          <a:xfrm>
            <a:off x="2697480" y="4690872"/>
            <a:ext cx="174073" cy="95097"/>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3" name="Rectangle 32"/>
          <p:cNvSpPr/>
          <p:nvPr/>
        </p:nvSpPr>
        <p:spPr>
          <a:xfrm>
            <a:off x="2697480" y="4804257"/>
            <a:ext cx="222732" cy="95097"/>
          </a:xfrm>
          <a:prstGeom prst="rect">
            <a:avLst/>
          </a:prstGeom>
          <a:solidFill>
            <a:srgbClr val="7FA8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4" name="TextBox 33"/>
          <p:cNvSpPr txBox="1"/>
          <p:nvPr/>
        </p:nvSpPr>
        <p:spPr>
          <a:xfrm>
            <a:off x="6163056" y="4727448"/>
            <a:ext cx="1188720" cy="329184"/>
          </a:xfrm>
          <a:prstGeom prst="rect">
            <a:avLst/>
          </a:prstGeom>
          <a:noFill/>
        </p:spPr>
        <p:txBody>
          <a:bodyPr wrap="square" anchor="t" lIns="0" rIns="0" tIns="0" bIns="0">
            <a:spAutoFit/>
          </a:bodyPr>
          <a:lstStyle/>
          <a:p>
            <a:pPr algn="l">
              <a:lnSpc>
                <a:spcPct val="100000"/>
              </a:lnSpc>
            </a:pPr>
            <a:r>
              <a:rPr sz="1200" b="1">
                <a:solidFill>
                  <a:srgbClr val="1F2421"/>
                </a:solidFill>
                <a:latin typeface="Calibri"/>
              </a:rPr>
              <a:t>2.5%</a:t>
            </a:r>
          </a:p>
        </p:txBody>
      </p:sp>
      <p:sp>
        <p:nvSpPr>
          <p:cNvPr id="35" name="TextBox 34"/>
          <p:cNvSpPr txBox="1"/>
          <p:nvPr/>
        </p:nvSpPr>
        <p:spPr>
          <a:xfrm>
            <a:off x="731520" y="5138928"/>
            <a:ext cx="1965960" cy="329184"/>
          </a:xfrm>
          <a:prstGeom prst="rect">
            <a:avLst/>
          </a:prstGeom>
          <a:noFill/>
        </p:spPr>
        <p:txBody>
          <a:bodyPr wrap="square" anchor="t" lIns="0" rIns="0" tIns="0" bIns="0">
            <a:spAutoFit/>
          </a:bodyPr>
          <a:lstStyle/>
          <a:p>
            <a:pPr algn="l">
              <a:lnSpc>
                <a:spcPct val="100000"/>
              </a:lnSpc>
            </a:pPr>
            <a:r>
              <a:rPr sz="1250" b="0">
                <a:solidFill>
                  <a:srgbClr val="1F2421"/>
                </a:solidFill>
                <a:latin typeface="Calibri"/>
              </a:rPr>
              <a:t>Floors / Stories</a:t>
            </a:r>
          </a:p>
        </p:txBody>
      </p:sp>
      <p:sp>
        <p:nvSpPr>
          <p:cNvPr id="36" name="Rectangle 35"/>
          <p:cNvSpPr/>
          <p:nvPr/>
        </p:nvSpPr>
        <p:spPr>
          <a:xfrm>
            <a:off x="2697480" y="5102352"/>
            <a:ext cx="86351" cy="95097"/>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7" name="Rectangle 36"/>
          <p:cNvSpPr/>
          <p:nvPr/>
        </p:nvSpPr>
        <p:spPr>
          <a:xfrm>
            <a:off x="2697480" y="5215737"/>
            <a:ext cx="152143" cy="95097"/>
          </a:xfrm>
          <a:prstGeom prst="rect">
            <a:avLst/>
          </a:prstGeom>
          <a:solidFill>
            <a:srgbClr val="7FA8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8" name="TextBox 37"/>
          <p:cNvSpPr txBox="1"/>
          <p:nvPr/>
        </p:nvSpPr>
        <p:spPr>
          <a:xfrm>
            <a:off x="6163056" y="5138928"/>
            <a:ext cx="1188720" cy="329184"/>
          </a:xfrm>
          <a:prstGeom prst="rect">
            <a:avLst/>
          </a:prstGeom>
          <a:noFill/>
        </p:spPr>
        <p:txBody>
          <a:bodyPr wrap="square" anchor="t" lIns="0" rIns="0" tIns="0" bIns="0">
            <a:spAutoFit/>
          </a:bodyPr>
          <a:lstStyle/>
          <a:p>
            <a:pPr algn="l">
              <a:lnSpc>
                <a:spcPct val="100000"/>
              </a:lnSpc>
            </a:pPr>
            <a:r>
              <a:rPr sz="1200" b="1">
                <a:solidFill>
                  <a:srgbClr val="1F2421"/>
                </a:solidFill>
                <a:latin typeface="Calibri"/>
              </a:rPr>
              <a:t>1.3%</a:t>
            </a:r>
          </a:p>
        </p:txBody>
      </p:sp>
      <p:sp>
        <p:nvSpPr>
          <p:cNvPr id="39" name="TextBox 38"/>
          <p:cNvSpPr txBox="1"/>
          <p:nvPr/>
        </p:nvSpPr>
        <p:spPr>
          <a:xfrm>
            <a:off x="731520" y="5550408"/>
            <a:ext cx="1965960" cy="329184"/>
          </a:xfrm>
          <a:prstGeom prst="rect">
            <a:avLst/>
          </a:prstGeom>
          <a:noFill/>
        </p:spPr>
        <p:txBody>
          <a:bodyPr wrap="square" anchor="t" lIns="0" rIns="0" tIns="0" bIns="0">
            <a:spAutoFit/>
          </a:bodyPr>
          <a:lstStyle/>
          <a:p>
            <a:pPr algn="l">
              <a:lnSpc>
                <a:spcPct val="100000"/>
              </a:lnSpc>
            </a:pPr>
            <a:r>
              <a:rPr sz="1250" b="0">
                <a:solidFill>
                  <a:srgbClr val="1F2421"/>
                </a:solidFill>
                <a:latin typeface="Calibri"/>
              </a:rPr>
              <a:t>Property Type</a:t>
            </a:r>
          </a:p>
        </p:txBody>
      </p:sp>
      <p:sp>
        <p:nvSpPr>
          <p:cNvPr id="40" name="Rectangle 39"/>
          <p:cNvSpPr/>
          <p:nvPr/>
        </p:nvSpPr>
        <p:spPr>
          <a:xfrm>
            <a:off x="2697480" y="5513832"/>
            <a:ext cx="56882" cy="95097"/>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41" name="Rectangle 40"/>
          <p:cNvSpPr/>
          <p:nvPr/>
        </p:nvSpPr>
        <p:spPr>
          <a:xfrm>
            <a:off x="2697480" y="5627217"/>
            <a:ext cx="54141" cy="95097"/>
          </a:xfrm>
          <a:prstGeom prst="rect">
            <a:avLst/>
          </a:prstGeom>
          <a:solidFill>
            <a:srgbClr val="7FA8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42" name="TextBox 41"/>
          <p:cNvSpPr txBox="1"/>
          <p:nvPr/>
        </p:nvSpPr>
        <p:spPr>
          <a:xfrm>
            <a:off x="6163056" y="5550408"/>
            <a:ext cx="1188720" cy="329184"/>
          </a:xfrm>
          <a:prstGeom prst="rect">
            <a:avLst/>
          </a:prstGeom>
          <a:noFill/>
        </p:spPr>
        <p:txBody>
          <a:bodyPr wrap="square" anchor="t" lIns="0" rIns="0" tIns="0" bIns="0">
            <a:spAutoFit/>
          </a:bodyPr>
          <a:lstStyle/>
          <a:p>
            <a:pPr algn="l">
              <a:lnSpc>
                <a:spcPct val="100000"/>
              </a:lnSpc>
            </a:pPr>
            <a:r>
              <a:rPr sz="1200" b="1">
                <a:solidFill>
                  <a:srgbClr val="1F2421"/>
                </a:solidFill>
                <a:latin typeface="Calibri"/>
              </a:rPr>
              <a:t>0.8%</a:t>
            </a:r>
          </a:p>
        </p:txBody>
      </p:sp>
      <p:sp>
        <p:nvSpPr>
          <p:cNvPr id="43" name="Rectangle 42"/>
          <p:cNvSpPr/>
          <p:nvPr/>
        </p:nvSpPr>
        <p:spPr>
          <a:xfrm>
            <a:off x="731520" y="6044184"/>
            <a:ext cx="173736" cy="173736"/>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44" name="TextBox 43"/>
          <p:cNvSpPr txBox="1"/>
          <p:nvPr/>
        </p:nvSpPr>
        <p:spPr>
          <a:xfrm>
            <a:off x="978408" y="5998464"/>
            <a:ext cx="2194560" cy="256032"/>
          </a:xfrm>
          <a:prstGeom prst="rect">
            <a:avLst/>
          </a:prstGeom>
          <a:noFill/>
        </p:spPr>
        <p:txBody>
          <a:bodyPr wrap="square" anchor="t" lIns="0" rIns="0" tIns="0" bIns="0">
            <a:spAutoFit/>
          </a:bodyPr>
          <a:lstStyle/>
          <a:p>
            <a:pPr algn="l">
              <a:lnSpc>
                <a:spcPct val="100000"/>
              </a:lnSpc>
            </a:pPr>
            <a:r>
              <a:rPr sz="1050" b="0">
                <a:solidFill>
                  <a:srgbClr val="637268"/>
                </a:solidFill>
                <a:latin typeface="Calibri"/>
              </a:rPr>
              <a:t>Impurity importance</a:t>
            </a:r>
          </a:p>
        </p:txBody>
      </p:sp>
      <p:sp>
        <p:nvSpPr>
          <p:cNvPr id="45" name="Rectangle 44"/>
          <p:cNvSpPr/>
          <p:nvPr/>
        </p:nvSpPr>
        <p:spPr>
          <a:xfrm>
            <a:off x="3616269" y="6044184"/>
            <a:ext cx="173736" cy="173736"/>
          </a:xfrm>
          <a:prstGeom prst="rect">
            <a:avLst/>
          </a:prstGeom>
          <a:solidFill>
            <a:srgbClr val="7FA8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46" name="TextBox 45"/>
          <p:cNvSpPr txBox="1"/>
          <p:nvPr/>
        </p:nvSpPr>
        <p:spPr>
          <a:xfrm>
            <a:off x="3863157" y="5998464"/>
            <a:ext cx="2194560" cy="256032"/>
          </a:xfrm>
          <a:prstGeom prst="rect">
            <a:avLst/>
          </a:prstGeom>
          <a:noFill/>
        </p:spPr>
        <p:txBody>
          <a:bodyPr wrap="square" anchor="t" lIns="0" rIns="0" tIns="0" bIns="0">
            <a:spAutoFit/>
          </a:bodyPr>
          <a:lstStyle/>
          <a:p>
            <a:pPr algn="l">
              <a:lnSpc>
                <a:spcPct val="100000"/>
              </a:lnSpc>
            </a:pPr>
            <a:r>
              <a:rPr sz="1050" b="0">
                <a:solidFill>
                  <a:srgbClr val="637268"/>
                </a:solidFill>
                <a:latin typeface="Calibri"/>
              </a:rPr>
              <a:t>Permutation importance</a:t>
            </a:r>
          </a:p>
        </p:txBody>
      </p:sp>
      <p:sp>
        <p:nvSpPr>
          <p:cNvPr id="47" name="Rounded Rectangle 46"/>
          <p:cNvSpPr/>
          <p:nvPr/>
        </p:nvSpPr>
        <p:spPr>
          <a:xfrm>
            <a:off x="7635240" y="2203704"/>
            <a:ext cx="3913632" cy="3931920"/>
          </a:xfrm>
          <a:prstGeom prst="roundRect">
            <a:avLst>
              <a:gd name="adj" fmla="val 6000"/>
            </a:avLst>
          </a:prstGeom>
          <a:solidFill>
            <a:srgbClr val="FBF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48" name="Rectangle 47"/>
          <p:cNvSpPr/>
          <p:nvPr/>
        </p:nvSpPr>
        <p:spPr>
          <a:xfrm>
            <a:off x="7635240" y="2203704"/>
            <a:ext cx="54864" cy="3931920"/>
          </a:xfrm>
          <a:prstGeom prst="rect">
            <a:avLst/>
          </a:prstGeom>
          <a:solidFill>
            <a:srgbClr val="8C4A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49" name="TextBox 48"/>
          <p:cNvSpPr txBox="1"/>
          <p:nvPr/>
        </p:nvSpPr>
        <p:spPr>
          <a:xfrm>
            <a:off x="7936992" y="2478024"/>
            <a:ext cx="3337560" cy="3383280"/>
          </a:xfrm>
          <a:prstGeom prst="rect">
            <a:avLst/>
          </a:prstGeom>
          <a:noFill/>
        </p:spPr>
        <p:txBody>
          <a:bodyPr wrap="square" anchor="t" lIns="0" rIns="0" tIns="0" bIns="0">
            <a:spAutoFit/>
          </a:bodyPr>
          <a:lstStyle/>
          <a:p>
            <a:pPr algn="l">
              <a:lnSpc>
                <a:spcPct val="120000"/>
              </a:lnSpc>
            </a:pPr>
            <a:r>
              <a:rPr sz="1500" b="1">
                <a:solidFill>
                  <a:srgbClr val="1F2421"/>
                </a:solidFill>
                <a:latin typeface="Calibri"/>
              </a:rPr>
              <a:t>The two measures disagree</a:t>
            </a:r>
          </a:p>
          <a:p>
            <a:pPr algn="l">
              <a:lnSpc>
                <a:spcPct val="120000"/>
              </a:lnSpc>
              <a:spcBef>
                <a:spcPts val="800"/>
              </a:spcBef>
            </a:pPr>
            <a:r>
              <a:rPr sz="1200" b="0">
                <a:solidFill>
                  <a:srgbClr val="1F2421"/>
                </a:solidFill>
                <a:latin typeface="Calibri"/>
              </a:rPr>
              <a:t>Garage ranks first on impurity importance (35.1%) but only 9.4% on permutation. Impurity importance favours features with many categories, and parking has four.</a:t>
            </a:r>
          </a:p>
          <a:p>
            <a:pPr algn="l">
              <a:lnSpc>
                <a:spcPct val="120000"/>
              </a:lnSpc>
              <a:spcBef>
                <a:spcPts val="800"/>
              </a:spcBef>
            </a:pPr>
            <a:r>
              <a:rPr sz="1200" b="0">
                <a:solidFill>
                  <a:srgbClr val="1F2421"/>
                </a:solidFill>
                <a:latin typeface="Calibri"/>
              </a:rPr>
              <a:t>Permutation importance — how much test error rises when a feature is shuffled — is the more trustworthy ranking here.</a:t>
            </a:r>
          </a:p>
          <a:p>
            <a:pPr algn="l">
              <a:lnSpc>
                <a:spcPct val="120000"/>
              </a:lnSpc>
              <a:spcBef>
                <a:spcPts val="800"/>
              </a:spcBef>
            </a:pPr>
            <a:r>
              <a:rPr sz="1200" b="0">
                <a:solidFill>
                  <a:srgbClr val="1F2421"/>
                </a:solidFill>
                <a:latin typeface="Calibri"/>
              </a:rPr>
              <a:t>It puts living area first at 48.7% and property age second at 26.7%, which matches how housing markets actually behave.</a:t>
            </a:r>
          </a:p>
        </p:txBody>
      </p:sp>
      <p:sp>
        <p:nvSpPr>
          <p:cNvPr id="50" name="TextBox 49"/>
          <p:cNvSpPr txBox="1"/>
          <p:nvPr/>
        </p:nvSpPr>
        <p:spPr>
          <a:xfrm>
            <a:off x="731520" y="6382512"/>
            <a:ext cx="8686800" cy="274320"/>
          </a:xfrm>
          <a:prstGeom prst="rect">
            <a:avLst/>
          </a:prstGeom>
          <a:noFill/>
        </p:spPr>
        <p:txBody>
          <a:bodyPr wrap="square" anchor="t" lIns="0" rIns="0" tIns="0" bIns="0">
            <a:spAutoFit/>
          </a:bodyPr>
          <a:lstStyle/>
          <a:p>
            <a:pPr algn="l">
              <a:lnSpc>
                <a:spcPct val="100000"/>
              </a:lnSpc>
            </a:pPr>
            <a:r>
              <a:rPr sz="950" b="0">
                <a:solidFill>
                  <a:srgbClr val="637268"/>
                </a:solidFill>
                <a:latin typeface="Calibri"/>
              </a:rPr>
              <a:t>HomeValue — House Price Prediction System</a:t>
            </a:r>
          </a:p>
        </p:txBody>
      </p:sp>
      <p:sp>
        <p:nvSpPr>
          <p:cNvPr id="51" name="TextBox 50"/>
          <p:cNvSpPr txBox="1"/>
          <p:nvPr/>
        </p:nvSpPr>
        <p:spPr>
          <a:xfrm>
            <a:off x="10545775" y="6382512"/>
            <a:ext cx="914400" cy="274320"/>
          </a:xfrm>
          <a:prstGeom prst="rect">
            <a:avLst/>
          </a:prstGeom>
          <a:noFill/>
        </p:spPr>
        <p:txBody>
          <a:bodyPr wrap="square" anchor="t" lIns="0" rIns="0" tIns="0" bIns="0">
            <a:spAutoFit/>
          </a:bodyPr>
          <a:lstStyle/>
          <a:p>
            <a:pPr algn="r">
              <a:lnSpc>
                <a:spcPct val="100000"/>
              </a:lnSpc>
            </a:pPr>
            <a:r>
              <a:rPr sz="950" b="1">
                <a:solidFill>
                  <a:srgbClr val="2F6B4F"/>
                </a:solidFill>
                <a:latin typeface="Calibr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 name="TextBox 2"/>
          <p:cNvSpPr txBox="1"/>
          <p:nvPr/>
        </p:nvSpPr>
        <p:spPr>
          <a:xfrm>
            <a:off x="731520" y="502920"/>
            <a:ext cx="10728655" cy="274320"/>
          </a:xfrm>
          <a:prstGeom prst="rect">
            <a:avLst/>
          </a:prstGeom>
          <a:noFill/>
        </p:spPr>
        <p:txBody>
          <a:bodyPr wrap="square" anchor="t" lIns="0" rIns="0" tIns="0" bIns="0">
            <a:spAutoFit/>
          </a:bodyPr>
          <a:lstStyle/>
          <a:p>
            <a:pPr algn="l">
              <a:lnSpc>
                <a:spcPct val="100000"/>
              </a:lnSpc>
            </a:pPr>
            <a:r>
              <a:rPr sz="1100" b="1">
                <a:solidFill>
                  <a:srgbClr val="2F6B4F"/>
                </a:solidFill>
                <a:latin typeface="Calibri"/>
              </a:rPr>
              <a:t>HOW A REQUEST FLOWS</a:t>
            </a:r>
          </a:p>
        </p:txBody>
      </p:sp>
      <p:sp>
        <p:nvSpPr>
          <p:cNvPr id="4" name="TextBox 3"/>
          <p:cNvSpPr txBox="1"/>
          <p:nvPr/>
        </p:nvSpPr>
        <p:spPr>
          <a:xfrm>
            <a:off x="731520" y="813816"/>
            <a:ext cx="10728655" cy="566928"/>
          </a:xfrm>
          <a:prstGeom prst="rect">
            <a:avLst/>
          </a:prstGeom>
          <a:noFill/>
        </p:spPr>
        <p:txBody>
          <a:bodyPr wrap="square" anchor="t" lIns="0" rIns="0" tIns="0" bIns="0">
            <a:spAutoFit/>
          </a:bodyPr>
          <a:lstStyle/>
          <a:p>
            <a:pPr algn="l">
              <a:lnSpc>
                <a:spcPct val="100000"/>
              </a:lnSpc>
            </a:pPr>
            <a:r>
              <a:rPr sz="3000" b="1">
                <a:solidFill>
                  <a:srgbClr val="1F2421"/>
                </a:solidFill>
                <a:latin typeface="Calibri"/>
              </a:rPr>
              <a:t>System architecture</a:t>
            </a:r>
          </a:p>
        </p:txBody>
      </p:sp>
      <p:sp>
        <p:nvSpPr>
          <p:cNvPr id="5" name="TextBox 4"/>
          <p:cNvSpPr txBox="1"/>
          <p:nvPr/>
        </p:nvSpPr>
        <p:spPr>
          <a:xfrm>
            <a:off x="731520" y="1417320"/>
            <a:ext cx="10728655" cy="365760"/>
          </a:xfrm>
          <a:prstGeom prst="rect">
            <a:avLst/>
          </a:prstGeom>
          <a:noFill/>
        </p:spPr>
        <p:txBody>
          <a:bodyPr wrap="square" anchor="t" lIns="0" rIns="0" tIns="0" bIns="0">
            <a:spAutoFit/>
          </a:bodyPr>
          <a:lstStyle/>
          <a:p>
            <a:pPr algn="l">
              <a:lnSpc>
                <a:spcPct val="100000"/>
              </a:lnSpc>
            </a:pPr>
            <a:r>
              <a:rPr sz="1400" b="0">
                <a:solidFill>
                  <a:srgbClr val="637268"/>
                </a:solidFill>
                <a:latin typeface="Calibri"/>
              </a:rPr>
              <a:t>From the browser to an estimate and back, with two layers of validation.</a:t>
            </a:r>
          </a:p>
        </p:txBody>
      </p:sp>
      <p:sp>
        <p:nvSpPr>
          <p:cNvPr id="6" name="Rectangle 5"/>
          <p:cNvSpPr/>
          <p:nvPr/>
        </p:nvSpPr>
        <p:spPr>
          <a:xfrm>
            <a:off x="731520" y="1874520"/>
            <a:ext cx="10728655" cy="9525"/>
          </a:xfrm>
          <a:prstGeom prst="rect">
            <a:avLst/>
          </a:prstGeom>
          <a:solidFill>
            <a:srgbClr val="DCE3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Rounded Rectangle 6"/>
          <p:cNvSpPr/>
          <p:nvPr/>
        </p:nvSpPr>
        <p:spPr>
          <a:xfrm>
            <a:off x="731520" y="2523744"/>
            <a:ext cx="1838492" cy="1097280"/>
          </a:xfrm>
          <a:prstGeom prst="roundRect">
            <a:avLst>
              <a:gd name="adj" fmla="val 10000"/>
            </a:avLst>
          </a:prstGeom>
          <a:solidFill>
            <a:srgbClr val="E7EFEA"/>
          </a:solidFill>
          <a:ln w="9525">
            <a:solidFill>
              <a:srgbClr val="DCE3D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8" name="TextBox 7"/>
          <p:cNvSpPr txBox="1"/>
          <p:nvPr/>
        </p:nvSpPr>
        <p:spPr>
          <a:xfrm>
            <a:off x="731520" y="2670048"/>
            <a:ext cx="1838492" cy="274320"/>
          </a:xfrm>
          <a:prstGeom prst="rect">
            <a:avLst/>
          </a:prstGeom>
          <a:noFill/>
        </p:spPr>
        <p:txBody>
          <a:bodyPr wrap="square" anchor="t" lIns="0" rIns="0" tIns="0" bIns="0">
            <a:spAutoFit/>
          </a:bodyPr>
          <a:lstStyle/>
          <a:p>
            <a:pPr algn="ctr">
              <a:lnSpc>
                <a:spcPct val="100000"/>
              </a:lnSpc>
            </a:pPr>
            <a:r>
              <a:rPr sz="1300" b="1">
                <a:solidFill>
                  <a:srgbClr val="2F6B4F"/>
                </a:solidFill>
                <a:latin typeface="Calibri"/>
              </a:rPr>
              <a:t>1</a:t>
            </a:r>
          </a:p>
        </p:txBody>
      </p:sp>
      <p:sp>
        <p:nvSpPr>
          <p:cNvPr id="9" name="TextBox 8"/>
          <p:cNvSpPr txBox="1"/>
          <p:nvPr/>
        </p:nvSpPr>
        <p:spPr>
          <a:xfrm>
            <a:off x="731520" y="2944368"/>
            <a:ext cx="1838492" cy="256032"/>
          </a:xfrm>
          <a:prstGeom prst="rect">
            <a:avLst/>
          </a:prstGeom>
          <a:noFill/>
        </p:spPr>
        <p:txBody>
          <a:bodyPr wrap="square" anchor="t" lIns="0" rIns="0" tIns="0" bIns="0">
            <a:spAutoFit/>
          </a:bodyPr>
          <a:lstStyle/>
          <a:p>
            <a:pPr algn="ctr">
              <a:lnSpc>
                <a:spcPct val="100000"/>
              </a:lnSpc>
            </a:pPr>
            <a:r>
              <a:rPr sz="1300" b="1">
                <a:solidFill>
                  <a:srgbClr val="1F2421"/>
                </a:solidFill>
                <a:latin typeface="Calibri"/>
              </a:rPr>
              <a:t>Browser</a:t>
            </a:r>
          </a:p>
        </p:txBody>
      </p:sp>
      <p:sp>
        <p:nvSpPr>
          <p:cNvPr id="10" name="TextBox 9"/>
          <p:cNvSpPr txBox="1"/>
          <p:nvPr/>
        </p:nvSpPr>
        <p:spPr>
          <a:xfrm>
            <a:off x="731520" y="3200400"/>
            <a:ext cx="1838492" cy="274320"/>
          </a:xfrm>
          <a:prstGeom prst="rect">
            <a:avLst/>
          </a:prstGeom>
          <a:noFill/>
        </p:spPr>
        <p:txBody>
          <a:bodyPr wrap="square" anchor="t" lIns="0" rIns="0" tIns="0" bIns="0">
            <a:spAutoFit/>
          </a:bodyPr>
          <a:lstStyle/>
          <a:p>
            <a:pPr algn="ctr">
              <a:lnSpc>
                <a:spcPct val="95000"/>
              </a:lnSpc>
            </a:pPr>
            <a:r>
              <a:rPr sz="950" b="0">
                <a:solidFill>
                  <a:srgbClr val="637268"/>
                </a:solidFill>
                <a:latin typeface="Calibri"/>
              </a:rPr>
              <a:t>Nine validated inputs</a:t>
            </a:r>
          </a:p>
        </p:txBody>
      </p:sp>
      <p:sp>
        <p:nvSpPr>
          <p:cNvPr id="11" name="TextBox 10"/>
          <p:cNvSpPr txBox="1"/>
          <p:nvPr/>
        </p:nvSpPr>
        <p:spPr>
          <a:xfrm>
            <a:off x="2570012" y="2871216"/>
            <a:ext cx="384048" cy="402336"/>
          </a:xfrm>
          <a:prstGeom prst="rect">
            <a:avLst/>
          </a:prstGeom>
          <a:noFill/>
        </p:spPr>
        <p:txBody>
          <a:bodyPr wrap="square" anchor="t" lIns="0" rIns="0" tIns="0" bIns="0">
            <a:spAutoFit/>
          </a:bodyPr>
          <a:lstStyle/>
          <a:p>
            <a:pPr algn="ctr">
              <a:lnSpc>
                <a:spcPct val="100000"/>
              </a:lnSpc>
            </a:pPr>
            <a:r>
              <a:rPr sz="2600" b="1">
                <a:solidFill>
                  <a:srgbClr val="2F6B4F"/>
                </a:solidFill>
                <a:latin typeface="Calibri"/>
              </a:rPr>
              <a:t>›</a:t>
            </a:r>
          </a:p>
        </p:txBody>
      </p:sp>
      <p:sp>
        <p:nvSpPr>
          <p:cNvPr id="12" name="Rounded Rectangle 11"/>
          <p:cNvSpPr/>
          <p:nvPr/>
        </p:nvSpPr>
        <p:spPr>
          <a:xfrm>
            <a:off x="2954060" y="2523744"/>
            <a:ext cx="1838492" cy="1097280"/>
          </a:xfrm>
          <a:prstGeom prst="roundRect">
            <a:avLst>
              <a:gd name="adj" fmla="val 10000"/>
            </a:avLst>
          </a:prstGeom>
          <a:solidFill>
            <a:srgbClr val="E7EFEA"/>
          </a:solidFill>
          <a:ln w="9525">
            <a:solidFill>
              <a:srgbClr val="DCE3D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3" name="TextBox 12"/>
          <p:cNvSpPr txBox="1"/>
          <p:nvPr/>
        </p:nvSpPr>
        <p:spPr>
          <a:xfrm>
            <a:off x="2954060" y="2670048"/>
            <a:ext cx="1838492" cy="274320"/>
          </a:xfrm>
          <a:prstGeom prst="rect">
            <a:avLst/>
          </a:prstGeom>
          <a:noFill/>
        </p:spPr>
        <p:txBody>
          <a:bodyPr wrap="square" anchor="t" lIns="0" rIns="0" tIns="0" bIns="0">
            <a:spAutoFit/>
          </a:bodyPr>
          <a:lstStyle/>
          <a:p>
            <a:pPr algn="ctr">
              <a:lnSpc>
                <a:spcPct val="100000"/>
              </a:lnSpc>
            </a:pPr>
            <a:r>
              <a:rPr sz="1300" b="1">
                <a:solidFill>
                  <a:srgbClr val="2F6B4F"/>
                </a:solidFill>
                <a:latin typeface="Calibri"/>
              </a:rPr>
              <a:t>2</a:t>
            </a:r>
          </a:p>
        </p:txBody>
      </p:sp>
      <p:sp>
        <p:nvSpPr>
          <p:cNvPr id="14" name="TextBox 13"/>
          <p:cNvSpPr txBox="1"/>
          <p:nvPr/>
        </p:nvSpPr>
        <p:spPr>
          <a:xfrm>
            <a:off x="2954060" y="2944368"/>
            <a:ext cx="1838492" cy="256032"/>
          </a:xfrm>
          <a:prstGeom prst="rect">
            <a:avLst/>
          </a:prstGeom>
          <a:noFill/>
        </p:spPr>
        <p:txBody>
          <a:bodyPr wrap="square" anchor="t" lIns="0" rIns="0" tIns="0" bIns="0">
            <a:spAutoFit/>
          </a:bodyPr>
          <a:lstStyle/>
          <a:p>
            <a:pPr algn="ctr">
              <a:lnSpc>
                <a:spcPct val="100000"/>
              </a:lnSpc>
            </a:pPr>
            <a:r>
              <a:rPr sz="1300" b="1">
                <a:solidFill>
                  <a:srgbClr val="1F2421"/>
                </a:solidFill>
                <a:latin typeface="Calibri"/>
              </a:rPr>
              <a:t>Client check</a:t>
            </a:r>
          </a:p>
        </p:txBody>
      </p:sp>
      <p:sp>
        <p:nvSpPr>
          <p:cNvPr id="15" name="TextBox 14"/>
          <p:cNvSpPr txBox="1"/>
          <p:nvPr/>
        </p:nvSpPr>
        <p:spPr>
          <a:xfrm>
            <a:off x="2954060" y="3200400"/>
            <a:ext cx="1838492" cy="274320"/>
          </a:xfrm>
          <a:prstGeom prst="rect">
            <a:avLst/>
          </a:prstGeom>
          <a:noFill/>
        </p:spPr>
        <p:txBody>
          <a:bodyPr wrap="square" anchor="t" lIns="0" rIns="0" tIns="0" bIns="0">
            <a:spAutoFit/>
          </a:bodyPr>
          <a:lstStyle/>
          <a:p>
            <a:pPr algn="ctr">
              <a:lnSpc>
                <a:spcPct val="95000"/>
              </a:lnSpc>
            </a:pPr>
            <a:r>
              <a:rPr sz="950" b="0">
                <a:solidFill>
                  <a:srgbClr val="637268"/>
                </a:solidFill>
                <a:latin typeface="Calibri"/>
              </a:rPr>
              <a:t>Instant feedback</a:t>
            </a:r>
          </a:p>
        </p:txBody>
      </p:sp>
      <p:sp>
        <p:nvSpPr>
          <p:cNvPr id="16" name="TextBox 15"/>
          <p:cNvSpPr txBox="1"/>
          <p:nvPr/>
        </p:nvSpPr>
        <p:spPr>
          <a:xfrm>
            <a:off x="4792552" y="2871216"/>
            <a:ext cx="384048" cy="402336"/>
          </a:xfrm>
          <a:prstGeom prst="rect">
            <a:avLst/>
          </a:prstGeom>
          <a:noFill/>
        </p:spPr>
        <p:txBody>
          <a:bodyPr wrap="square" anchor="t" lIns="0" rIns="0" tIns="0" bIns="0">
            <a:spAutoFit/>
          </a:bodyPr>
          <a:lstStyle/>
          <a:p>
            <a:pPr algn="ctr">
              <a:lnSpc>
                <a:spcPct val="100000"/>
              </a:lnSpc>
            </a:pPr>
            <a:r>
              <a:rPr sz="2600" b="1">
                <a:solidFill>
                  <a:srgbClr val="2F6B4F"/>
                </a:solidFill>
                <a:latin typeface="Calibri"/>
              </a:rPr>
              <a:t>›</a:t>
            </a:r>
          </a:p>
        </p:txBody>
      </p:sp>
      <p:sp>
        <p:nvSpPr>
          <p:cNvPr id="17" name="Rounded Rectangle 16"/>
          <p:cNvSpPr/>
          <p:nvPr/>
        </p:nvSpPr>
        <p:spPr>
          <a:xfrm>
            <a:off x="5176600" y="2523744"/>
            <a:ext cx="1838492" cy="1097280"/>
          </a:xfrm>
          <a:prstGeom prst="roundRect">
            <a:avLst>
              <a:gd name="adj" fmla="val 10000"/>
            </a:avLst>
          </a:prstGeom>
          <a:solidFill>
            <a:srgbClr val="E7EFEA"/>
          </a:solidFill>
          <a:ln w="9525">
            <a:solidFill>
              <a:srgbClr val="DCE3D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8" name="TextBox 17"/>
          <p:cNvSpPr txBox="1"/>
          <p:nvPr/>
        </p:nvSpPr>
        <p:spPr>
          <a:xfrm>
            <a:off x="5176600" y="2670048"/>
            <a:ext cx="1838492" cy="274320"/>
          </a:xfrm>
          <a:prstGeom prst="rect">
            <a:avLst/>
          </a:prstGeom>
          <a:noFill/>
        </p:spPr>
        <p:txBody>
          <a:bodyPr wrap="square" anchor="t" lIns="0" rIns="0" tIns="0" bIns="0">
            <a:spAutoFit/>
          </a:bodyPr>
          <a:lstStyle/>
          <a:p>
            <a:pPr algn="ctr">
              <a:lnSpc>
                <a:spcPct val="100000"/>
              </a:lnSpc>
            </a:pPr>
            <a:r>
              <a:rPr sz="1300" b="1">
                <a:solidFill>
                  <a:srgbClr val="2F6B4F"/>
                </a:solidFill>
                <a:latin typeface="Calibri"/>
              </a:rPr>
              <a:t>3</a:t>
            </a:r>
          </a:p>
        </p:txBody>
      </p:sp>
      <p:sp>
        <p:nvSpPr>
          <p:cNvPr id="19" name="TextBox 18"/>
          <p:cNvSpPr txBox="1"/>
          <p:nvPr/>
        </p:nvSpPr>
        <p:spPr>
          <a:xfrm>
            <a:off x="5176600" y="2944368"/>
            <a:ext cx="1838492" cy="256032"/>
          </a:xfrm>
          <a:prstGeom prst="rect">
            <a:avLst/>
          </a:prstGeom>
          <a:noFill/>
        </p:spPr>
        <p:txBody>
          <a:bodyPr wrap="square" anchor="t" lIns="0" rIns="0" tIns="0" bIns="0">
            <a:spAutoFit/>
          </a:bodyPr>
          <a:lstStyle/>
          <a:p>
            <a:pPr algn="ctr">
              <a:lnSpc>
                <a:spcPct val="100000"/>
              </a:lnSpc>
            </a:pPr>
            <a:r>
              <a:rPr sz="1300" b="1">
                <a:solidFill>
                  <a:srgbClr val="1F2421"/>
                </a:solidFill>
                <a:latin typeface="Calibri"/>
              </a:rPr>
              <a:t>Flask route</a:t>
            </a:r>
          </a:p>
        </p:txBody>
      </p:sp>
      <p:sp>
        <p:nvSpPr>
          <p:cNvPr id="20" name="TextBox 19"/>
          <p:cNvSpPr txBox="1"/>
          <p:nvPr/>
        </p:nvSpPr>
        <p:spPr>
          <a:xfrm>
            <a:off x="5176600" y="3200400"/>
            <a:ext cx="1838492" cy="274320"/>
          </a:xfrm>
          <a:prstGeom prst="rect">
            <a:avLst/>
          </a:prstGeom>
          <a:noFill/>
        </p:spPr>
        <p:txBody>
          <a:bodyPr wrap="square" anchor="t" lIns="0" rIns="0" tIns="0" bIns="0">
            <a:spAutoFit/>
          </a:bodyPr>
          <a:lstStyle/>
          <a:p>
            <a:pPr algn="ctr">
              <a:lnSpc>
                <a:spcPct val="95000"/>
              </a:lnSpc>
            </a:pPr>
            <a:r>
              <a:rPr sz="950" b="0">
                <a:solidFill>
                  <a:srgbClr val="637268"/>
                </a:solidFill>
                <a:latin typeface="Calibri"/>
              </a:rPr>
              <a:t>Server validation</a:t>
            </a:r>
          </a:p>
        </p:txBody>
      </p:sp>
      <p:sp>
        <p:nvSpPr>
          <p:cNvPr id="21" name="TextBox 20"/>
          <p:cNvSpPr txBox="1"/>
          <p:nvPr/>
        </p:nvSpPr>
        <p:spPr>
          <a:xfrm>
            <a:off x="7015092" y="2871216"/>
            <a:ext cx="384048" cy="402336"/>
          </a:xfrm>
          <a:prstGeom prst="rect">
            <a:avLst/>
          </a:prstGeom>
          <a:noFill/>
        </p:spPr>
        <p:txBody>
          <a:bodyPr wrap="square" anchor="t" lIns="0" rIns="0" tIns="0" bIns="0">
            <a:spAutoFit/>
          </a:bodyPr>
          <a:lstStyle/>
          <a:p>
            <a:pPr algn="ctr">
              <a:lnSpc>
                <a:spcPct val="100000"/>
              </a:lnSpc>
            </a:pPr>
            <a:r>
              <a:rPr sz="2600" b="1">
                <a:solidFill>
                  <a:srgbClr val="2F6B4F"/>
                </a:solidFill>
                <a:latin typeface="Calibri"/>
              </a:rPr>
              <a:t>›</a:t>
            </a:r>
          </a:p>
        </p:txBody>
      </p:sp>
      <p:sp>
        <p:nvSpPr>
          <p:cNvPr id="22" name="Rounded Rectangle 21"/>
          <p:cNvSpPr/>
          <p:nvPr/>
        </p:nvSpPr>
        <p:spPr>
          <a:xfrm>
            <a:off x="7399140" y="2523744"/>
            <a:ext cx="1838492" cy="1097280"/>
          </a:xfrm>
          <a:prstGeom prst="roundRect">
            <a:avLst>
              <a:gd name="adj" fmla="val 10000"/>
            </a:avLst>
          </a:prstGeom>
          <a:solidFill>
            <a:srgbClr val="E7EFEA"/>
          </a:solidFill>
          <a:ln w="9525">
            <a:solidFill>
              <a:srgbClr val="DCE3D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3" name="TextBox 22"/>
          <p:cNvSpPr txBox="1"/>
          <p:nvPr/>
        </p:nvSpPr>
        <p:spPr>
          <a:xfrm>
            <a:off x="7399140" y="2670048"/>
            <a:ext cx="1838492" cy="274320"/>
          </a:xfrm>
          <a:prstGeom prst="rect">
            <a:avLst/>
          </a:prstGeom>
          <a:noFill/>
        </p:spPr>
        <p:txBody>
          <a:bodyPr wrap="square" anchor="t" lIns="0" rIns="0" tIns="0" bIns="0">
            <a:spAutoFit/>
          </a:bodyPr>
          <a:lstStyle/>
          <a:p>
            <a:pPr algn="ctr">
              <a:lnSpc>
                <a:spcPct val="100000"/>
              </a:lnSpc>
            </a:pPr>
            <a:r>
              <a:rPr sz="1300" b="1">
                <a:solidFill>
                  <a:srgbClr val="2F6B4F"/>
                </a:solidFill>
                <a:latin typeface="Calibri"/>
              </a:rPr>
              <a:t>4</a:t>
            </a:r>
          </a:p>
        </p:txBody>
      </p:sp>
      <p:sp>
        <p:nvSpPr>
          <p:cNvPr id="24" name="TextBox 23"/>
          <p:cNvSpPr txBox="1"/>
          <p:nvPr/>
        </p:nvSpPr>
        <p:spPr>
          <a:xfrm>
            <a:off x="7399140" y="2944368"/>
            <a:ext cx="1838492" cy="256032"/>
          </a:xfrm>
          <a:prstGeom prst="rect">
            <a:avLst/>
          </a:prstGeom>
          <a:noFill/>
        </p:spPr>
        <p:txBody>
          <a:bodyPr wrap="square" anchor="t" lIns="0" rIns="0" tIns="0" bIns="0">
            <a:spAutoFit/>
          </a:bodyPr>
          <a:lstStyle/>
          <a:p>
            <a:pPr algn="ctr">
              <a:lnSpc>
                <a:spcPct val="100000"/>
              </a:lnSpc>
            </a:pPr>
            <a:r>
              <a:rPr sz="1300" b="1">
                <a:solidFill>
                  <a:srgbClr val="1F2421"/>
                </a:solidFill>
                <a:latin typeface="Calibri"/>
              </a:rPr>
              <a:t>Cached inference</a:t>
            </a:r>
          </a:p>
        </p:txBody>
      </p:sp>
      <p:sp>
        <p:nvSpPr>
          <p:cNvPr id="25" name="TextBox 24"/>
          <p:cNvSpPr txBox="1"/>
          <p:nvPr/>
        </p:nvSpPr>
        <p:spPr>
          <a:xfrm>
            <a:off x="7399140" y="3200400"/>
            <a:ext cx="1838492" cy="274320"/>
          </a:xfrm>
          <a:prstGeom prst="rect">
            <a:avLst/>
          </a:prstGeom>
          <a:noFill/>
        </p:spPr>
        <p:txBody>
          <a:bodyPr wrap="square" anchor="t" lIns="0" rIns="0" tIns="0" bIns="0">
            <a:spAutoFit/>
          </a:bodyPr>
          <a:lstStyle/>
          <a:p>
            <a:pPr algn="ctr">
              <a:lnSpc>
                <a:spcPct val="95000"/>
              </a:lnSpc>
            </a:pPr>
            <a:r>
              <a:rPr sz="950" b="0">
                <a:solidFill>
                  <a:srgbClr val="637268"/>
                </a:solidFill>
                <a:latin typeface="Calibri"/>
              </a:rPr>
              <a:t>Joblib pipeline</a:t>
            </a:r>
          </a:p>
        </p:txBody>
      </p:sp>
      <p:sp>
        <p:nvSpPr>
          <p:cNvPr id="26" name="TextBox 25"/>
          <p:cNvSpPr txBox="1"/>
          <p:nvPr/>
        </p:nvSpPr>
        <p:spPr>
          <a:xfrm>
            <a:off x="9237632" y="2871216"/>
            <a:ext cx="384048" cy="402336"/>
          </a:xfrm>
          <a:prstGeom prst="rect">
            <a:avLst/>
          </a:prstGeom>
          <a:noFill/>
        </p:spPr>
        <p:txBody>
          <a:bodyPr wrap="square" anchor="t" lIns="0" rIns="0" tIns="0" bIns="0">
            <a:spAutoFit/>
          </a:bodyPr>
          <a:lstStyle/>
          <a:p>
            <a:pPr algn="ctr">
              <a:lnSpc>
                <a:spcPct val="100000"/>
              </a:lnSpc>
            </a:pPr>
            <a:r>
              <a:rPr sz="2600" b="1">
                <a:solidFill>
                  <a:srgbClr val="2F6B4F"/>
                </a:solidFill>
                <a:latin typeface="Calibri"/>
              </a:rPr>
              <a:t>›</a:t>
            </a:r>
          </a:p>
        </p:txBody>
      </p:sp>
      <p:sp>
        <p:nvSpPr>
          <p:cNvPr id="27" name="Rounded Rectangle 26"/>
          <p:cNvSpPr/>
          <p:nvPr/>
        </p:nvSpPr>
        <p:spPr>
          <a:xfrm>
            <a:off x="9621680" y="2523744"/>
            <a:ext cx="1838492" cy="1097280"/>
          </a:xfrm>
          <a:prstGeom prst="roundRect">
            <a:avLst>
              <a:gd name="adj" fmla="val 10000"/>
            </a:avLst>
          </a:prstGeom>
          <a:solidFill>
            <a:srgbClr val="E7EFEA"/>
          </a:solidFill>
          <a:ln w="9525">
            <a:solidFill>
              <a:srgbClr val="DCE3D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8" name="TextBox 27"/>
          <p:cNvSpPr txBox="1"/>
          <p:nvPr/>
        </p:nvSpPr>
        <p:spPr>
          <a:xfrm>
            <a:off x="9621680" y="2670048"/>
            <a:ext cx="1838492" cy="274320"/>
          </a:xfrm>
          <a:prstGeom prst="rect">
            <a:avLst/>
          </a:prstGeom>
          <a:noFill/>
        </p:spPr>
        <p:txBody>
          <a:bodyPr wrap="square" anchor="t" lIns="0" rIns="0" tIns="0" bIns="0">
            <a:spAutoFit/>
          </a:bodyPr>
          <a:lstStyle/>
          <a:p>
            <a:pPr algn="ctr">
              <a:lnSpc>
                <a:spcPct val="100000"/>
              </a:lnSpc>
            </a:pPr>
            <a:r>
              <a:rPr sz="1300" b="1">
                <a:solidFill>
                  <a:srgbClr val="2F6B4F"/>
                </a:solidFill>
                <a:latin typeface="Calibri"/>
              </a:rPr>
              <a:t>5</a:t>
            </a:r>
          </a:p>
        </p:txBody>
      </p:sp>
      <p:sp>
        <p:nvSpPr>
          <p:cNvPr id="29" name="TextBox 28"/>
          <p:cNvSpPr txBox="1"/>
          <p:nvPr/>
        </p:nvSpPr>
        <p:spPr>
          <a:xfrm>
            <a:off x="9621680" y="2944368"/>
            <a:ext cx="1838492" cy="256032"/>
          </a:xfrm>
          <a:prstGeom prst="rect">
            <a:avLst/>
          </a:prstGeom>
          <a:noFill/>
        </p:spPr>
        <p:txBody>
          <a:bodyPr wrap="square" anchor="t" lIns="0" rIns="0" tIns="0" bIns="0">
            <a:spAutoFit/>
          </a:bodyPr>
          <a:lstStyle/>
          <a:p>
            <a:pPr algn="ctr">
              <a:lnSpc>
                <a:spcPct val="100000"/>
              </a:lnSpc>
            </a:pPr>
            <a:r>
              <a:rPr sz="1300" b="1">
                <a:solidFill>
                  <a:srgbClr val="1F2421"/>
                </a:solidFill>
                <a:latin typeface="Calibri"/>
              </a:rPr>
              <a:t>Response</a:t>
            </a:r>
          </a:p>
        </p:txBody>
      </p:sp>
      <p:sp>
        <p:nvSpPr>
          <p:cNvPr id="30" name="TextBox 29"/>
          <p:cNvSpPr txBox="1"/>
          <p:nvPr/>
        </p:nvSpPr>
        <p:spPr>
          <a:xfrm>
            <a:off x="9621680" y="3200400"/>
            <a:ext cx="1838492" cy="274320"/>
          </a:xfrm>
          <a:prstGeom prst="rect">
            <a:avLst/>
          </a:prstGeom>
          <a:noFill/>
        </p:spPr>
        <p:txBody>
          <a:bodyPr wrap="square" anchor="t" lIns="0" rIns="0" tIns="0" bIns="0">
            <a:spAutoFit/>
          </a:bodyPr>
          <a:lstStyle/>
          <a:p>
            <a:pPr algn="ctr">
              <a:lnSpc>
                <a:spcPct val="95000"/>
              </a:lnSpc>
            </a:pPr>
            <a:r>
              <a:rPr sz="950" b="0">
                <a:solidFill>
                  <a:srgbClr val="637268"/>
                </a:solidFill>
                <a:latin typeface="Calibri"/>
              </a:rPr>
              <a:t>Price + explanation</a:t>
            </a:r>
          </a:p>
        </p:txBody>
      </p:sp>
      <p:graphicFrame>
        <p:nvGraphicFramePr>
          <p:cNvPr id="31" name="Table 30"/>
          <p:cNvGraphicFramePr>
            <a:graphicFrameLocks noGrp="1"/>
          </p:cNvGraphicFramePr>
          <p:nvPr/>
        </p:nvGraphicFramePr>
        <p:xfrm>
          <a:off x="731520" y="4032504"/>
          <a:ext cx="10817352" cy="2340864"/>
        </p:xfrm>
        <a:graphic>
          <a:graphicData uri="http://schemas.openxmlformats.org/drawingml/2006/table">
            <a:tbl>
              <a:tblPr firstRow="1">
                <a:tableStyleId>{5C22544A-7EE6-4342-B048-85BDC9FD1C3A}</a:tableStyleId>
              </a:tblPr>
              <a:tblGrid>
                <a:gridCol w="2194560"/>
                <a:gridCol w="8622792"/>
              </a:tblGrid>
              <a:tr h="420624">
                <a:tc>
                  <a:txBody>
                    <a:bodyPr/>
                    <a:lstStyle/>
                    <a:p>
                      <a:pPr algn="l"/>
                      <a:r>
                        <a:rPr sz="1200" b="1">
                          <a:solidFill>
                            <a:srgbClr val="FFFFFF"/>
                          </a:solidFill>
                          <a:latin typeface="Calibri"/>
                        </a:rPr>
                        <a:t>Concern</a:t>
                      </a:r>
                    </a:p>
                  </a:txBody>
                  <a:tcPr marL="91440" marR="91440" anchor="ctr">
                    <a:solidFill>
                      <a:srgbClr val="2F6B4F"/>
                    </a:solidFill>
                  </a:tcPr>
                </a:tc>
                <a:tc>
                  <a:txBody>
                    <a:bodyPr/>
                    <a:lstStyle/>
                    <a:p>
                      <a:pPr algn="ctr"/>
                      <a:r>
                        <a:rPr sz="1200" b="1">
                          <a:solidFill>
                            <a:srgbClr val="FFFFFF"/>
                          </a:solidFill>
                          <a:latin typeface="Calibri"/>
                        </a:rPr>
                        <a:t>How it is handled</a:t>
                      </a:r>
                    </a:p>
                  </a:txBody>
                  <a:tcPr marL="91440" marR="91440" anchor="ctr">
                    <a:solidFill>
                      <a:srgbClr val="2F6B4F"/>
                    </a:solidFill>
                  </a:tcPr>
                </a:tc>
              </a:tr>
              <a:tr h="384048">
                <a:tc>
                  <a:txBody>
                    <a:bodyPr/>
                    <a:lstStyle/>
                    <a:p>
                      <a:pPr algn="l"/>
                      <a:r>
                        <a:rPr sz="1250" b="0">
                          <a:solidFill>
                            <a:srgbClr val="1F2421"/>
                          </a:solidFill>
                          <a:latin typeface="Calibri"/>
                        </a:rPr>
                        <a:t>Model load</a:t>
                      </a:r>
                    </a:p>
                  </a:txBody>
                  <a:tcPr marL="91440" marR="91440" marT="18288" marB="18288" anchor="ctr">
                    <a:solidFill>
                      <a:srgbClr val="FFFFFF"/>
                    </a:solidFill>
                  </a:tcPr>
                </a:tc>
                <a:tc>
                  <a:txBody>
                    <a:bodyPr/>
                    <a:lstStyle/>
                    <a:p>
                      <a:pPr algn="ctr"/>
                      <a:r>
                        <a:rPr sz="1250" b="0">
                          <a:solidFill>
                            <a:srgbClr val="1F2421"/>
                          </a:solidFill>
                          <a:latin typeface="Calibri"/>
                        </a:rPr>
                        <a:t>Loaded once at startup and cached — no reload per request</a:t>
                      </a:r>
                    </a:p>
                  </a:txBody>
                  <a:tcPr marL="91440" marR="91440" marT="18288" marB="18288" anchor="ctr">
                    <a:solidFill>
                      <a:srgbClr val="FFFFFF"/>
                    </a:solidFill>
                  </a:tcPr>
                </a:tc>
              </a:tr>
              <a:tr h="384048">
                <a:tc>
                  <a:txBody>
                    <a:bodyPr/>
                    <a:lstStyle/>
                    <a:p>
                      <a:pPr algn="l"/>
                      <a:r>
                        <a:rPr sz="1250" b="0">
                          <a:solidFill>
                            <a:srgbClr val="1F2421"/>
                          </a:solidFill>
                          <a:latin typeface="Calibri"/>
                        </a:rPr>
                        <a:t>Validation</a:t>
                      </a:r>
                    </a:p>
                  </a:txBody>
                  <a:tcPr marL="91440" marR="91440" marT="18288" marB="18288" anchor="ctr">
                    <a:solidFill>
                      <a:srgbClr val="E7EFEA"/>
                    </a:solidFill>
                  </a:tcPr>
                </a:tc>
                <a:tc>
                  <a:txBody>
                    <a:bodyPr/>
                    <a:lstStyle/>
                    <a:p>
                      <a:pPr algn="ctr"/>
                      <a:r>
                        <a:rPr sz="1250" b="0">
                          <a:solidFill>
                            <a:srgbClr val="1F2421"/>
                          </a:solidFill>
                          <a:latin typeface="Calibri"/>
                        </a:rPr>
                        <a:t>Identical rules enforced twice; client checks can be bypassed</a:t>
                      </a:r>
                    </a:p>
                  </a:txBody>
                  <a:tcPr marL="91440" marR="91440" marT="18288" marB="18288" anchor="ctr">
                    <a:solidFill>
                      <a:srgbClr val="E7EFEA"/>
                    </a:solidFill>
                  </a:tcPr>
                </a:tc>
              </a:tr>
              <a:tr h="384048">
                <a:tc>
                  <a:txBody>
                    <a:bodyPr/>
                    <a:lstStyle/>
                    <a:p>
                      <a:pPr algn="l"/>
                      <a:r>
                        <a:rPr sz="1250" b="0">
                          <a:solidFill>
                            <a:srgbClr val="1F2421"/>
                          </a:solidFill>
                          <a:latin typeface="Calibri"/>
                        </a:rPr>
                        <a:t>Unknown values</a:t>
                      </a:r>
                    </a:p>
                  </a:txBody>
                  <a:tcPr marL="91440" marR="91440" marT="18288" marB="18288" anchor="ctr">
                    <a:solidFill>
                      <a:srgbClr val="FFFFFF"/>
                    </a:solidFill>
                  </a:tcPr>
                </a:tc>
                <a:tc>
                  <a:txBody>
                    <a:bodyPr/>
                    <a:lstStyle/>
                    <a:p>
                      <a:pPr algn="ctr"/>
                      <a:r>
                        <a:rPr sz="1250" b="0">
                          <a:solidFill>
                            <a:srgbClr val="1F2421"/>
                          </a:solidFill>
                          <a:latin typeface="Calibri"/>
                        </a:rPr>
                        <a:t>Unseen categories are rejected with a clear message, never guessed</a:t>
                      </a:r>
                    </a:p>
                  </a:txBody>
                  <a:tcPr marL="91440" marR="91440" marT="18288" marB="18288" anchor="ctr">
                    <a:solidFill>
                      <a:srgbClr val="FFFFFF"/>
                    </a:solidFill>
                  </a:tcPr>
                </a:tc>
              </a:tr>
              <a:tr h="384048">
                <a:tc>
                  <a:txBody>
                    <a:bodyPr/>
                    <a:lstStyle/>
                    <a:p>
                      <a:pPr algn="l"/>
                      <a:r>
                        <a:rPr sz="1250" b="0">
                          <a:solidFill>
                            <a:srgbClr val="1F2421"/>
                          </a:solidFill>
                          <a:latin typeface="Calibri"/>
                        </a:rPr>
                        <a:t>Logging</a:t>
                      </a:r>
                    </a:p>
                  </a:txBody>
                  <a:tcPr marL="91440" marR="91440" marT="18288" marB="18288" anchor="ctr">
                    <a:solidFill>
                      <a:srgbClr val="E7EFEA"/>
                    </a:solidFill>
                  </a:tcPr>
                </a:tc>
                <a:tc>
                  <a:txBody>
                    <a:bodyPr/>
                    <a:lstStyle/>
                    <a:p>
                      <a:pPr algn="ctr"/>
                      <a:r>
                        <a:rPr sz="1250" b="0">
                          <a:solidFill>
                            <a:srgbClr val="1F2421"/>
                          </a:solidFill>
                          <a:latin typeface="Calibri"/>
                        </a:rPr>
                        <a:t>Every served estimate is recorded; a logging failure never breaks a prediction</a:t>
                      </a:r>
                    </a:p>
                  </a:txBody>
                  <a:tcPr marL="91440" marR="91440" marT="18288" marB="18288" anchor="ctr">
                    <a:solidFill>
                      <a:srgbClr val="E7EFEA"/>
                    </a:solidFill>
                  </a:tcPr>
                </a:tc>
              </a:tr>
              <a:tr h="384048">
                <a:tc>
                  <a:txBody>
                    <a:bodyPr/>
                    <a:lstStyle/>
                    <a:p>
                      <a:pPr algn="l"/>
                      <a:r>
                        <a:rPr sz="1250" b="0">
                          <a:solidFill>
                            <a:srgbClr val="1F2421"/>
                          </a:solidFill>
                          <a:latin typeface="Calibri"/>
                        </a:rPr>
                        <a:t>Serving</a:t>
                      </a:r>
                    </a:p>
                  </a:txBody>
                  <a:tcPr marL="91440" marR="91440" marT="18288" marB="18288" anchor="ctr">
                    <a:solidFill>
                      <a:srgbClr val="FFFFFF"/>
                    </a:solidFill>
                  </a:tcPr>
                </a:tc>
                <a:tc>
                  <a:txBody>
                    <a:bodyPr/>
                    <a:lstStyle/>
                    <a:p>
                      <a:pPr algn="ctr"/>
                      <a:r>
                        <a:rPr sz="1250" b="0">
                          <a:solidFill>
                            <a:srgbClr val="1F2421"/>
                          </a:solidFill>
                          <a:latin typeface="Calibri"/>
                        </a:rPr>
                        <a:t>Flask development server — use Gunicorn or Waitress beyond local use</a:t>
                      </a:r>
                    </a:p>
                  </a:txBody>
                  <a:tcPr marL="91440" marR="91440" marT="18288" marB="18288" anchor="ctr">
                    <a:solidFill>
                      <a:srgbClr val="FFFFFF"/>
                    </a:solidFill>
                  </a:tcPr>
                </a:tc>
              </a:tr>
            </a:tbl>
          </a:graphicData>
        </a:graphic>
      </p:graphicFrame>
      <p:sp>
        <p:nvSpPr>
          <p:cNvPr id="32" name="TextBox 31"/>
          <p:cNvSpPr txBox="1"/>
          <p:nvPr/>
        </p:nvSpPr>
        <p:spPr>
          <a:xfrm>
            <a:off x="731520" y="6382512"/>
            <a:ext cx="8686800" cy="274320"/>
          </a:xfrm>
          <a:prstGeom prst="rect">
            <a:avLst/>
          </a:prstGeom>
          <a:noFill/>
        </p:spPr>
        <p:txBody>
          <a:bodyPr wrap="square" anchor="t" lIns="0" rIns="0" tIns="0" bIns="0">
            <a:spAutoFit/>
          </a:bodyPr>
          <a:lstStyle/>
          <a:p>
            <a:pPr algn="l">
              <a:lnSpc>
                <a:spcPct val="100000"/>
              </a:lnSpc>
            </a:pPr>
            <a:r>
              <a:rPr sz="950" b="0">
                <a:solidFill>
                  <a:srgbClr val="637268"/>
                </a:solidFill>
                <a:latin typeface="Calibri"/>
              </a:rPr>
              <a:t>HomeValue — House Price Prediction System</a:t>
            </a:r>
          </a:p>
        </p:txBody>
      </p:sp>
      <p:sp>
        <p:nvSpPr>
          <p:cNvPr id="33" name="TextBox 32"/>
          <p:cNvSpPr txBox="1"/>
          <p:nvPr/>
        </p:nvSpPr>
        <p:spPr>
          <a:xfrm>
            <a:off x="10545775" y="6382512"/>
            <a:ext cx="914400" cy="274320"/>
          </a:xfrm>
          <a:prstGeom prst="rect">
            <a:avLst/>
          </a:prstGeom>
          <a:noFill/>
        </p:spPr>
        <p:txBody>
          <a:bodyPr wrap="square" anchor="t" lIns="0" rIns="0" tIns="0" bIns="0">
            <a:spAutoFit/>
          </a:bodyPr>
          <a:lstStyle/>
          <a:p>
            <a:pPr algn="r">
              <a:lnSpc>
                <a:spcPct val="100000"/>
              </a:lnSpc>
            </a:pPr>
            <a:r>
              <a:rPr sz="950" b="1">
                <a:solidFill>
                  <a:srgbClr val="2F6B4F"/>
                </a:solidFill>
                <a:latin typeface="Calibri"/>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 name="TextBox 2"/>
          <p:cNvSpPr txBox="1"/>
          <p:nvPr/>
        </p:nvSpPr>
        <p:spPr>
          <a:xfrm>
            <a:off x="731520" y="502920"/>
            <a:ext cx="10728655" cy="274320"/>
          </a:xfrm>
          <a:prstGeom prst="rect">
            <a:avLst/>
          </a:prstGeom>
          <a:noFill/>
        </p:spPr>
        <p:txBody>
          <a:bodyPr wrap="square" anchor="t" lIns="0" rIns="0" tIns="0" bIns="0">
            <a:spAutoFit/>
          </a:bodyPr>
          <a:lstStyle/>
          <a:p>
            <a:pPr algn="l">
              <a:lnSpc>
                <a:spcPct val="100000"/>
              </a:lnSpc>
            </a:pPr>
            <a:r>
              <a:rPr sz="1100" b="1">
                <a:solidFill>
                  <a:srgbClr val="2F6B4F"/>
                </a:solidFill>
                <a:latin typeface="Calibri"/>
              </a:rPr>
              <a:t>INTERFACE</a:t>
            </a:r>
          </a:p>
        </p:txBody>
      </p:sp>
      <p:sp>
        <p:nvSpPr>
          <p:cNvPr id="4" name="TextBox 3"/>
          <p:cNvSpPr txBox="1"/>
          <p:nvPr/>
        </p:nvSpPr>
        <p:spPr>
          <a:xfrm>
            <a:off x="731520" y="813816"/>
            <a:ext cx="10728655" cy="566928"/>
          </a:xfrm>
          <a:prstGeom prst="rect">
            <a:avLst/>
          </a:prstGeom>
          <a:noFill/>
        </p:spPr>
        <p:txBody>
          <a:bodyPr wrap="square" anchor="t" lIns="0" rIns="0" tIns="0" bIns="0">
            <a:spAutoFit/>
          </a:bodyPr>
          <a:lstStyle/>
          <a:p>
            <a:pPr algn="l">
              <a:lnSpc>
                <a:spcPct val="100000"/>
              </a:lnSpc>
            </a:pPr>
            <a:r>
              <a:rPr sz="3000" b="1">
                <a:solidFill>
                  <a:srgbClr val="1F2421"/>
                </a:solidFill>
                <a:latin typeface="Calibri"/>
              </a:rPr>
              <a:t>The web application</a:t>
            </a:r>
          </a:p>
        </p:txBody>
      </p:sp>
      <p:sp>
        <p:nvSpPr>
          <p:cNvPr id="5" name="TextBox 4"/>
          <p:cNvSpPr txBox="1"/>
          <p:nvPr/>
        </p:nvSpPr>
        <p:spPr>
          <a:xfrm>
            <a:off x="731520" y="1417320"/>
            <a:ext cx="10728655" cy="365760"/>
          </a:xfrm>
          <a:prstGeom prst="rect">
            <a:avLst/>
          </a:prstGeom>
          <a:noFill/>
        </p:spPr>
        <p:txBody>
          <a:bodyPr wrap="square" anchor="t" lIns="0" rIns="0" tIns="0" bIns="0">
            <a:spAutoFit/>
          </a:bodyPr>
          <a:lstStyle/>
          <a:p>
            <a:pPr algn="l">
              <a:lnSpc>
                <a:spcPct val="100000"/>
              </a:lnSpc>
            </a:pPr>
            <a:r>
              <a:rPr sz="1400" b="0">
                <a:solidFill>
                  <a:srgbClr val="637268"/>
                </a:solidFill>
                <a:latin typeface="Calibri"/>
              </a:rPr>
              <a:t>Five pages, hand-written HTML, CSS and JavaScript. No framework, no CDN.</a:t>
            </a:r>
          </a:p>
        </p:txBody>
      </p:sp>
      <p:sp>
        <p:nvSpPr>
          <p:cNvPr id="6" name="Rectangle 5"/>
          <p:cNvSpPr/>
          <p:nvPr/>
        </p:nvSpPr>
        <p:spPr>
          <a:xfrm>
            <a:off x="731520" y="1874520"/>
            <a:ext cx="10728655" cy="9525"/>
          </a:xfrm>
          <a:prstGeom prst="rect">
            <a:avLst/>
          </a:prstGeom>
          <a:solidFill>
            <a:srgbClr val="DCE3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Rounded Rectangle 6"/>
          <p:cNvSpPr/>
          <p:nvPr/>
        </p:nvSpPr>
        <p:spPr>
          <a:xfrm>
            <a:off x="731520" y="2203704"/>
            <a:ext cx="2029968" cy="1554480"/>
          </a:xfrm>
          <a:prstGeom prst="roundRect">
            <a:avLst>
              <a:gd name="adj" fmla="val 8000"/>
            </a:avLst>
          </a:prstGeom>
          <a:solidFill>
            <a:srgbClr val="E7EFEA"/>
          </a:solidFill>
          <a:ln w="9525">
            <a:solidFill>
              <a:srgbClr val="DCE3D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8" name="Rectangle 7"/>
          <p:cNvSpPr/>
          <p:nvPr/>
        </p:nvSpPr>
        <p:spPr>
          <a:xfrm>
            <a:off x="731520" y="2203704"/>
            <a:ext cx="2029968" cy="45720"/>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9" name="TextBox 8"/>
          <p:cNvSpPr txBox="1"/>
          <p:nvPr/>
        </p:nvSpPr>
        <p:spPr>
          <a:xfrm>
            <a:off x="896112" y="2478024"/>
            <a:ext cx="1700784" cy="274320"/>
          </a:xfrm>
          <a:prstGeom prst="rect">
            <a:avLst/>
          </a:prstGeom>
          <a:noFill/>
        </p:spPr>
        <p:txBody>
          <a:bodyPr wrap="square" anchor="t" lIns="0" rIns="0" tIns="0" bIns="0">
            <a:spAutoFit/>
          </a:bodyPr>
          <a:lstStyle/>
          <a:p>
            <a:pPr algn="l">
              <a:lnSpc>
                <a:spcPct val="100000"/>
              </a:lnSpc>
            </a:pPr>
            <a:r>
              <a:rPr sz="1300" b="1">
                <a:solidFill>
                  <a:srgbClr val="1F2421"/>
                </a:solidFill>
                <a:latin typeface="Calibri"/>
              </a:rPr>
              <a:t>Landing</a:t>
            </a:r>
          </a:p>
        </p:txBody>
      </p:sp>
      <p:sp>
        <p:nvSpPr>
          <p:cNvPr id="10" name="TextBox 9"/>
          <p:cNvSpPr txBox="1"/>
          <p:nvPr/>
        </p:nvSpPr>
        <p:spPr>
          <a:xfrm>
            <a:off x="896112" y="2825496"/>
            <a:ext cx="1700784" cy="822960"/>
          </a:xfrm>
          <a:prstGeom prst="rect">
            <a:avLst/>
          </a:prstGeom>
          <a:noFill/>
        </p:spPr>
        <p:txBody>
          <a:bodyPr wrap="square" anchor="t" lIns="0" rIns="0" tIns="0" bIns="0">
            <a:spAutoFit/>
          </a:bodyPr>
          <a:lstStyle/>
          <a:p>
            <a:pPr algn="l">
              <a:lnSpc>
                <a:spcPct val="120000"/>
              </a:lnSpc>
            </a:pPr>
            <a:r>
              <a:rPr sz="1050" b="0">
                <a:solidFill>
                  <a:srgbClr val="637268"/>
                </a:solidFill>
                <a:latin typeface="Calibri"/>
              </a:rPr>
              <a:t>Headline, two calls to action, dataset facts.</a:t>
            </a:r>
          </a:p>
        </p:txBody>
      </p:sp>
      <p:sp>
        <p:nvSpPr>
          <p:cNvPr id="11" name="Rounded Rectangle 10"/>
          <p:cNvSpPr/>
          <p:nvPr/>
        </p:nvSpPr>
        <p:spPr>
          <a:xfrm>
            <a:off x="2907792" y="2203704"/>
            <a:ext cx="2029968" cy="1554480"/>
          </a:xfrm>
          <a:prstGeom prst="roundRect">
            <a:avLst>
              <a:gd name="adj" fmla="val 8000"/>
            </a:avLst>
          </a:prstGeom>
          <a:solidFill>
            <a:srgbClr val="E7EFEA"/>
          </a:solidFill>
          <a:ln w="9525">
            <a:solidFill>
              <a:srgbClr val="DCE3D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2" name="Rectangle 11"/>
          <p:cNvSpPr/>
          <p:nvPr/>
        </p:nvSpPr>
        <p:spPr>
          <a:xfrm>
            <a:off x="2907792" y="2203704"/>
            <a:ext cx="2029968" cy="45720"/>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3" name="TextBox 12"/>
          <p:cNvSpPr txBox="1"/>
          <p:nvPr/>
        </p:nvSpPr>
        <p:spPr>
          <a:xfrm>
            <a:off x="3072384" y="2478024"/>
            <a:ext cx="1700784" cy="274320"/>
          </a:xfrm>
          <a:prstGeom prst="rect">
            <a:avLst/>
          </a:prstGeom>
          <a:noFill/>
        </p:spPr>
        <p:txBody>
          <a:bodyPr wrap="square" anchor="t" lIns="0" rIns="0" tIns="0" bIns="0">
            <a:spAutoFit/>
          </a:bodyPr>
          <a:lstStyle/>
          <a:p>
            <a:pPr algn="l">
              <a:lnSpc>
                <a:spcPct val="100000"/>
              </a:lnSpc>
            </a:pPr>
            <a:r>
              <a:rPr sz="1300" b="1">
                <a:solidFill>
                  <a:srgbClr val="1F2421"/>
                </a:solidFill>
                <a:latin typeface="Calibri"/>
              </a:rPr>
              <a:t>Estimate form</a:t>
            </a:r>
          </a:p>
        </p:txBody>
      </p:sp>
      <p:sp>
        <p:nvSpPr>
          <p:cNvPr id="14" name="TextBox 13"/>
          <p:cNvSpPr txBox="1"/>
          <p:nvPr/>
        </p:nvSpPr>
        <p:spPr>
          <a:xfrm>
            <a:off x="3072384" y="2825496"/>
            <a:ext cx="1700784" cy="822960"/>
          </a:xfrm>
          <a:prstGeom prst="rect">
            <a:avLst/>
          </a:prstGeom>
          <a:noFill/>
        </p:spPr>
        <p:txBody>
          <a:bodyPr wrap="square" anchor="t" lIns="0" rIns="0" tIns="0" bIns="0">
            <a:spAutoFit/>
          </a:bodyPr>
          <a:lstStyle/>
          <a:p>
            <a:pPr algn="l">
              <a:lnSpc>
                <a:spcPct val="120000"/>
              </a:lnSpc>
            </a:pPr>
            <a:r>
              <a:rPr sz="1050" b="0">
                <a:solidFill>
                  <a:srgbClr val="637268"/>
                </a:solidFill>
                <a:latin typeface="Calibri"/>
              </a:rPr>
              <a:t>Nine inputs pre-filled with training medians.</a:t>
            </a:r>
          </a:p>
        </p:txBody>
      </p:sp>
      <p:sp>
        <p:nvSpPr>
          <p:cNvPr id="15" name="Rounded Rectangle 14"/>
          <p:cNvSpPr/>
          <p:nvPr/>
        </p:nvSpPr>
        <p:spPr>
          <a:xfrm>
            <a:off x="5084064" y="2203704"/>
            <a:ext cx="2029968" cy="1554480"/>
          </a:xfrm>
          <a:prstGeom prst="roundRect">
            <a:avLst>
              <a:gd name="adj" fmla="val 8000"/>
            </a:avLst>
          </a:prstGeom>
          <a:solidFill>
            <a:srgbClr val="E7EFEA"/>
          </a:solidFill>
          <a:ln w="9525">
            <a:solidFill>
              <a:srgbClr val="DCE3D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6" name="Rectangle 15"/>
          <p:cNvSpPr/>
          <p:nvPr/>
        </p:nvSpPr>
        <p:spPr>
          <a:xfrm>
            <a:off x="5084064" y="2203704"/>
            <a:ext cx="2029968" cy="45720"/>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7" name="TextBox 16"/>
          <p:cNvSpPr txBox="1"/>
          <p:nvPr/>
        </p:nvSpPr>
        <p:spPr>
          <a:xfrm>
            <a:off x="5248656" y="2478024"/>
            <a:ext cx="1700784" cy="274320"/>
          </a:xfrm>
          <a:prstGeom prst="rect">
            <a:avLst/>
          </a:prstGeom>
          <a:noFill/>
        </p:spPr>
        <p:txBody>
          <a:bodyPr wrap="square" anchor="t" lIns="0" rIns="0" tIns="0" bIns="0">
            <a:spAutoFit/>
          </a:bodyPr>
          <a:lstStyle/>
          <a:p>
            <a:pPr algn="l">
              <a:lnSpc>
                <a:spcPct val="100000"/>
              </a:lnSpc>
            </a:pPr>
            <a:r>
              <a:rPr sz="1300" b="1">
                <a:solidFill>
                  <a:srgbClr val="1F2421"/>
                </a:solidFill>
                <a:latin typeface="Calibri"/>
              </a:rPr>
              <a:t>Result</a:t>
            </a:r>
          </a:p>
        </p:txBody>
      </p:sp>
      <p:sp>
        <p:nvSpPr>
          <p:cNvPr id="18" name="TextBox 17"/>
          <p:cNvSpPr txBox="1"/>
          <p:nvPr/>
        </p:nvSpPr>
        <p:spPr>
          <a:xfrm>
            <a:off x="5248656" y="2825496"/>
            <a:ext cx="1700784" cy="822960"/>
          </a:xfrm>
          <a:prstGeom prst="rect">
            <a:avLst/>
          </a:prstGeom>
          <a:noFill/>
        </p:spPr>
        <p:txBody>
          <a:bodyPr wrap="square" anchor="t" lIns="0" rIns="0" tIns="0" bIns="0">
            <a:spAutoFit/>
          </a:bodyPr>
          <a:lstStyle/>
          <a:p>
            <a:pPr algn="l">
              <a:lnSpc>
                <a:spcPct val="120000"/>
              </a:lnSpc>
            </a:pPr>
            <a:r>
              <a:rPr sz="1050" b="0">
                <a:solidFill>
                  <a:srgbClr val="637268"/>
                </a:solidFill>
                <a:latin typeface="Calibri"/>
              </a:rPr>
              <a:t>Price, price per sq ft, sensitivity table, limitations.</a:t>
            </a:r>
          </a:p>
        </p:txBody>
      </p:sp>
      <p:sp>
        <p:nvSpPr>
          <p:cNvPr id="19" name="Rounded Rectangle 18"/>
          <p:cNvSpPr/>
          <p:nvPr/>
        </p:nvSpPr>
        <p:spPr>
          <a:xfrm>
            <a:off x="7260336" y="2203704"/>
            <a:ext cx="2029968" cy="1554480"/>
          </a:xfrm>
          <a:prstGeom prst="roundRect">
            <a:avLst>
              <a:gd name="adj" fmla="val 8000"/>
            </a:avLst>
          </a:prstGeom>
          <a:solidFill>
            <a:srgbClr val="E7EFEA"/>
          </a:solidFill>
          <a:ln w="9525">
            <a:solidFill>
              <a:srgbClr val="DCE3D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0" name="Rectangle 19"/>
          <p:cNvSpPr/>
          <p:nvPr/>
        </p:nvSpPr>
        <p:spPr>
          <a:xfrm>
            <a:off x="7260336" y="2203704"/>
            <a:ext cx="2029968" cy="45720"/>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1" name="TextBox 20"/>
          <p:cNvSpPr txBox="1"/>
          <p:nvPr/>
        </p:nvSpPr>
        <p:spPr>
          <a:xfrm>
            <a:off x="7424928" y="2478024"/>
            <a:ext cx="1700784" cy="274320"/>
          </a:xfrm>
          <a:prstGeom prst="rect">
            <a:avLst/>
          </a:prstGeom>
          <a:noFill/>
        </p:spPr>
        <p:txBody>
          <a:bodyPr wrap="square" anchor="t" lIns="0" rIns="0" tIns="0" bIns="0">
            <a:spAutoFit/>
          </a:bodyPr>
          <a:lstStyle/>
          <a:p>
            <a:pPr algn="l">
              <a:lnSpc>
                <a:spcPct val="100000"/>
              </a:lnSpc>
            </a:pPr>
            <a:r>
              <a:rPr sz="1300" b="1">
                <a:solidFill>
                  <a:srgbClr val="1F2421"/>
                </a:solidFill>
                <a:latin typeface="Calibri"/>
              </a:rPr>
              <a:t>Insights</a:t>
            </a:r>
          </a:p>
        </p:txBody>
      </p:sp>
      <p:sp>
        <p:nvSpPr>
          <p:cNvPr id="22" name="TextBox 21"/>
          <p:cNvSpPr txBox="1"/>
          <p:nvPr/>
        </p:nvSpPr>
        <p:spPr>
          <a:xfrm>
            <a:off x="7424928" y="2825496"/>
            <a:ext cx="1700784" cy="822960"/>
          </a:xfrm>
          <a:prstGeom prst="rect">
            <a:avLst/>
          </a:prstGeom>
          <a:noFill/>
        </p:spPr>
        <p:txBody>
          <a:bodyPr wrap="square" anchor="t" lIns="0" rIns="0" tIns="0" bIns="0">
            <a:spAutoFit/>
          </a:bodyPr>
          <a:lstStyle/>
          <a:p>
            <a:pPr algn="l">
              <a:lnSpc>
                <a:spcPct val="120000"/>
              </a:lnSpc>
            </a:pPr>
            <a:r>
              <a:rPr sz="1050" b="0">
                <a:solidFill>
                  <a:srgbClr val="637268"/>
                </a:solidFill>
                <a:latin typeface="Calibri"/>
              </a:rPr>
              <a:t>Six charts generated from the real dataset and model.</a:t>
            </a:r>
          </a:p>
        </p:txBody>
      </p:sp>
      <p:sp>
        <p:nvSpPr>
          <p:cNvPr id="23" name="Rounded Rectangle 22"/>
          <p:cNvSpPr/>
          <p:nvPr/>
        </p:nvSpPr>
        <p:spPr>
          <a:xfrm>
            <a:off x="9436608" y="2203704"/>
            <a:ext cx="2029968" cy="1554480"/>
          </a:xfrm>
          <a:prstGeom prst="roundRect">
            <a:avLst>
              <a:gd name="adj" fmla="val 8000"/>
            </a:avLst>
          </a:prstGeom>
          <a:solidFill>
            <a:srgbClr val="E7EFEA"/>
          </a:solidFill>
          <a:ln w="9525">
            <a:solidFill>
              <a:srgbClr val="DCE3D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4" name="Rectangle 23"/>
          <p:cNvSpPr/>
          <p:nvPr/>
        </p:nvSpPr>
        <p:spPr>
          <a:xfrm>
            <a:off x="9436608" y="2203704"/>
            <a:ext cx="2029968" cy="45720"/>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5" name="TextBox 24"/>
          <p:cNvSpPr txBox="1"/>
          <p:nvPr/>
        </p:nvSpPr>
        <p:spPr>
          <a:xfrm>
            <a:off x="9601200" y="2478024"/>
            <a:ext cx="1700784" cy="274320"/>
          </a:xfrm>
          <a:prstGeom prst="rect">
            <a:avLst/>
          </a:prstGeom>
          <a:noFill/>
        </p:spPr>
        <p:txBody>
          <a:bodyPr wrap="square" anchor="t" lIns="0" rIns="0" tIns="0" bIns="0">
            <a:spAutoFit/>
          </a:bodyPr>
          <a:lstStyle/>
          <a:p>
            <a:pPr algn="l">
              <a:lnSpc>
                <a:spcPct val="100000"/>
              </a:lnSpc>
            </a:pPr>
            <a:r>
              <a:rPr sz="1300" b="1">
                <a:solidFill>
                  <a:srgbClr val="1F2421"/>
                </a:solidFill>
                <a:latin typeface="Calibri"/>
              </a:rPr>
              <a:t>Dashboard</a:t>
            </a:r>
          </a:p>
        </p:txBody>
      </p:sp>
      <p:sp>
        <p:nvSpPr>
          <p:cNvPr id="26" name="TextBox 25"/>
          <p:cNvSpPr txBox="1"/>
          <p:nvPr/>
        </p:nvSpPr>
        <p:spPr>
          <a:xfrm>
            <a:off x="9601200" y="2825496"/>
            <a:ext cx="1700784" cy="822960"/>
          </a:xfrm>
          <a:prstGeom prst="rect">
            <a:avLst/>
          </a:prstGeom>
          <a:noFill/>
        </p:spPr>
        <p:txBody>
          <a:bodyPr wrap="square" anchor="t" lIns="0" rIns="0" tIns="0" bIns="0">
            <a:spAutoFit/>
          </a:bodyPr>
          <a:lstStyle/>
          <a:p>
            <a:pPr algn="l">
              <a:lnSpc>
                <a:spcPct val="120000"/>
              </a:lnSpc>
            </a:pPr>
            <a:r>
              <a:rPr sz="1050" b="0">
                <a:solidFill>
                  <a:srgbClr val="637268"/>
                </a:solidFill>
                <a:latin typeface="Calibri"/>
              </a:rPr>
              <a:t>Live view of the predictions this installation served.</a:t>
            </a:r>
          </a:p>
        </p:txBody>
      </p:sp>
      <p:sp>
        <p:nvSpPr>
          <p:cNvPr id="27" name="Rounded Rectangle 26"/>
          <p:cNvSpPr/>
          <p:nvPr/>
        </p:nvSpPr>
        <p:spPr>
          <a:xfrm>
            <a:off x="731520" y="4032504"/>
            <a:ext cx="10728655" cy="1417320"/>
          </a:xfrm>
          <a:prstGeom prst="roundRect">
            <a:avLst>
              <a:gd name="adj" fmla="val 6000"/>
            </a:avLst>
          </a:prstGeom>
          <a:solidFill>
            <a:srgbClr val="E7EF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8" name="Rectangle 27"/>
          <p:cNvSpPr/>
          <p:nvPr/>
        </p:nvSpPr>
        <p:spPr>
          <a:xfrm>
            <a:off x="731520" y="4032504"/>
            <a:ext cx="54864" cy="1417320"/>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9" name="TextBox 28"/>
          <p:cNvSpPr txBox="1"/>
          <p:nvPr/>
        </p:nvSpPr>
        <p:spPr>
          <a:xfrm>
            <a:off x="1024128" y="4251960"/>
            <a:ext cx="10134295" cy="1097280"/>
          </a:xfrm>
          <a:prstGeom prst="rect">
            <a:avLst/>
          </a:prstGeom>
          <a:noFill/>
        </p:spPr>
        <p:txBody>
          <a:bodyPr wrap="square" anchor="t" lIns="0" rIns="0" tIns="0" bIns="0">
            <a:spAutoFit/>
          </a:bodyPr>
          <a:lstStyle/>
          <a:p>
            <a:pPr algn="l">
              <a:lnSpc>
                <a:spcPct val="125000"/>
              </a:lnSpc>
            </a:pPr>
            <a:r>
              <a:rPr sz="1400" b="1">
                <a:solidFill>
                  <a:srgbClr val="1F2421"/>
                </a:solidFill>
                <a:latin typeface="Calibri"/>
              </a:rPr>
              <a:t>Validation runs twice, on purpose</a:t>
            </a:r>
          </a:p>
          <a:p>
            <a:pPr algn="l">
              <a:lnSpc>
                <a:spcPct val="125000"/>
              </a:lnSpc>
              <a:spcBef>
                <a:spcPts val="400"/>
              </a:spcBef>
            </a:pPr>
            <a:r>
              <a:rPr sz="1250" b="0">
                <a:solidFill>
                  <a:srgbClr val="1F2421"/>
                </a:solidFill>
                <a:latin typeface="Calibri"/>
              </a:rPr>
              <a:t>The same ranges and vocabularies are checked in the browser for instant feedback, then again on the server, because a client-side check is a convenience and never a guarantee. Invalid ranges, missing fields and unknown categories all produce specific field-level messages.</a:t>
            </a:r>
          </a:p>
        </p:txBody>
      </p:sp>
      <p:sp>
        <p:nvSpPr>
          <p:cNvPr id="30" name="TextBox 29"/>
          <p:cNvSpPr txBox="1"/>
          <p:nvPr/>
        </p:nvSpPr>
        <p:spPr>
          <a:xfrm>
            <a:off x="731520" y="6382512"/>
            <a:ext cx="8686800" cy="274320"/>
          </a:xfrm>
          <a:prstGeom prst="rect">
            <a:avLst/>
          </a:prstGeom>
          <a:noFill/>
        </p:spPr>
        <p:txBody>
          <a:bodyPr wrap="square" anchor="t" lIns="0" rIns="0" tIns="0" bIns="0">
            <a:spAutoFit/>
          </a:bodyPr>
          <a:lstStyle/>
          <a:p>
            <a:pPr algn="l">
              <a:lnSpc>
                <a:spcPct val="100000"/>
              </a:lnSpc>
            </a:pPr>
            <a:r>
              <a:rPr sz="950" b="0">
                <a:solidFill>
                  <a:srgbClr val="637268"/>
                </a:solidFill>
                <a:latin typeface="Calibri"/>
              </a:rPr>
              <a:t>HomeValue — House Price Prediction System</a:t>
            </a:r>
          </a:p>
        </p:txBody>
      </p:sp>
      <p:sp>
        <p:nvSpPr>
          <p:cNvPr id="31" name="TextBox 30"/>
          <p:cNvSpPr txBox="1"/>
          <p:nvPr/>
        </p:nvSpPr>
        <p:spPr>
          <a:xfrm>
            <a:off x="10545775" y="6382512"/>
            <a:ext cx="914400" cy="274320"/>
          </a:xfrm>
          <a:prstGeom prst="rect">
            <a:avLst/>
          </a:prstGeom>
          <a:noFill/>
        </p:spPr>
        <p:txBody>
          <a:bodyPr wrap="square" anchor="t" lIns="0" rIns="0" tIns="0" bIns="0">
            <a:spAutoFit/>
          </a:bodyPr>
          <a:lstStyle/>
          <a:p>
            <a:pPr algn="r">
              <a:lnSpc>
                <a:spcPct val="100000"/>
              </a:lnSpc>
            </a:pPr>
            <a:r>
              <a:rPr sz="950" b="1">
                <a:solidFill>
                  <a:srgbClr val="2F6B4F"/>
                </a:solidFill>
                <a:latin typeface="Calibr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 name="TextBox 2"/>
          <p:cNvSpPr txBox="1"/>
          <p:nvPr/>
        </p:nvSpPr>
        <p:spPr>
          <a:xfrm>
            <a:off x="731520" y="502920"/>
            <a:ext cx="10728655" cy="274320"/>
          </a:xfrm>
          <a:prstGeom prst="rect">
            <a:avLst/>
          </a:prstGeom>
          <a:noFill/>
        </p:spPr>
        <p:txBody>
          <a:bodyPr wrap="square" anchor="t" lIns="0" rIns="0" tIns="0" bIns="0">
            <a:spAutoFit/>
          </a:bodyPr>
          <a:lstStyle/>
          <a:p>
            <a:pPr algn="l">
              <a:lnSpc>
                <a:spcPct val="100000"/>
              </a:lnSpc>
            </a:pPr>
            <a:r>
              <a:rPr sz="1100" b="1">
                <a:solidFill>
                  <a:srgbClr val="2F6B4F"/>
                </a:solidFill>
                <a:latin typeface="Calibri"/>
              </a:rPr>
              <a:t>LIVE INSIGHT</a:t>
            </a:r>
          </a:p>
        </p:txBody>
      </p:sp>
      <p:sp>
        <p:nvSpPr>
          <p:cNvPr id="4" name="TextBox 3"/>
          <p:cNvSpPr txBox="1"/>
          <p:nvPr/>
        </p:nvSpPr>
        <p:spPr>
          <a:xfrm>
            <a:off x="731520" y="813816"/>
            <a:ext cx="10728655" cy="566928"/>
          </a:xfrm>
          <a:prstGeom prst="rect">
            <a:avLst/>
          </a:prstGeom>
          <a:noFill/>
        </p:spPr>
        <p:txBody>
          <a:bodyPr wrap="square" anchor="t" lIns="0" rIns="0" tIns="0" bIns="0">
            <a:spAutoFit/>
          </a:bodyPr>
          <a:lstStyle/>
          <a:p>
            <a:pPr algn="l">
              <a:lnSpc>
                <a:spcPct val="100000"/>
              </a:lnSpc>
            </a:pPr>
            <a:r>
              <a:rPr sz="3000" b="1">
                <a:solidFill>
                  <a:srgbClr val="1F2421"/>
                </a:solidFill>
                <a:latin typeface="Calibri"/>
              </a:rPr>
              <a:t>The prediction dashboard</a:t>
            </a:r>
          </a:p>
        </p:txBody>
      </p:sp>
      <p:sp>
        <p:nvSpPr>
          <p:cNvPr id="5" name="TextBox 4"/>
          <p:cNvSpPr txBox="1"/>
          <p:nvPr/>
        </p:nvSpPr>
        <p:spPr>
          <a:xfrm>
            <a:off x="731520" y="1417320"/>
            <a:ext cx="10728655" cy="365760"/>
          </a:xfrm>
          <a:prstGeom prst="rect">
            <a:avLst/>
          </a:prstGeom>
          <a:noFill/>
        </p:spPr>
        <p:txBody>
          <a:bodyPr wrap="square" anchor="t" lIns="0" rIns="0" tIns="0" bIns="0">
            <a:spAutoFit/>
          </a:bodyPr>
          <a:lstStyle/>
          <a:p>
            <a:pPr algn="l">
              <a:lnSpc>
                <a:spcPct val="100000"/>
              </a:lnSpc>
            </a:pPr>
            <a:r>
              <a:rPr sz="1400" b="0">
                <a:solidFill>
                  <a:srgbClr val="637268"/>
                </a:solidFill>
                <a:latin typeface="Calibri"/>
              </a:rPr>
              <a:t>Reports on estimates this installation actually served, stored in SQLite.</a:t>
            </a:r>
          </a:p>
        </p:txBody>
      </p:sp>
      <p:sp>
        <p:nvSpPr>
          <p:cNvPr id="6" name="Rectangle 5"/>
          <p:cNvSpPr/>
          <p:nvPr/>
        </p:nvSpPr>
        <p:spPr>
          <a:xfrm>
            <a:off x="731520" y="1874520"/>
            <a:ext cx="10728655" cy="9525"/>
          </a:xfrm>
          <a:prstGeom prst="rect">
            <a:avLst/>
          </a:prstGeom>
          <a:solidFill>
            <a:srgbClr val="DCE3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TextBox 6"/>
          <p:cNvSpPr txBox="1"/>
          <p:nvPr/>
        </p:nvSpPr>
        <p:spPr>
          <a:xfrm>
            <a:off x="731520" y="2203704"/>
            <a:ext cx="5212080" cy="274320"/>
          </a:xfrm>
          <a:prstGeom prst="rect">
            <a:avLst/>
          </a:prstGeom>
          <a:noFill/>
        </p:spPr>
        <p:txBody>
          <a:bodyPr wrap="square" anchor="t" lIns="0" rIns="0" tIns="0" bIns="0">
            <a:spAutoFit/>
          </a:bodyPr>
          <a:lstStyle/>
          <a:p>
            <a:pPr algn="l">
              <a:lnSpc>
                <a:spcPct val="100000"/>
              </a:lnSpc>
            </a:pPr>
            <a:r>
              <a:rPr sz="1500" b="1">
                <a:solidFill>
                  <a:srgbClr val="2F6B4F"/>
                </a:solidFill>
                <a:latin typeface="Calibri"/>
              </a:rPr>
              <a:t>Usage — grows over time</a:t>
            </a:r>
          </a:p>
        </p:txBody>
      </p:sp>
      <p:sp>
        <p:nvSpPr>
          <p:cNvPr id="8" name="TextBox 7"/>
          <p:cNvSpPr txBox="1"/>
          <p:nvPr/>
        </p:nvSpPr>
        <p:spPr>
          <a:xfrm>
            <a:off x="731520" y="2587752"/>
            <a:ext cx="5212080" cy="2377440"/>
          </a:xfrm>
          <a:prstGeom prst="rect">
            <a:avLst/>
          </a:prstGeom>
          <a:noFill/>
        </p:spPr>
        <p:txBody>
          <a:bodyPr wrap="square" lIns="0" rIns="0" tIns="0" bIns="0">
            <a:spAutoFit/>
          </a:bodyPr>
          <a:lstStyle/>
          <a:p>
            <a:pPr>
              <a:lnSpc>
                <a:spcPct val="118000"/>
              </a:lnSpc>
            </a:pPr>
            <a:r>
              <a:rPr sz="1250">
                <a:solidFill>
                  <a:srgbClr val="1F2421"/>
                </a:solidFill>
                <a:latin typeface="Calibri"/>
              </a:rPr>
              <a:t>•  Predictions logged, median and range</a:t>
            </a:r>
          </a:p>
          <a:p>
            <a:pPr>
              <a:lnSpc>
                <a:spcPct val="118000"/>
              </a:lnSpc>
              <a:spcBef>
                <a:spcPts val="900"/>
              </a:spcBef>
            </a:pPr>
            <a:r>
              <a:rPr sz="1250">
                <a:solidFill>
                  <a:srgbClr val="1F2421"/>
                </a:solidFill>
                <a:latin typeface="Calibri"/>
              </a:rPr>
              <a:t>•  Volume over time, price distribution</a:t>
            </a:r>
          </a:p>
          <a:p>
            <a:pPr>
              <a:lnSpc>
                <a:spcPct val="118000"/>
              </a:lnSpc>
              <a:spcBef>
                <a:spcPts val="900"/>
              </a:spcBef>
            </a:pPr>
            <a:r>
              <a:rPr sz="1250">
                <a:solidFill>
                  <a:srgbClr val="1F2421"/>
                </a:solidFill>
                <a:latin typeface="Calibri"/>
              </a:rPr>
              <a:t>•  Median by location and property type</a:t>
            </a:r>
          </a:p>
          <a:p>
            <a:pPr>
              <a:lnSpc>
                <a:spcPct val="118000"/>
              </a:lnSpc>
              <a:spcBef>
                <a:spcPts val="900"/>
              </a:spcBef>
            </a:pPr>
            <a:r>
              <a:rPr sz="1250">
                <a:solidFill>
                  <a:srgbClr val="1F2421"/>
                </a:solidFill>
                <a:latin typeface="Calibri"/>
              </a:rPr>
              <a:t>•  Area vs price, coloured by property age</a:t>
            </a:r>
          </a:p>
        </p:txBody>
      </p:sp>
      <p:sp>
        <p:nvSpPr>
          <p:cNvPr id="9" name="TextBox 8"/>
          <p:cNvSpPr txBox="1"/>
          <p:nvPr/>
        </p:nvSpPr>
        <p:spPr>
          <a:xfrm>
            <a:off x="6355080" y="2203704"/>
            <a:ext cx="5193792" cy="274320"/>
          </a:xfrm>
          <a:prstGeom prst="rect">
            <a:avLst/>
          </a:prstGeom>
          <a:noFill/>
        </p:spPr>
        <p:txBody>
          <a:bodyPr wrap="square" anchor="t" lIns="0" rIns="0" tIns="0" bIns="0">
            <a:spAutoFit/>
          </a:bodyPr>
          <a:lstStyle/>
          <a:p>
            <a:pPr algn="l">
              <a:lnSpc>
                <a:spcPct val="100000"/>
              </a:lnSpc>
            </a:pPr>
            <a:r>
              <a:rPr sz="1500" b="1">
                <a:solidFill>
                  <a:srgbClr val="2F6B4F"/>
                </a:solidFill>
                <a:latin typeface="Calibri"/>
              </a:rPr>
              <a:t>Measured accuracy — fixed</a:t>
            </a:r>
          </a:p>
        </p:txBody>
      </p:sp>
      <p:sp>
        <p:nvSpPr>
          <p:cNvPr id="10" name="TextBox 9"/>
          <p:cNvSpPr txBox="1"/>
          <p:nvPr/>
        </p:nvSpPr>
        <p:spPr>
          <a:xfrm>
            <a:off x="6355080" y="2587752"/>
            <a:ext cx="5193792" cy="2377440"/>
          </a:xfrm>
          <a:prstGeom prst="rect">
            <a:avLst/>
          </a:prstGeom>
          <a:noFill/>
        </p:spPr>
        <p:txBody>
          <a:bodyPr wrap="square" lIns="0" rIns="0" tIns="0" bIns="0">
            <a:spAutoFit/>
          </a:bodyPr>
          <a:lstStyle/>
          <a:p>
            <a:pPr>
              <a:lnSpc>
                <a:spcPct val="118000"/>
              </a:lnSpc>
            </a:pPr>
            <a:r>
              <a:rPr sz="1250">
                <a:solidFill>
                  <a:srgbClr val="1F2421"/>
                </a:solidFill>
                <a:latin typeface="Calibri"/>
              </a:rPr>
              <a:t>•  MAE $19,039, R² 0.8676</a:t>
            </a:r>
          </a:p>
          <a:p>
            <a:pPr>
              <a:lnSpc>
                <a:spcPct val="118000"/>
              </a:lnSpc>
              <a:spcBef>
                <a:spcPts val="900"/>
              </a:spcBef>
            </a:pPr>
            <a:r>
              <a:rPr sz="1250">
                <a:solidFill>
                  <a:srgbClr val="1F2421"/>
                </a:solidFill>
                <a:latin typeface="Calibri"/>
              </a:rPr>
              <a:t>•  Read from metrics.json, never from usage</a:t>
            </a:r>
          </a:p>
          <a:p>
            <a:pPr>
              <a:lnSpc>
                <a:spcPct val="118000"/>
              </a:lnSpc>
              <a:spcBef>
                <a:spcPts val="900"/>
              </a:spcBef>
            </a:pPr>
            <a:r>
              <a:rPr sz="1250">
                <a:solidFill>
                  <a:srgbClr val="1F2421"/>
                </a:solidFill>
                <a:latin typeface="Calibri"/>
              </a:rPr>
              <a:t>•  Does not move however many predictions are made</a:t>
            </a:r>
          </a:p>
          <a:p>
            <a:pPr>
              <a:lnSpc>
                <a:spcPct val="118000"/>
              </a:lnSpc>
              <a:spcBef>
                <a:spcPts val="900"/>
              </a:spcBef>
            </a:pPr>
            <a:r>
              <a:rPr sz="1250">
                <a:solidFill>
                  <a:srgbClr val="1F2421"/>
                </a:solidFill>
                <a:latin typeface="Calibri"/>
              </a:rPr>
              <a:t>•  Feature importance, shown as association only</a:t>
            </a:r>
          </a:p>
        </p:txBody>
      </p:sp>
      <p:sp>
        <p:nvSpPr>
          <p:cNvPr id="11" name="Rounded Rectangle 10"/>
          <p:cNvSpPr/>
          <p:nvPr/>
        </p:nvSpPr>
        <p:spPr>
          <a:xfrm>
            <a:off x="731520" y="5038344"/>
            <a:ext cx="10728655" cy="1325880"/>
          </a:xfrm>
          <a:prstGeom prst="roundRect">
            <a:avLst>
              <a:gd name="adj" fmla="val 6000"/>
            </a:avLst>
          </a:prstGeom>
          <a:solidFill>
            <a:srgbClr val="E7EF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2" name="Rectangle 11"/>
          <p:cNvSpPr/>
          <p:nvPr/>
        </p:nvSpPr>
        <p:spPr>
          <a:xfrm>
            <a:off x="731520" y="5038344"/>
            <a:ext cx="54864" cy="1325880"/>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3" name="TextBox 12"/>
          <p:cNvSpPr txBox="1"/>
          <p:nvPr/>
        </p:nvSpPr>
        <p:spPr>
          <a:xfrm>
            <a:off x="1024128" y="5257800"/>
            <a:ext cx="10134295" cy="1005840"/>
          </a:xfrm>
          <a:prstGeom prst="rect">
            <a:avLst/>
          </a:prstGeom>
          <a:noFill/>
        </p:spPr>
        <p:txBody>
          <a:bodyPr wrap="square" anchor="t" lIns="0" rIns="0" tIns="0" bIns="0">
            <a:spAutoFit/>
          </a:bodyPr>
          <a:lstStyle/>
          <a:p>
            <a:pPr algn="l">
              <a:lnSpc>
                <a:spcPct val="125000"/>
              </a:lnSpc>
            </a:pPr>
            <a:r>
              <a:rPr sz="1400" b="1">
                <a:solidFill>
                  <a:srgbClr val="1F2421"/>
                </a:solidFill>
                <a:latin typeface="Calibri"/>
              </a:rPr>
              <a:t>Nothing on it is invented</a:t>
            </a:r>
          </a:p>
          <a:p>
            <a:pPr algn="l">
              <a:lnSpc>
                <a:spcPct val="125000"/>
              </a:lnSpc>
              <a:spcBef>
                <a:spcPts val="400"/>
              </a:spcBef>
            </a:pPr>
            <a:r>
              <a:rPr sz="1250" b="0">
                <a:solidFill>
                  <a:srgbClr val="1F2421"/>
                </a:solidFill>
                <a:latin typeface="Calibri"/>
              </a:rPr>
              <a:t>With an empty log it shows an explicit empty state rather than placeholder charts. "Log sample activity" runs real properties from the cleaned dataset through the saved model and tags them, so they are always distinguishable from form submissions. The seven charts are hand-rolled inline SVG — no charting library, no external dependency.</a:t>
            </a:r>
          </a:p>
        </p:txBody>
      </p:sp>
      <p:sp>
        <p:nvSpPr>
          <p:cNvPr id="14" name="TextBox 13"/>
          <p:cNvSpPr txBox="1"/>
          <p:nvPr/>
        </p:nvSpPr>
        <p:spPr>
          <a:xfrm>
            <a:off x="731520" y="6382512"/>
            <a:ext cx="8686800" cy="274320"/>
          </a:xfrm>
          <a:prstGeom prst="rect">
            <a:avLst/>
          </a:prstGeom>
          <a:noFill/>
        </p:spPr>
        <p:txBody>
          <a:bodyPr wrap="square" anchor="t" lIns="0" rIns="0" tIns="0" bIns="0">
            <a:spAutoFit/>
          </a:bodyPr>
          <a:lstStyle/>
          <a:p>
            <a:pPr algn="l">
              <a:lnSpc>
                <a:spcPct val="100000"/>
              </a:lnSpc>
            </a:pPr>
            <a:r>
              <a:rPr sz="950" b="0">
                <a:solidFill>
                  <a:srgbClr val="637268"/>
                </a:solidFill>
                <a:latin typeface="Calibri"/>
              </a:rPr>
              <a:t>HomeValue — House Price Prediction System</a:t>
            </a:r>
          </a:p>
        </p:txBody>
      </p:sp>
      <p:sp>
        <p:nvSpPr>
          <p:cNvPr id="15" name="TextBox 14"/>
          <p:cNvSpPr txBox="1"/>
          <p:nvPr/>
        </p:nvSpPr>
        <p:spPr>
          <a:xfrm>
            <a:off x="10545775" y="6382512"/>
            <a:ext cx="914400" cy="274320"/>
          </a:xfrm>
          <a:prstGeom prst="rect">
            <a:avLst/>
          </a:prstGeom>
          <a:noFill/>
        </p:spPr>
        <p:txBody>
          <a:bodyPr wrap="square" anchor="t" lIns="0" rIns="0" tIns="0" bIns="0">
            <a:spAutoFit/>
          </a:bodyPr>
          <a:lstStyle/>
          <a:p>
            <a:pPr algn="r">
              <a:lnSpc>
                <a:spcPct val="100000"/>
              </a:lnSpc>
            </a:pPr>
            <a:r>
              <a:rPr sz="950" b="1">
                <a:solidFill>
                  <a:srgbClr val="2F6B4F"/>
                </a:solidFill>
                <a:latin typeface="Calibri"/>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 name="TextBox 2"/>
          <p:cNvSpPr txBox="1"/>
          <p:nvPr/>
        </p:nvSpPr>
        <p:spPr>
          <a:xfrm>
            <a:off x="731520" y="502920"/>
            <a:ext cx="10728655" cy="274320"/>
          </a:xfrm>
          <a:prstGeom prst="rect">
            <a:avLst/>
          </a:prstGeom>
          <a:noFill/>
        </p:spPr>
        <p:txBody>
          <a:bodyPr wrap="square" anchor="t" lIns="0" rIns="0" tIns="0" bIns="0">
            <a:spAutoFit/>
          </a:bodyPr>
          <a:lstStyle/>
          <a:p>
            <a:pPr algn="l">
              <a:lnSpc>
                <a:spcPct val="100000"/>
              </a:lnSpc>
            </a:pPr>
            <a:r>
              <a:rPr sz="1100" b="1">
                <a:solidFill>
                  <a:srgbClr val="2F6B4F"/>
                </a:solidFill>
                <a:latin typeface="Calibri"/>
              </a:rPr>
              <a:t>CONFIDENCE</a:t>
            </a:r>
          </a:p>
        </p:txBody>
      </p:sp>
      <p:sp>
        <p:nvSpPr>
          <p:cNvPr id="4" name="TextBox 3"/>
          <p:cNvSpPr txBox="1"/>
          <p:nvPr/>
        </p:nvSpPr>
        <p:spPr>
          <a:xfrm>
            <a:off x="731520" y="813816"/>
            <a:ext cx="10728655" cy="566928"/>
          </a:xfrm>
          <a:prstGeom prst="rect">
            <a:avLst/>
          </a:prstGeom>
          <a:noFill/>
        </p:spPr>
        <p:txBody>
          <a:bodyPr wrap="square" anchor="t" lIns="0" rIns="0" tIns="0" bIns="0">
            <a:spAutoFit/>
          </a:bodyPr>
          <a:lstStyle/>
          <a:p>
            <a:pPr algn="l">
              <a:lnSpc>
                <a:spcPct val="100000"/>
              </a:lnSpc>
            </a:pPr>
            <a:r>
              <a:rPr sz="3000" b="1">
                <a:solidFill>
                  <a:srgbClr val="1F2421"/>
                </a:solidFill>
                <a:latin typeface="Calibri"/>
              </a:rPr>
              <a:t>Testing and quality</a:t>
            </a:r>
          </a:p>
        </p:txBody>
      </p:sp>
      <p:sp>
        <p:nvSpPr>
          <p:cNvPr id="5" name="TextBox 4"/>
          <p:cNvSpPr txBox="1"/>
          <p:nvPr/>
        </p:nvSpPr>
        <p:spPr>
          <a:xfrm>
            <a:off x="731520" y="1417320"/>
            <a:ext cx="10728655" cy="365760"/>
          </a:xfrm>
          <a:prstGeom prst="rect">
            <a:avLst/>
          </a:prstGeom>
          <a:noFill/>
        </p:spPr>
        <p:txBody>
          <a:bodyPr wrap="square" anchor="t" lIns="0" rIns="0" tIns="0" bIns="0">
            <a:spAutoFit/>
          </a:bodyPr>
          <a:lstStyle/>
          <a:p>
            <a:pPr algn="l">
              <a:lnSpc>
                <a:spcPct val="100000"/>
              </a:lnSpc>
            </a:pPr>
            <a:r>
              <a:rPr sz="1400" b="0">
                <a:solidFill>
                  <a:srgbClr val="637268"/>
                </a:solidFill>
                <a:latin typeface="Calibri"/>
              </a:rPr>
              <a:t>70 pytest tests, all passing.</a:t>
            </a:r>
          </a:p>
        </p:txBody>
      </p:sp>
      <p:sp>
        <p:nvSpPr>
          <p:cNvPr id="6" name="Rectangle 5"/>
          <p:cNvSpPr/>
          <p:nvPr/>
        </p:nvSpPr>
        <p:spPr>
          <a:xfrm>
            <a:off x="731520" y="1874520"/>
            <a:ext cx="10728655" cy="9525"/>
          </a:xfrm>
          <a:prstGeom prst="rect">
            <a:avLst/>
          </a:prstGeom>
          <a:solidFill>
            <a:srgbClr val="DCE3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Rounded Rectangle 6"/>
          <p:cNvSpPr/>
          <p:nvPr/>
        </p:nvSpPr>
        <p:spPr>
          <a:xfrm>
            <a:off x="731520" y="2203704"/>
            <a:ext cx="2606040" cy="1645920"/>
          </a:xfrm>
          <a:prstGeom prst="roundRect">
            <a:avLst>
              <a:gd name="adj" fmla="val 8000"/>
            </a:avLst>
          </a:prstGeom>
          <a:solidFill>
            <a:srgbClr val="E7EFEA"/>
          </a:solidFill>
          <a:ln w="9525">
            <a:solidFill>
              <a:srgbClr val="DCE3D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8" name="Rectangle 7"/>
          <p:cNvSpPr/>
          <p:nvPr/>
        </p:nvSpPr>
        <p:spPr>
          <a:xfrm>
            <a:off x="731520" y="2203704"/>
            <a:ext cx="50292" cy="1645920"/>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9" name="TextBox 8"/>
          <p:cNvSpPr txBox="1"/>
          <p:nvPr/>
        </p:nvSpPr>
        <p:spPr>
          <a:xfrm>
            <a:off x="987552" y="2423160"/>
            <a:ext cx="2194560" cy="502920"/>
          </a:xfrm>
          <a:prstGeom prst="rect">
            <a:avLst/>
          </a:prstGeom>
          <a:noFill/>
        </p:spPr>
        <p:txBody>
          <a:bodyPr wrap="square" anchor="t" lIns="0" rIns="0" tIns="0" bIns="0">
            <a:spAutoFit/>
          </a:bodyPr>
          <a:lstStyle/>
          <a:p>
            <a:pPr algn="l">
              <a:lnSpc>
                <a:spcPct val="100000"/>
              </a:lnSpc>
            </a:pPr>
            <a:r>
              <a:rPr sz="2700" b="1">
                <a:solidFill>
                  <a:srgbClr val="2F6B4F"/>
                </a:solidFill>
                <a:latin typeface="Calibri"/>
              </a:rPr>
              <a:t>49</a:t>
            </a:r>
          </a:p>
        </p:txBody>
      </p:sp>
      <p:sp>
        <p:nvSpPr>
          <p:cNvPr id="10" name="TextBox 9"/>
          <p:cNvSpPr txBox="1"/>
          <p:nvPr/>
        </p:nvSpPr>
        <p:spPr>
          <a:xfrm>
            <a:off x="987552" y="2971800"/>
            <a:ext cx="2194560" cy="310896"/>
          </a:xfrm>
          <a:prstGeom prst="rect">
            <a:avLst/>
          </a:prstGeom>
          <a:noFill/>
        </p:spPr>
        <p:txBody>
          <a:bodyPr wrap="square" anchor="t" lIns="0" rIns="0" tIns="0" bIns="0">
            <a:spAutoFit/>
          </a:bodyPr>
          <a:lstStyle/>
          <a:p>
            <a:pPr algn="l">
              <a:lnSpc>
                <a:spcPct val="100000"/>
              </a:lnSpc>
            </a:pPr>
            <a:r>
              <a:rPr sz="1250" b="1">
                <a:solidFill>
                  <a:srgbClr val="1F2421"/>
                </a:solidFill>
                <a:latin typeface="Calibri"/>
              </a:rPr>
              <a:t>core tests</a:t>
            </a:r>
          </a:p>
        </p:txBody>
      </p:sp>
      <p:sp>
        <p:nvSpPr>
          <p:cNvPr id="11" name="TextBox 10"/>
          <p:cNvSpPr txBox="1"/>
          <p:nvPr/>
        </p:nvSpPr>
        <p:spPr>
          <a:xfrm>
            <a:off x="987552" y="3300984"/>
            <a:ext cx="2194560" cy="457200"/>
          </a:xfrm>
          <a:prstGeom prst="rect">
            <a:avLst/>
          </a:prstGeom>
          <a:noFill/>
        </p:spPr>
        <p:txBody>
          <a:bodyPr wrap="square" anchor="t" lIns="0" rIns="0" tIns="0" bIns="0">
            <a:spAutoFit/>
          </a:bodyPr>
          <a:lstStyle/>
          <a:p>
            <a:pPr algn="l">
              <a:lnSpc>
                <a:spcPct val="115000"/>
              </a:lnSpc>
            </a:pPr>
            <a:r>
              <a:rPr sz="1050" b="0">
                <a:solidFill>
                  <a:srgbClr val="637268"/>
                </a:solidFill>
                <a:latin typeface="Calibri"/>
              </a:rPr>
              <a:t>Preprocessing, inference, validation, every route</a:t>
            </a:r>
          </a:p>
        </p:txBody>
      </p:sp>
      <p:sp>
        <p:nvSpPr>
          <p:cNvPr id="12" name="Rounded Rectangle 11"/>
          <p:cNvSpPr/>
          <p:nvPr/>
        </p:nvSpPr>
        <p:spPr>
          <a:xfrm>
            <a:off x="3465576" y="2203704"/>
            <a:ext cx="2606040" cy="1645920"/>
          </a:xfrm>
          <a:prstGeom prst="roundRect">
            <a:avLst>
              <a:gd name="adj" fmla="val 8000"/>
            </a:avLst>
          </a:prstGeom>
          <a:solidFill>
            <a:srgbClr val="E7EFEA"/>
          </a:solidFill>
          <a:ln w="9525">
            <a:solidFill>
              <a:srgbClr val="DCE3D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3" name="Rectangle 12"/>
          <p:cNvSpPr/>
          <p:nvPr/>
        </p:nvSpPr>
        <p:spPr>
          <a:xfrm>
            <a:off x="3465576" y="2203704"/>
            <a:ext cx="50292" cy="1645920"/>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4" name="TextBox 13"/>
          <p:cNvSpPr txBox="1"/>
          <p:nvPr/>
        </p:nvSpPr>
        <p:spPr>
          <a:xfrm>
            <a:off x="3721608" y="2423160"/>
            <a:ext cx="2194560" cy="502920"/>
          </a:xfrm>
          <a:prstGeom prst="rect">
            <a:avLst/>
          </a:prstGeom>
          <a:noFill/>
        </p:spPr>
        <p:txBody>
          <a:bodyPr wrap="square" anchor="t" lIns="0" rIns="0" tIns="0" bIns="0">
            <a:spAutoFit/>
          </a:bodyPr>
          <a:lstStyle/>
          <a:p>
            <a:pPr algn="l">
              <a:lnSpc>
                <a:spcPct val="100000"/>
              </a:lnSpc>
            </a:pPr>
            <a:r>
              <a:rPr sz="2700" b="1">
                <a:solidFill>
                  <a:srgbClr val="2F6B4F"/>
                </a:solidFill>
                <a:latin typeface="Calibri"/>
              </a:rPr>
              <a:t>21</a:t>
            </a:r>
          </a:p>
        </p:txBody>
      </p:sp>
      <p:sp>
        <p:nvSpPr>
          <p:cNvPr id="15" name="TextBox 14"/>
          <p:cNvSpPr txBox="1"/>
          <p:nvPr/>
        </p:nvSpPr>
        <p:spPr>
          <a:xfrm>
            <a:off x="3721608" y="2971800"/>
            <a:ext cx="2194560" cy="310896"/>
          </a:xfrm>
          <a:prstGeom prst="rect">
            <a:avLst/>
          </a:prstGeom>
          <a:noFill/>
        </p:spPr>
        <p:txBody>
          <a:bodyPr wrap="square" anchor="t" lIns="0" rIns="0" tIns="0" bIns="0">
            <a:spAutoFit/>
          </a:bodyPr>
          <a:lstStyle/>
          <a:p>
            <a:pPr algn="l">
              <a:lnSpc>
                <a:spcPct val="100000"/>
              </a:lnSpc>
            </a:pPr>
            <a:r>
              <a:rPr sz="1250" b="1">
                <a:solidFill>
                  <a:srgbClr val="1F2421"/>
                </a:solidFill>
                <a:latin typeface="Calibri"/>
              </a:rPr>
              <a:t>dashboard tests</a:t>
            </a:r>
          </a:p>
        </p:txBody>
      </p:sp>
      <p:sp>
        <p:nvSpPr>
          <p:cNvPr id="16" name="TextBox 15"/>
          <p:cNvSpPr txBox="1"/>
          <p:nvPr/>
        </p:nvSpPr>
        <p:spPr>
          <a:xfrm>
            <a:off x="3721608" y="3300984"/>
            <a:ext cx="2194560" cy="457200"/>
          </a:xfrm>
          <a:prstGeom prst="rect">
            <a:avLst/>
          </a:prstGeom>
          <a:noFill/>
        </p:spPr>
        <p:txBody>
          <a:bodyPr wrap="square" anchor="t" lIns="0" rIns="0" tIns="0" bIns="0">
            <a:spAutoFit/>
          </a:bodyPr>
          <a:lstStyle/>
          <a:p>
            <a:pPr algn="l">
              <a:lnSpc>
                <a:spcPct val="115000"/>
              </a:lnSpc>
            </a:pPr>
            <a:r>
              <a:rPr sz="1050" b="0">
                <a:solidFill>
                  <a:srgbClr val="637268"/>
                </a:solidFill>
                <a:latin typeface="Calibri"/>
              </a:rPr>
              <a:t>Store, aggregation, and all three JSON endpoints</a:t>
            </a:r>
          </a:p>
        </p:txBody>
      </p:sp>
      <p:sp>
        <p:nvSpPr>
          <p:cNvPr id="17" name="Rounded Rectangle 16"/>
          <p:cNvSpPr/>
          <p:nvPr/>
        </p:nvSpPr>
        <p:spPr>
          <a:xfrm>
            <a:off x="6199632" y="2203704"/>
            <a:ext cx="2606040" cy="1645920"/>
          </a:xfrm>
          <a:prstGeom prst="roundRect">
            <a:avLst>
              <a:gd name="adj" fmla="val 8000"/>
            </a:avLst>
          </a:prstGeom>
          <a:solidFill>
            <a:srgbClr val="E7EFEA"/>
          </a:solidFill>
          <a:ln w="9525">
            <a:solidFill>
              <a:srgbClr val="DCE3D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8" name="Rectangle 17"/>
          <p:cNvSpPr/>
          <p:nvPr/>
        </p:nvSpPr>
        <p:spPr>
          <a:xfrm>
            <a:off x="6199632" y="2203704"/>
            <a:ext cx="50292" cy="1645920"/>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9" name="TextBox 18"/>
          <p:cNvSpPr txBox="1"/>
          <p:nvPr/>
        </p:nvSpPr>
        <p:spPr>
          <a:xfrm>
            <a:off x="6455664" y="2423160"/>
            <a:ext cx="2194560" cy="502920"/>
          </a:xfrm>
          <a:prstGeom prst="rect">
            <a:avLst/>
          </a:prstGeom>
          <a:noFill/>
        </p:spPr>
        <p:txBody>
          <a:bodyPr wrap="square" anchor="t" lIns="0" rIns="0" tIns="0" bIns="0">
            <a:spAutoFit/>
          </a:bodyPr>
          <a:lstStyle/>
          <a:p>
            <a:pPr algn="l">
              <a:lnSpc>
                <a:spcPct val="100000"/>
              </a:lnSpc>
            </a:pPr>
            <a:r>
              <a:rPr sz="2700" b="1">
                <a:solidFill>
                  <a:srgbClr val="2F6B4F"/>
                </a:solidFill>
                <a:latin typeface="Calibri"/>
              </a:rPr>
              <a:t>70</a:t>
            </a:r>
          </a:p>
        </p:txBody>
      </p:sp>
      <p:sp>
        <p:nvSpPr>
          <p:cNvPr id="20" name="TextBox 19"/>
          <p:cNvSpPr txBox="1"/>
          <p:nvPr/>
        </p:nvSpPr>
        <p:spPr>
          <a:xfrm>
            <a:off x="6455664" y="2971800"/>
            <a:ext cx="2194560" cy="310896"/>
          </a:xfrm>
          <a:prstGeom prst="rect">
            <a:avLst/>
          </a:prstGeom>
          <a:noFill/>
        </p:spPr>
        <p:txBody>
          <a:bodyPr wrap="square" anchor="t" lIns="0" rIns="0" tIns="0" bIns="0">
            <a:spAutoFit/>
          </a:bodyPr>
          <a:lstStyle/>
          <a:p>
            <a:pPr algn="l">
              <a:lnSpc>
                <a:spcPct val="100000"/>
              </a:lnSpc>
            </a:pPr>
            <a:r>
              <a:rPr sz="1250" b="1">
                <a:solidFill>
                  <a:srgbClr val="1F2421"/>
                </a:solidFill>
                <a:latin typeface="Calibri"/>
              </a:rPr>
              <a:t>total</a:t>
            </a:r>
          </a:p>
        </p:txBody>
      </p:sp>
      <p:sp>
        <p:nvSpPr>
          <p:cNvPr id="21" name="TextBox 20"/>
          <p:cNvSpPr txBox="1"/>
          <p:nvPr/>
        </p:nvSpPr>
        <p:spPr>
          <a:xfrm>
            <a:off x="6455664" y="3300984"/>
            <a:ext cx="2194560" cy="457200"/>
          </a:xfrm>
          <a:prstGeom prst="rect">
            <a:avLst/>
          </a:prstGeom>
          <a:noFill/>
        </p:spPr>
        <p:txBody>
          <a:bodyPr wrap="square" anchor="t" lIns="0" rIns="0" tIns="0" bIns="0">
            <a:spAutoFit/>
          </a:bodyPr>
          <a:lstStyle/>
          <a:p>
            <a:pPr algn="l">
              <a:lnSpc>
                <a:spcPct val="115000"/>
              </a:lnSpc>
            </a:pPr>
            <a:r>
              <a:rPr sz="1050" b="0">
                <a:solidFill>
                  <a:srgbClr val="637268"/>
                </a:solidFill>
                <a:latin typeface="Calibri"/>
              </a:rPr>
              <a:t>Every one passing on the current build</a:t>
            </a:r>
          </a:p>
        </p:txBody>
      </p:sp>
      <p:sp>
        <p:nvSpPr>
          <p:cNvPr id="22" name="Rounded Rectangle 21"/>
          <p:cNvSpPr/>
          <p:nvPr/>
        </p:nvSpPr>
        <p:spPr>
          <a:xfrm>
            <a:off x="8933688" y="2203704"/>
            <a:ext cx="2606040" cy="1645920"/>
          </a:xfrm>
          <a:prstGeom prst="roundRect">
            <a:avLst>
              <a:gd name="adj" fmla="val 8000"/>
            </a:avLst>
          </a:prstGeom>
          <a:solidFill>
            <a:srgbClr val="E7EFEA"/>
          </a:solidFill>
          <a:ln w="9525">
            <a:solidFill>
              <a:srgbClr val="DCE3D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3" name="Rectangle 22"/>
          <p:cNvSpPr/>
          <p:nvPr/>
        </p:nvSpPr>
        <p:spPr>
          <a:xfrm>
            <a:off x="8933688" y="2203704"/>
            <a:ext cx="50292" cy="1645920"/>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4" name="TextBox 23"/>
          <p:cNvSpPr txBox="1"/>
          <p:nvPr/>
        </p:nvSpPr>
        <p:spPr>
          <a:xfrm>
            <a:off x="9189720" y="2423160"/>
            <a:ext cx="2194560" cy="502920"/>
          </a:xfrm>
          <a:prstGeom prst="rect">
            <a:avLst/>
          </a:prstGeom>
          <a:noFill/>
        </p:spPr>
        <p:txBody>
          <a:bodyPr wrap="square" anchor="t" lIns="0" rIns="0" tIns="0" bIns="0">
            <a:spAutoFit/>
          </a:bodyPr>
          <a:lstStyle/>
          <a:p>
            <a:pPr algn="l">
              <a:lnSpc>
                <a:spcPct val="100000"/>
              </a:lnSpc>
            </a:pPr>
            <a:r>
              <a:rPr sz="2700" b="1">
                <a:solidFill>
                  <a:srgbClr val="2F6B4F"/>
                </a:solidFill>
                <a:latin typeface="Calibri"/>
              </a:rPr>
              <a:t>0</a:t>
            </a:r>
          </a:p>
        </p:txBody>
      </p:sp>
      <p:sp>
        <p:nvSpPr>
          <p:cNvPr id="25" name="TextBox 24"/>
          <p:cNvSpPr txBox="1"/>
          <p:nvPr/>
        </p:nvSpPr>
        <p:spPr>
          <a:xfrm>
            <a:off x="9189720" y="2971800"/>
            <a:ext cx="2194560" cy="310896"/>
          </a:xfrm>
          <a:prstGeom prst="rect">
            <a:avLst/>
          </a:prstGeom>
          <a:noFill/>
        </p:spPr>
        <p:txBody>
          <a:bodyPr wrap="square" anchor="t" lIns="0" rIns="0" tIns="0" bIns="0">
            <a:spAutoFit/>
          </a:bodyPr>
          <a:lstStyle/>
          <a:p>
            <a:pPr algn="l">
              <a:lnSpc>
                <a:spcPct val="100000"/>
              </a:lnSpc>
            </a:pPr>
            <a:r>
              <a:rPr sz="1250" b="1">
                <a:solidFill>
                  <a:srgbClr val="1F2421"/>
                </a:solidFill>
                <a:latin typeface="Calibri"/>
              </a:rPr>
              <a:t>touched rows</a:t>
            </a:r>
          </a:p>
        </p:txBody>
      </p:sp>
      <p:sp>
        <p:nvSpPr>
          <p:cNvPr id="26" name="TextBox 25"/>
          <p:cNvSpPr txBox="1"/>
          <p:nvPr/>
        </p:nvSpPr>
        <p:spPr>
          <a:xfrm>
            <a:off x="9189720" y="3300984"/>
            <a:ext cx="2194560" cy="457200"/>
          </a:xfrm>
          <a:prstGeom prst="rect">
            <a:avLst/>
          </a:prstGeom>
          <a:noFill/>
        </p:spPr>
        <p:txBody>
          <a:bodyPr wrap="square" anchor="t" lIns="0" rIns="0" tIns="0" bIns="0">
            <a:spAutoFit/>
          </a:bodyPr>
          <a:lstStyle/>
          <a:p>
            <a:pPr algn="l">
              <a:lnSpc>
                <a:spcPct val="115000"/>
              </a:lnSpc>
            </a:pPr>
            <a:r>
              <a:rPr sz="1050" b="0">
                <a:solidFill>
                  <a:srgbClr val="637268"/>
                </a:solidFill>
                <a:latin typeface="Calibri"/>
              </a:rPr>
              <a:t>Tests run against a temporary database</a:t>
            </a:r>
          </a:p>
        </p:txBody>
      </p:sp>
      <p:sp>
        <p:nvSpPr>
          <p:cNvPr id="27" name="TextBox 26"/>
          <p:cNvSpPr txBox="1"/>
          <p:nvPr/>
        </p:nvSpPr>
        <p:spPr>
          <a:xfrm>
            <a:off x="731520" y="4123944"/>
            <a:ext cx="10728655" cy="1828800"/>
          </a:xfrm>
          <a:prstGeom prst="rect">
            <a:avLst/>
          </a:prstGeom>
          <a:noFill/>
        </p:spPr>
        <p:txBody>
          <a:bodyPr wrap="square" lIns="0" rIns="0" tIns="0" bIns="0">
            <a:spAutoFit/>
          </a:bodyPr>
          <a:lstStyle/>
          <a:p>
            <a:pPr>
              <a:lnSpc>
                <a:spcPct val="118000"/>
              </a:lnSpc>
            </a:pPr>
            <a:r>
              <a:rPr sz="1300">
                <a:solidFill>
                  <a:srgbClr val="1F2421"/>
                </a:solidFill>
                <a:latin typeface="Calibri"/>
              </a:rPr>
              <a:t>•  Input validation: valid, invalid, missing, out-of-range and unseen-category cases.</a:t>
            </a:r>
          </a:p>
          <a:p>
            <a:pPr>
              <a:lnSpc>
                <a:spcPct val="118000"/>
              </a:lnSpc>
              <a:spcBef>
                <a:spcPts val="1100"/>
              </a:spcBef>
            </a:pPr>
            <a:r>
              <a:rPr sz="1300">
                <a:solidFill>
                  <a:srgbClr val="1F2421"/>
                </a:solidFill>
                <a:latin typeface="Calibri"/>
              </a:rPr>
              <a:t>•  Behaviour: predictions are deterministic and respond sensibly to larger properties.</a:t>
            </a:r>
          </a:p>
          <a:p>
            <a:pPr>
              <a:lnSpc>
                <a:spcPct val="118000"/>
              </a:lnSpc>
              <a:spcBef>
                <a:spcPts val="1100"/>
              </a:spcBef>
            </a:pPr>
            <a:r>
              <a:rPr sz="1300">
                <a:solidFill>
                  <a:srgbClr val="1F2421"/>
                </a:solidFill>
                <a:latin typeface="Calibri"/>
              </a:rPr>
              <a:t>•  Dashboard guarantees: an empty log returns empty aggregates, never invented figures.</a:t>
            </a:r>
          </a:p>
          <a:p>
            <a:pPr>
              <a:lnSpc>
                <a:spcPct val="118000"/>
              </a:lnSpc>
              <a:spcBef>
                <a:spcPts val="1100"/>
              </a:spcBef>
            </a:pPr>
            <a:r>
              <a:rPr sz="1300">
                <a:solidFill>
                  <a:srgbClr val="1F2421"/>
                </a:solidFill>
                <a:latin typeface="Calibri"/>
              </a:rPr>
              <a:t>•  Isolation: an autouse session fixture redirects the prediction log to a temporary database, so a test can never destroy genuinely recorded activity.</a:t>
            </a:r>
          </a:p>
        </p:txBody>
      </p:sp>
      <p:sp>
        <p:nvSpPr>
          <p:cNvPr id="28" name="TextBox 27"/>
          <p:cNvSpPr txBox="1"/>
          <p:nvPr/>
        </p:nvSpPr>
        <p:spPr>
          <a:xfrm>
            <a:off x="731520" y="6382512"/>
            <a:ext cx="8686800" cy="274320"/>
          </a:xfrm>
          <a:prstGeom prst="rect">
            <a:avLst/>
          </a:prstGeom>
          <a:noFill/>
        </p:spPr>
        <p:txBody>
          <a:bodyPr wrap="square" anchor="t" lIns="0" rIns="0" tIns="0" bIns="0">
            <a:spAutoFit/>
          </a:bodyPr>
          <a:lstStyle/>
          <a:p>
            <a:pPr algn="l">
              <a:lnSpc>
                <a:spcPct val="100000"/>
              </a:lnSpc>
            </a:pPr>
            <a:r>
              <a:rPr sz="950" b="0">
                <a:solidFill>
                  <a:srgbClr val="637268"/>
                </a:solidFill>
                <a:latin typeface="Calibri"/>
              </a:rPr>
              <a:t>HomeValue — House Price Prediction System</a:t>
            </a:r>
          </a:p>
        </p:txBody>
      </p:sp>
      <p:sp>
        <p:nvSpPr>
          <p:cNvPr id="29" name="TextBox 28"/>
          <p:cNvSpPr txBox="1"/>
          <p:nvPr/>
        </p:nvSpPr>
        <p:spPr>
          <a:xfrm>
            <a:off x="10545775" y="6382512"/>
            <a:ext cx="914400" cy="274320"/>
          </a:xfrm>
          <a:prstGeom prst="rect">
            <a:avLst/>
          </a:prstGeom>
          <a:noFill/>
        </p:spPr>
        <p:txBody>
          <a:bodyPr wrap="square" anchor="t" lIns="0" rIns="0" tIns="0" bIns="0">
            <a:spAutoFit/>
          </a:bodyPr>
          <a:lstStyle/>
          <a:p>
            <a:pPr algn="r">
              <a:lnSpc>
                <a:spcPct val="100000"/>
              </a:lnSpc>
            </a:pPr>
            <a:r>
              <a:rPr sz="950" b="1">
                <a:solidFill>
                  <a:srgbClr val="2F6B4F"/>
                </a:solidFill>
                <a:latin typeface="Calibri"/>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 name="TextBox 2"/>
          <p:cNvSpPr txBox="1"/>
          <p:nvPr/>
        </p:nvSpPr>
        <p:spPr>
          <a:xfrm>
            <a:off x="731520" y="502920"/>
            <a:ext cx="10728655" cy="274320"/>
          </a:xfrm>
          <a:prstGeom prst="rect">
            <a:avLst/>
          </a:prstGeom>
          <a:noFill/>
        </p:spPr>
        <p:txBody>
          <a:bodyPr wrap="square" anchor="t" lIns="0" rIns="0" tIns="0" bIns="0">
            <a:spAutoFit/>
          </a:bodyPr>
          <a:lstStyle/>
          <a:p>
            <a:pPr algn="l">
              <a:lnSpc>
                <a:spcPct val="100000"/>
              </a:lnSpc>
            </a:pPr>
            <a:r>
              <a:rPr sz="1100" b="1">
                <a:solidFill>
                  <a:srgbClr val="2F6B4F"/>
                </a:solidFill>
                <a:latin typeface="Calibri"/>
              </a:rPr>
              <a:t>HONESTY</a:t>
            </a:r>
          </a:p>
        </p:txBody>
      </p:sp>
      <p:sp>
        <p:nvSpPr>
          <p:cNvPr id="4" name="TextBox 3"/>
          <p:cNvSpPr txBox="1"/>
          <p:nvPr/>
        </p:nvSpPr>
        <p:spPr>
          <a:xfrm>
            <a:off x="731520" y="813816"/>
            <a:ext cx="10728655" cy="566928"/>
          </a:xfrm>
          <a:prstGeom prst="rect">
            <a:avLst/>
          </a:prstGeom>
          <a:noFill/>
        </p:spPr>
        <p:txBody>
          <a:bodyPr wrap="square" anchor="t" lIns="0" rIns="0" tIns="0" bIns="0">
            <a:spAutoFit/>
          </a:bodyPr>
          <a:lstStyle/>
          <a:p>
            <a:pPr algn="l">
              <a:lnSpc>
                <a:spcPct val="100000"/>
              </a:lnSpc>
            </a:pPr>
            <a:r>
              <a:rPr sz="3000" b="1">
                <a:solidFill>
                  <a:srgbClr val="1F2421"/>
                </a:solidFill>
                <a:latin typeface="Calibri"/>
              </a:rPr>
              <a:t>Limitations and responsible use</a:t>
            </a:r>
          </a:p>
        </p:txBody>
      </p:sp>
      <p:sp>
        <p:nvSpPr>
          <p:cNvPr id="5" name="TextBox 4"/>
          <p:cNvSpPr txBox="1"/>
          <p:nvPr/>
        </p:nvSpPr>
        <p:spPr>
          <a:xfrm>
            <a:off x="731520" y="1417320"/>
            <a:ext cx="10728655" cy="365760"/>
          </a:xfrm>
          <a:prstGeom prst="rect">
            <a:avLst/>
          </a:prstGeom>
          <a:noFill/>
        </p:spPr>
        <p:txBody>
          <a:bodyPr wrap="square" anchor="t" lIns="0" rIns="0" tIns="0" bIns="0">
            <a:spAutoFit/>
          </a:bodyPr>
          <a:lstStyle/>
          <a:p>
            <a:pPr algn="l">
              <a:lnSpc>
                <a:spcPct val="100000"/>
              </a:lnSpc>
            </a:pPr>
            <a:r>
              <a:rPr sz="1400" b="0">
                <a:solidFill>
                  <a:srgbClr val="637268"/>
                </a:solidFill>
                <a:latin typeface="Calibri"/>
              </a:rPr>
              <a:t>What this system does not do — stated on the result page as well.</a:t>
            </a:r>
          </a:p>
        </p:txBody>
      </p:sp>
      <p:sp>
        <p:nvSpPr>
          <p:cNvPr id="6" name="Rectangle 5"/>
          <p:cNvSpPr/>
          <p:nvPr/>
        </p:nvSpPr>
        <p:spPr>
          <a:xfrm>
            <a:off x="731520" y="1874520"/>
            <a:ext cx="10728655" cy="9525"/>
          </a:xfrm>
          <a:prstGeom prst="rect">
            <a:avLst/>
          </a:prstGeom>
          <a:solidFill>
            <a:srgbClr val="DCE3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Rounded Rectangle 6"/>
          <p:cNvSpPr/>
          <p:nvPr/>
        </p:nvSpPr>
        <p:spPr>
          <a:xfrm>
            <a:off x="731520" y="2203704"/>
            <a:ext cx="5303520" cy="932688"/>
          </a:xfrm>
          <a:prstGeom prst="roundRect">
            <a:avLst>
              <a:gd name="adj" fmla="val 10000"/>
            </a:avLst>
          </a:prstGeom>
          <a:solidFill>
            <a:srgbClr val="FBF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8" name="Rectangle 7"/>
          <p:cNvSpPr/>
          <p:nvPr/>
        </p:nvSpPr>
        <p:spPr>
          <a:xfrm>
            <a:off x="731520" y="2203704"/>
            <a:ext cx="45720" cy="932688"/>
          </a:xfrm>
          <a:prstGeom prst="rect">
            <a:avLst/>
          </a:prstGeom>
          <a:solidFill>
            <a:srgbClr val="8C4A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9" name="TextBox 8"/>
          <p:cNvSpPr txBox="1"/>
          <p:nvPr/>
        </p:nvSpPr>
        <p:spPr>
          <a:xfrm>
            <a:off x="950976" y="2331720"/>
            <a:ext cx="4892040" cy="256032"/>
          </a:xfrm>
          <a:prstGeom prst="rect">
            <a:avLst/>
          </a:prstGeom>
          <a:noFill/>
        </p:spPr>
        <p:txBody>
          <a:bodyPr wrap="square" anchor="t" lIns="0" rIns="0" tIns="0" bIns="0">
            <a:spAutoFit/>
          </a:bodyPr>
          <a:lstStyle/>
          <a:p>
            <a:pPr algn="l">
              <a:lnSpc>
                <a:spcPct val="100000"/>
              </a:lnSpc>
            </a:pPr>
            <a:r>
              <a:rPr sz="1250" b="1">
                <a:solidFill>
                  <a:srgbClr val="8C4A2F"/>
                </a:solidFill>
                <a:latin typeface="Calibri"/>
              </a:rPr>
              <a:t>Geography and time</a:t>
            </a:r>
          </a:p>
        </p:txBody>
      </p:sp>
      <p:sp>
        <p:nvSpPr>
          <p:cNvPr id="10" name="TextBox 9"/>
          <p:cNvSpPr txBox="1"/>
          <p:nvPr/>
        </p:nvSpPr>
        <p:spPr>
          <a:xfrm>
            <a:off x="950976" y="2606040"/>
            <a:ext cx="4892040" cy="457200"/>
          </a:xfrm>
          <a:prstGeom prst="rect">
            <a:avLst/>
          </a:prstGeom>
          <a:noFill/>
        </p:spPr>
        <p:txBody>
          <a:bodyPr wrap="square" anchor="t" lIns="0" rIns="0" tIns="0" bIns="0">
            <a:spAutoFit/>
          </a:bodyPr>
          <a:lstStyle/>
          <a:p>
            <a:pPr algn="l">
              <a:lnSpc>
                <a:spcPct val="115000"/>
              </a:lnSpc>
            </a:pPr>
            <a:r>
              <a:rPr sz="1100" b="0">
                <a:solidFill>
                  <a:srgbClr val="1F2421"/>
                </a:solidFill>
                <a:latin typeface="Calibri"/>
              </a:rPr>
              <a:t>Ames, Iowa, 2006–2010 only. Nothing about other markets or today's prices.</a:t>
            </a:r>
          </a:p>
        </p:txBody>
      </p:sp>
      <p:sp>
        <p:nvSpPr>
          <p:cNvPr id="11" name="Rounded Rectangle 10"/>
          <p:cNvSpPr/>
          <p:nvPr/>
        </p:nvSpPr>
        <p:spPr>
          <a:xfrm>
            <a:off x="731520" y="3246119"/>
            <a:ext cx="5303520" cy="932688"/>
          </a:xfrm>
          <a:prstGeom prst="roundRect">
            <a:avLst>
              <a:gd name="adj" fmla="val 10000"/>
            </a:avLst>
          </a:prstGeom>
          <a:solidFill>
            <a:srgbClr val="FBF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2" name="Rectangle 11"/>
          <p:cNvSpPr/>
          <p:nvPr/>
        </p:nvSpPr>
        <p:spPr>
          <a:xfrm>
            <a:off x="731520" y="3246119"/>
            <a:ext cx="45720" cy="932688"/>
          </a:xfrm>
          <a:prstGeom prst="rect">
            <a:avLst/>
          </a:prstGeom>
          <a:solidFill>
            <a:srgbClr val="8C4A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3" name="TextBox 12"/>
          <p:cNvSpPr txBox="1"/>
          <p:nvPr/>
        </p:nvSpPr>
        <p:spPr>
          <a:xfrm>
            <a:off x="950976" y="3374135"/>
            <a:ext cx="4892040" cy="256032"/>
          </a:xfrm>
          <a:prstGeom prst="rect">
            <a:avLst/>
          </a:prstGeom>
          <a:noFill/>
        </p:spPr>
        <p:txBody>
          <a:bodyPr wrap="square" anchor="t" lIns="0" rIns="0" tIns="0" bIns="0">
            <a:spAutoFit/>
          </a:bodyPr>
          <a:lstStyle/>
          <a:p>
            <a:pPr algn="l">
              <a:lnSpc>
                <a:spcPct val="100000"/>
              </a:lnSpc>
            </a:pPr>
            <a:r>
              <a:rPr sz="1250" b="1">
                <a:solidFill>
                  <a:srgbClr val="8C4A2F"/>
                </a:solidFill>
                <a:latin typeface="Calibri"/>
              </a:rPr>
              <a:t>Not a valuation</a:t>
            </a:r>
          </a:p>
        </p:txBody>
      </p:sp>
      <p:sp>
        <p:nvSpPr>
          <p:cNvPr id="14" name="TextBox 13"/>
          <p:cNvSpPr txBox="1"/>
          <p:nvPr/>
        </p:nvSpPr>
        <p:spPr>
          <a:xfrm>
            <a:off x="950976" y="3648455"/>
            <a:ext cx="4892040" cy="457200"/>
          </a:xfrm>
          <a:prstGeom prst="rect">
            <a:avLst/>
          </a:prstGeom>
          <a:noFill/>
        </p:spPr>
        <p:txBody>
          <a:bodyPr wrap="square" anchor="t" lIns="0" rIns="0" tIns="0" bIns="0">
            <a:spAutoFit/>
          </a:bodyPr>
          <a:lstStyle/>
          <a:p>
            <a:pPr algn="l">
              <a:lnSpc>
                <a:spcPct val="115000"/>
              </a:lnSpc>
            </a:pPr>
            <a:r>
              <a:rPr sz="1100" b="0">
                <a:solidFill>
                  <a:srgbClr val="1F2421"/>
                </a:solidFill>
                <a:latin typeface="Calibri"/>
              </a:rPr>
              <a:t>A statistical estimate for education and comparison. Not an appraisal, not financial advice.</a:t>
            </a:r>
          </a:p>
        </p:txBody>
      </p:sp>
      <p:sp>
        <p:nvSpPr>
          <p:cNvPr id="15" name="Rounded Rectangle 14"/>
          <p:cNvSpPr/>
          <p:nvPr/>
        </p:nvSpPr>
        <p:spPr>
          <a:xfrm>
            <a:off x="731520" y="4288534"/>
            <a:ext cx="5303520" cy="932688"/>
          </a:xfrm>
          <a:prstGeom prst="roundRect">
            <a:avLst>
              <a:gd name="adj" fmla="val 10000"/>
            </a:avLst>
          </a:prstGeom>
          <a:solidFill>
            <a:srgbClr val="FBF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6" name="Rectangle 15"/>
          <p:cNvSpPr/>
          <p:nvPr/>
        </p:nvSpPr>
        <p:spPr>
          <a:xfrm>
            <a:off x="731520" y="4288534"/>
            <a:ext cx="45720" cy="932688"/>
          </a:xfrm>
          <a:prstGeom prst="rect">
            <a:avLst/>
          </a:prstGeom>
          <a:solidFill>
            <a:srgbClr val="8C4A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7" name="TextBox 16"/>
          <p:cNvSpPr txBox="1"/>
          <p:nvPr/>
        </p:nvSpPr>
        <p:spPr>
          <a:xfrm>
            <a:off x="950976" y="4416550"/>
            <a:ext cx="4892040" cy="256032"/>
          </a:xfrm>
          <a:prstGeom prst="rect">
            <a:avLst/>
          </a:prstGeom>
          <a:noFill/>
        </p:spPr>
        <p:txBody>
          <a:bodyPr wrap="square" anchor="t" lIns="0" rIns="0" tIns="0" bIns="0">
            <a:spAutoFit/>
          </a:bodyPr>
          <a:lstStyle/>
          <a:p>
            <a:pPr algn="l">
              <a:lnSpc>
                <a:spcPct val="100000"/>
              </a:lnSpc>
            </a:pPr>
            <a:r>
              <a:rPr sz="1250" b="1">
                <a:solidFill>
                  <a:srgbClr val="8C4A2F"/>
                </a:solidFill>
                <a:latin typeface="Calibri"/>
              </a:rPr>
              <a:t>No prediction interval</a:t>
            </a:r>
          </a:p>
        </p:txBody>
      </p:sp>
      <p:sp>
        <p:nvSpPr>
          <p:cNvPr id="18" name="TextBox 17"/>
          <p:cNvSpPr txBox="1"/>
          <p:nvPr/>
        </p:nvSpPr>
        <p:spPr>
          <a:xfrm>
            <a:off x="950976" y="4690870"/>
            <a:ext cx="4892040" cy="457200"/>
          </a:xfrm>
          <a:prstGeom prst="rect">
            <a:avLst/>
          </a:prstGeom>
          <a:noFill/>
        </p:spPr>
        <p:txBody>
          <a:bodyPr wrap="square" anchor="t" lIns="0" rIns="0" tIns="0" bIns="0">
            <a:spAutoFit/>
          </a:bodyPr>
          <a:lstStyle/>
          <a:p>
            <a:pPr algn="l">
              <a:lnSpc>
                <a:spcPct val="115000"/>
              </a:lnSpc>
            </a:pPr>
            <a:r>
              <a:rPr sz="1100" b="0">
                <a:solidFill>
                  <a:srgbClr val="1F2421"/>
                </a:solidFill>
                <a:latin typeface="Calibri"/>
              </a:rPr>
              <a:t>Point estimate only. Quantile regression forests or conformal prediction would be needed.</a:t>
            </a:r>
          </a:p>
        </p:txBody>
      </p:sp>
      <p:sp>
        <p:nvSpPr>
          <p:cNvPr id="19" name="Rounded Rectangle 18"/>
          <p:cNvSpPr/>
          <p:nvPr/>
        </p:nvSpPr>
        <p:spPr>
          <a:xfrm>
            <a:off x="731520" y="5330949"/>
            <a:ext cx="5303520" cy="932688"/>
          </a:xfrm>
          <a:prstGeom prst="roundRect">
            <a:avLst>
              <a:gd name="adj" fmla="val 10000"/>
            </a:avLst>
          </a:prstGeom>
          <a:solidFill>
            <a:srgbClr val="FBF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0" name="Rectangle 19"/>
          <p:cNvSpPr/>
          <p:nvPr/>
        </p:nvSpPr>
        <p:spPr>
          <a:xfrm>
            <a:off x="731520" y="5330949"/>
            <a:ext cx="45720" cy="932688"/>
          </a:xfrm>
          <a:prstGeom prst="rect">
            <a:avLst/>
          </a:prstGeom>
          <a:solidFill>
            <a:srgbClr val="8C4A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1" name="TextBox 20"/>
          <p:cNvSpPr txBox="1"/>
          <p:nvPr/>
        </p:nvSpPr>
        <p:spPr>
          <a:xfrm>
            <a:off x="950976" y="5458965"/>
            <a:ext cx="4892040" cy="256032"/>
          </a:xfrm>
          <a:prstGeom prst="rect">
            <a:avLst/>
          </a:prstGeom>
          <a:noFill/>
        </p:spPr>
        <p:txBody>
          <a:bodyPr wrap="square" anchor="t" lIns="0" rIns="0" tIns="0" bIns="0">
            <a:spAutoFit/>
          </a:bodyPr>
          <a:lstStyle/>
          <a:p>
            <a:pPr algn="l">
              <a:lnSpc>
                <a:spcPct val="100000"/>
              </a:lnSpc>
            </a:pPr>
            <a:r>
              <a:rPr sz="1250" b="1">
                <a:solidFill>
                  <a:srgbClr val="8C4A2F"/>
                </a:solidFill>
                <a:latin typeface="Calibri"/>
              </a:rPr>
              <a:t>Averages hide individuals</a:t>
            </a:r>
          </a:p>
        </p:txBody>
      </p:sp>
      <p:sp>
        <p:nvSpPr>
          <p:cNvPr id="22" name="TextBox 21"/>
          <p:cNvSpPr txBox="1"/>
          <p:nvPr/>
        </p:nvSpPr>
        <p:spPr>
          <a:xfrm>
            <a:off x="950976" y="5733285"/>
            <a:ext cx="4892040" cy="457200"/>
          </a:xfrm>
          <a:prstGeom prst="rect">
            <a:avLst/>
          </a:prstGeom>
          <a:noFill/>
        </p:spPr>
        <p:txBody>
          <a:bodyPr wrap="square" anchor="t" lIns="0" rIns="0" tIns="0" bIns="0">
            <a:spAutoFit/>
          </a:bodyPr>
          <a:lstStyle/>
          <a:p>
            <a:pPr algn="l">
              <a:lnSpc>
                <a:spcPct val="115000"/>
              </a:lnSpc>
            </a:pPr>
            <a:r>
              <a:rPr sz="1100" b="0">
                <a:solidFill>
                  <a:srgbClr val="1F2421"/>
                </a:solidFill>
                <a:latin typeface="Calibri"/>
              </a:rPr>
              <a:t>MAE of $19,039 is an average; any single home can be much further off.</a:t>
            </a:r>
          </a:p>
        </p:txBody>
      </p:sp>
      <p:sp>
        <p:nvSpPr>
          <p:cNvPr id="23" name="Rounded Rectangle 22"/>
          <p:cNvSpPr/>
          <p:nvPr/>
        </p:nvSpPr>
        <p:spPr>
          <a:xfrm>
            <a:off x="6245352" y="2203704"/>
            <a:ext cx="5303520" cy="932688"/>
          </a:xfrm>
          <a:prstGeom prst="roundRect">
            <a:avLst>
              <a:gd name="adj" fmla="val 10000"/>
            </a:avLst>
          </a:prstGeom>
          <a:solidFill>
            <a:srgbClr val="FBF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4" name="Rectangle 23"/>
          <p:cNvSpPr/>
          <p:nvPr/>
        </p:nvSpPr>
        <p:spPr>
          <a:xfrm>
            <a:off x="6245352" y="2203704"/>
            <a:ext cx="45720" cy="932688"/>
          </a:xfrm>
          <a:prstGeom prst="rect">
            <a:avLst/>
          </a:prstGeom>
          <a:solidFill>
            <a:srgbClr val="8C4A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5" name="TextBox 24"/>
          <p:cNvSpPr txBox="1"/>
          <p:nvPr/>
        </p:nvSpPr>
        <p:spPr>
          <a:xfrm>
            <a:off x="6464808" y="2331720"/>
            <a:ext cx="4892040" cy="256032"/>
          </a:xfrm>
          <a:prstGeom prst="rect">
            <a:avLst/>
          </a:prstGeom>
          <a:noFill/>
        </p:spPr>
        <p:txBody>
          <a:bodyPr wrap="square" anchor="t" lIns="0" rIns="0" tIns="0" bIns="0">
            <a:spAutoFit/>
          </a:bodyPr>
          <a:lstStyle/>
          <a:p>
            <a:pPr algn="l">
              <a:lnSpc>
                <a:spcPct val="100000"/>
              </a:lnSpc>
            </a:pPr>
            <a:r>
              <a:rPr sz="1250" b="1">
                <a:solidFill>
                  <a:srgbClr val="8C4A2F"/>
                </a:solidFill>
                <a:latin typeface="Calibri"/>
              </a:rPr>
              <a:t>Small categories</a:t>
            </a:r>
          </a:p>
        </p:txBody>
      </p:sp>
      <p:sp>
        <p:nvSpPr>
          <p:cNvPr id="26" name="TextBox 25"/>
          <p:cNvSpPr txBox="1"/>
          <p:nvPr/>
        </p:nvSpPr>
        <p:spPr>
          <a:xfrm>
            <a:off x="6464808" y="2606040"/>
            <a:ext cx="4892040" cy="457200"/>
          </a:xfrm>
          <a:prstGeom prst="rect">
            <a:avLst/>
          </a:prstGeom>
          <a:noFill/>
        </p:spPr>
        <p:txBody>
          <a:bodyPr wrap="square" anchor="t" lIns="0" rIns="0" tIns="0" bIns="0">
            <a:spAutoFit/>
          </a:bodyPr>
          <a:lstStyle/>
          <a:p>
            <a:pPr algn="l">
              <a:lnSpc>
                <a:spcPct val="115000"/>
              </a:lnSpc>
            </a:pPr>
            <a:r>
              <a:rPr sz="1100" b="0">
                <a:solidFill>
                  <a:srgbClr val="1F2421"/>
                </a:solidFill>
                <a:latin typeface="Calibri"/>
              </a:rPr>
              <a:t>Some neighbourhoods have only a handful of sales, so those estimates are noisy.</a:t>
            </a:r>
          </a:p>
        </p:txBody>
      </p:sp>
      <p:sp>
        <p:nvSpPr>
          <p:cNvPr id="27" name="Rounded Rectangle 26"/>
          <p:cNvSpPr/>
          <p:nvPr/>
        </p:nvSpPr>
        <p:spPr>
          <a:xfrm>
            <a:off x="6245352" y="3246119"/>
            <a:ext cx="5303520" cy="932688"/>
          </a:xfrm>
          <a:prstGeom prst="roundRect">
            <a:avLst>
              <a:gd name="adj" fmla="val 10000"/>
            </a:avLst>
          </a:prstGeom>
          <a:solidFill>
            <a:srgbClr val="FBF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8" name="Rectangle 27"/>
          <p:cNvSpPr/>
          <p:nvPr/>
        </p:nvSpPr>
        <p:spPr>
          <a:xfrm>
            <a:off x="6245352" y="3246119"/>
            <a:ext cx="45720" cy="932688"/>
          </a:xfrm>
          <a:prstGeom prst="rect">
            <a:avLst/>
          </a:prstGeom>
          <a:solidFill>
            <a:srgbClr val="8C4A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9" name="TextBox 28"/>
          <p:cNvSpPr txBox="1"/>
          <p:nvPr/>
        </p:nvSpPr>
        <p:spPr>
          <a:xfrm>
            <a:off x="6464808" y="3374135"/>
            <a:ext cx="4892040" cy="256032"/>
          </a:xfrm>
          <a:prstGeom prst="rect">
            <a:avLst/>
          </a:prstGeom>
          <a:noFill/>
        </p:spPr>
        <p:txBody>
          <a:bodyPr wrap="square" anchor="t" lIns="0" rIns="0" tIns="0" bIns="0">
            <a:spAutoFit/>
          </a:bodyPr>
          <a:lstStyle/>
          <a:p>
            <a:pPr algn="l">
              <a:lnSpc>
                <a:spcPct val="100000"/>
              </a:lnSpc>
            </a:pPr>
            <a:r>
              <a:rPr sz="1250" b="1">
                <a:solidFill>
                  <a:srgbClr val="8C4A2F"/>
                </a:solidFill>
                <a:latin typeface="Calibri"/>
              </a:rPr>
              <a:t>Omitted factors</a:t>
            </a:r>
          </a:p>
        </p:txBody>
      </p:sp>
      <p:sp>
        <p:nvSpPr>
          <p:cNvPr id="30" name="TextBox 29"/>
          <p:cNvSpPr txBox="1"/>
          <p:nvPr/>
        </p:nvSpPr>
        <p:spPr>
          <a:xfrm>
            <a:off x="6464808" y="3648455"/>
            <a:ext cx="4892040" cy="457200"/>
          </a:xfrm>
          <a:prstGeom prst="rect">
            <a:avLst/>
          </a:prstGeom>
          <a:noFill/>
        </p:spPr>
        <p:txBody>
          <a:bodyPr wrap="square" anchor="t" lIns="0" rIns="0" tIns="0" bIns="0">
            <a:spAutoFit/>
          </a:bodyPr>
          <a:lstStyle/>
          <a:p>
            <a:pPr algn="l">
              <a:lnSpc>
                <a:spcPct val="115000"/>
              </a:lnSpc>
            </a:pPr>
            <a:r>
              <a:rPr sz="1100" b="0">
                <a:solidFill>
                  <a:srgbClr val="1F2421"/>
                </a:solidFill>
                <a:latin typeface="Calibri"/>
              </a:rPr>
              <a:t>Condition, renovation quality, interior finish, school catchment and micro-location are absent.</a:t>
            </a:r>
          </a:p>
        </p:txBody>
      </p:sp>
      <p:sp>
        <p:nvSpPr>
          <p:cNvPr id="31" name="Rounded Rectangle 30"/>
          <p:cNvSpPr/>
          <p:nvPr/>
        </p:nvSpPr>
        <p:spPr>
          <a:xfrm>
            <a:off x="6245352" y="4288534"/>
            <a:ext cx="5303520" cy="932688"/>
          </a:xfrm>
          <a:prstGeom prst="roundRect">
            <a:avLst>
              <a:gd name="adj" fmla="val 10000"/>
            </a:avLst>
          </a:prstGeom>
          <a:solidFill>
            <a:srgbClr val="FBF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2" name="Rectangle 31"/>
          <p:cNvSpPr/>
          <p:nvPr/>
        </p:nvSpPr>
        <p:spPr>
          <a:xfrm>
            <a:off x="6245352" y="4288534"/>
            <a:ext cx="45720" cy="932688"/>
          </a:xfrm>
          <a:prstGeom prst="rect">
            <a:avLst/>
          </a:prstGeom>
          <a:solidFill>
            <a:srgbClr val="8C4A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3" name="TextBox 32"/>
          <p:cNvSpPr txBox="1"/>
          <p:nvPr/>
        </p:nvSpPr>
        <p:spPr>
          <a:xfrm>
            <a:off x="6464808" y="4416550"/>
            <a:ext cx="4892040" cy="256032"/>
          </a:xfrm>
          <a:prstGeom prst="rect">
            <a:avLst/>
          </a:prstGeom>
          <a:noFill/>
        </p:spPr>
        <p:txBody>
          <a:bodyPr wrap="square" anchor="t" lIns="0" rIns="0" tIns="0" bIns="0">
            <a:spAutoFit/>
          </a:bodyPr>
          <a:lstStyle/>
          <a:p>
            <a:pPr algn="l">
              <a:lnSpc>
                <a:spcPct val="100000"/>
              </a:lnSpc>
            </a:pPr>
            <a:r>
              <a:rPr sz="1250" b="1">
                <a:solidFill>
                  <a:srgbClr val="8C4A2F"/>
                </a:solidFill>
                <a:latin typeface="Calibri"/>
              </a:rPr>
              <a:t>Overfitting headroom</a:t>
            </a:r>
          </a:p>
        </p:txBody>
      </p:sp>
      <p:sp>
        <p:nvSpPr>
          <p:cNvPr id="34" name="TextBox 33"/>
          <p:cNvSpPr txBox="1"/>
          <p:nvPr/>
        </p:nvSpPr>
        <p:spPr>
          <a:xfrm>
            <a:off x="6464808" y="4690870"/>
            <a:ext cx="4892040" cy="457200"/>
          </a:xfrm>
          <a:prstGeom prst="rect">
            <a:avLst/>
          </a:prstGeom>
          <a:noFill/>
        </p:spPr>
        <p:txBody>
          <a:bodyPr wrap="square" anchor="t" lIns="0" rIns="0" tIns="0" bIns="0">
            <a:spAutoFit/>
          </a:bodyPr>
          <a:lstStyle/>
          <a:p>
            <a:pPr algn="l">
              <a:lnSpc>
                <a:spcPct val="115000"/>
              </a:lnSpc>
            </a:pPr>
            <a:r>
              <a:rPr sz="1100" b="0">
                <a:solidFill>
                  <a:srgbClr val="1F2421"/>
                </a:solidFill>
                <a:latin typeface="Calibri"/>
              </a:rPr>
              <a:t>Train R² 0.9743 vs test R² 0.8676.</a:t>
            </a:r>
          </a:p>
        </p:txBody>
      </p:sp>
      <p:sp>
        <p:nvSpPr>
          <p:cNvPr id="35" name="Rounded Rectangle 34"/>
          <p:cNvSpPr/>
          <p:nvPr/>
        </p:nvSpPr>
        <p:spPr>
          <a:xfrm>
            <a:off x="6245352" y="5330949"/>
            <a:ext cx="5303520" cy="932688"/>
          </a:xfrm>
          <a:prstGeom prst="roundRect">
            <a:avLst>
              <a:gd name="adj" fmla="val 10000"/>
            </a:avLst>
          </a:prstGeom>
          <a:solidFill>
            <a:srgbClr val="FBF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6" name="Rectangle 35"/>
          <p:cNvSpPr/>
          <p:nvPr/>
        </p:nvSpPr>
        <p:spPr>
          <a:xfrm>
            <a:off x="6245352" y="5330949"/>
            <a:ext cx="45720" cy="932688"/>
          </a:xfrm>
          <a:prstGeom prst="rect">
            <a:avLst/>
          </a:prstGeom>
          <a:solidFill>
            <a:srgbClr val="8C4A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7" name="TextBox 36"/>
          <p:cNvSpPr txBox="1"/>
          <p:nvPr/>
        </p:nvSpPr>
        <p:spPr>
          <a:xfrm>
            <a:off x="6464808" y="5458965"/>
            <a:ext cx="4892040" cy="256032"/>
          </a:xfrm>
          <a:prstGeom prst="rect">
            <a:avLst/>
          </a:prstGeom>
          <a:noFill/>
        </p:spPr>
        <p:txBody>
          <a:bodyPr wrap="square" anchor="t" lIns="0" rIns="0" tIns="0" bIns="0">
            <a:spAutoFit/>
          </a:bodyPr>
          <a:lstStyle/>
          <a:p>
            <a:pPr algn="l">
              <a:lnSpc>
                <a:spcPct val="100000"/>
              </a:lnSpc>
            </a:pPr>
            <a:r>
              <a:rPr sz="1250" b="1">
                <a:solidFill>
                  <a:srgbClr val="8C4A2F"/>
                </a:solidFill>
                <a:latin typeface="Calibri"/>
              </a:rPr>
              <a:t>Development server</a:t>
            </a:r>
          </a:p>
        </p:txBody>
      </p:sp>
      <p:sp>
        <p:nvSpPr>
          <p:cNvPr id="38" name="TextBox 37"/>
          <p:cNvSpPr txBox="1"/>
          <p:nvPr/>
        </p:nvSpPr>
        <p:spPr>
          <a:xfrm>
            <a:off x="6464808" y="5733285"/>
            <a:ext cx="4892040" cy="457200"/>
          </a:xfrm>
          <a:prstGeom prst="rect">
            <a:avLst/>
          </a:prstGeom>
          <a:noFill/>
        </p:spPr>
        <p:txBody>
          <a:bodyPr wrap="square" anchor="t" lIns="0" rIns="0" tIns="0" bIns="0">
            <a:spAutoFit/>
          </a:bodyPr>
          <a:lstStyle/>
          <a:p>
            <a:pPr algn="l">
              <a:lnSpc>
                <a:spcPct val="115000"/>
              </a:lnSpc>
            </a:pPr>
            <a:r>
              <a:rPr sz="1100" b="0">
                <a:solidFill>
                  <a:srgbClr val="1F2421"/>
                </a:solidFill>
                <a:latin typeface="Calibri"/>
              </a:rPr>
              <a:t>Flask's built-in server. Use Gunicorn or Waitress beyond local use.</a:t>
            </a:r>
          </a:p>
        </p:txBody>
      </p:sp>
      <p:sp>
        <p:nvSpPr>
          <p:cNvPr id="39" name="TextBox 38"/>
          <p:cNvSpPr txBox="1"/>
          <p:nvPr/>
        </p:nvSpPr>
        <p:spPr>
          <a:xfrm>
            <a:off x="731520" y="6382512"/>
            <a:ext cx="8686800" cy="274320"/>
          </a:xfrm>
          <a:prstGeom prst="rect">
            <a:avLst/>
          </a:prstGeom>
          <a:noFill/>
        </p:spPr>
        <p:txBody>
          <a:bodyPr wrap="square" anchor="t" lIns="0" rIns="0" tIns="0" bIns="0">
            <a:spAutoFit/>
          </a:bodyPr>
          <a:lstStyle/>
          <a:p>
            <a:pPr algn="l">
              <a:lnSpc>
                <a:spcPct val="100000"/>
              </a:lnSpc>
            </a:pPr>
            <a:r>
              <a:rPr sz="950" b="0">
                <a:solidFill>
                  <a:srgbClr val="637268"/>
                </a:solidFill>
                <a:latin typeface="Calibri"/>
              </a:rPr>
              <a:t>HomeValue — House Price Prediction System</a:t>
            </a:r>
          </a:p>
        </p:txBody>
      </p:sp>
      <p:sp>
        <p:nvSpPr>
          <p:cNvPr id="40" name="TextBox 39"/>
          <p:cNvSpPr txBox="1"/>
          <p:nvPr/>
        </p:nvSpPr>
        <p:spPr>
          <a:xfrm>
            <a:off x="10545775" y="6382512"/>
            <a:ext cx="914400" cy="274320"/>
          </a:xfrm>
          <a:prstGeom prst="rect">
            <a:avLst/>
          </a:prstGeom>
          <a:noFill/>
        </p:spPr>
        <p:txBody>
          <a:bodyPr wrap="square" anchor="t" lIns="0" rIns="0" tIns="0" bIns="0">
            <a:spAutoFit/>
          </a:bodyPr>
          <a:lstStyle/>
          <a:p>
            <a:pPr algn="r">
              <a:lnSpc>
                <a:spcPct val="100000"/>
              </a:lnSpc>
            </a:pPr>
            <a:r>
              <a:rPr sz="950" b="1">
                <a:solidFill>
                  <a:srgbClr val="2F6B4F"/>
                </a:solidFill>
                <a:latin typeface="Calibri"/>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 name="TextBox 2"/>
          <p:cNvSpPr txBox="1"/>
          <p:nvPr/>
        </p:nvSpPr>
        <p:spPr>
          <a:xfrm>
            <a:off x="731520" y="502920"/>
            <a:ext cx="10728655" cy="274320"/>
          </a:xfrm>
          <a:prstGeom prst="rect">
            <a:avLst/>
          </a:prstGeom>
          <a:noFill/>
        </p:spPr>
        <p:txBody>
          <a:bodyPr wrap="square" anchor="t" lIns="0" rIns="0" tIns="0" bIns="0">
            <a:spAutoFit/>
          </a:bodyPr>
          <a:lstStyle/>
          <a:p>
            <a:pPr algn="l">
              <a:lnSpc>
                <a:spcPct val="100000"/>
              </a:lnSpc>
            </a:pPr>
            <a:r>
              <a:rPr sz="1100" b="1">
                <a:solidFill>
                  <a:srgbClr val="2F6B4F"/>
                </a:solidFill>
                <a:latin typeface="Calibri"/>
              </a:rPr>
              <a:t>NEXT STEPS</a:t>
            </a:r>
          </a:p>
        </p:txBody>
      </p:sp>
      <p:sp>
        <p:nvSpPr>
          <p:cNvPr id="4" name="TextBox 3"/>
          <p:cNvSpPr txBox="1"/>
          <p:nvPr/>
        </p:nvSpPr>
        <p:spPr>
          <a:xfrm>
            <a:off x="731520" y="813816"/>
            <a:ext cx="10728655" cy="566928"/>
          </a:xfrm>
          <a:prstGeom prst="rect">
            <a:avLst/>
          </a:prstGeom>
          <a:noFill/>
        </p:spPr>
        <p:txBody>
          <a:bodyPr wrap="square" anchor="t" lIns="0" rIns="0" tIns="0" bIns="0">
            <a:spAutoFit/>
          </a:bodyPr>
          <a:lstStyle/>
          <a:p>
            <a:pPr algn="l">
              <a:lnSpc>
                <a:spcPct val="100000"/>
              </a:lnSpc>
            </a:pPr>
            <a:r>
              <a:rPr sz="3000" b="1">
                <a:solidFill>
                  <a:srgbClr val="1F2421"/>
                </a:solidFill>
                <a:latin typeface="Calibri"/>
              </a:rPr>
              <a:t>Future work and conclusion</a:t>
            </a:r>
          </a:p>
        </p:txBody>
      </p:sp>
      <p:sp>
        <p:nvSpPr>
          <p:cNvPr id="5" name="TextBox 4"/>
          <p:cNvSpPr txBox="1"/>
          <p:nvPr/>
        </p:nvSpPr>
        <p:spPr>
          <a:xfrm>
            <a:off x="731520" y="1417320"/>
            <a:ext cx="10728655" cy="365760"/>
          </a:xfrm>
          <a:prstGeom prst="rect">
            <a:avLst/>
          </a:prstGeom>
          <a:noFill/>
        </p:spPr>
        <p:txBody>
          <a:bodyPr wrap="square" anchor="t" lIns="0" rIns="0" tIns="0" bIns="0">
            <a:spAutoFit/>
          </a:bodyPr>
          <a:lstStyle/>
          <a:p>
            <a:pPr algn="l">
              <a:lnSpc>
                <a:spcPct val="100000"/>
              </a:lnSpc>
            </a:pPr>
            <a:r>
              <a:rPr sz="1400" b="0">
                <a:solidFill>
                  <a:srgbClr val="637268"/>
                </a:solidFill>
                <a:latin typeface="Calibri"/>
              </a:rPr>
              <a:t>What would be built next, and what to take away.</a:t>
            </a:r>
          </a:p>
        </p:txBody>
      </p:sp>
      <p:sp>
        <p:nvSpPr>
          <p:cNvPr id="6" name="Rectangle 5"/>
          <p:cNvSpPr/>
          <p:nvPr/>
        </p:nvSpPr>
        <p:spPr>
          <a:xfrm>
            <a:off x="731520" y="1874520"/>
            <a:ext cx="10728655" cy="9525"/>
          </a:xfrm>
          <a:prstGeom prst="rect">
            <a:avLst/>
          </a:prstGeom>
          <a:solidFill>
            <a:srgbClr val="DCE3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TextBox 6"/>
          <p:cNvSpPr txBox="1"/>
          <p:nvPr/>
        </p:nvSpPr>
        <p:spPr>
          <a:xfrm>
            <a:off x="731520" y="2203704"/>
            <a:ext cx="5486400" cy="274320"/>
          </a:xfrm>
          <a:prstGeom prst="rect">
            <a:avLst/>
          </a:prstGeom>
          <a:noFill/>
        </p:spPr>
        <p:txBody>
          <a:bodyPr wrap="square" anchor="t" lIns="0" rIns="0" tIns="0" bIns="0">
            <a:spAutoFit/>
          </a:bodyPr>
          <a:lstStyle/>
          <a:p>
            <a:pPr algn="l">
              <a:lnSpc>
                <a:spcPct val="100000"/>
              </a:lnSpc>
            </a:pPr>
            <a:r>
              <a:rPr sz="1600" b="1">
                <a:solidFill>
                  <a:srgbClr val="2F6B4F"/>
                </a:solidFill>
                <a:latin typeface="Calibri"/>
              </a:rPr>
              <a:t>Would improve accuracy</a:t>
            </a:r>
          </a:p>
        </p:txBody>
      </p:sp>
      <p:sp>
        <p:nvSpPr>
          <p:cNvPr id="8" name="TextBox 7"/>
          <p:cNvSpPr txBox="1"/>
          <p:nvPr/>
        </p:nvSpPr>
        <p:spPr>
          <a:xfrm>
            <a:off x="731520" y="2615184"/>
            <a:ext cx="5486400" cy="2743200"/>
          </a:xfrm>
          <a:prstGeom prst="rect">
            <a:avLst/>
          </a:prstGeom>
          <a:noFill/>
        </p:spPr>
        <p:txBody>
          <a:bodyPr wrap="square" lIns="0" rIns="0" tIns="0" bIns="0">
            <a:spAutoFit/>
          </a:bodyPr>
          <a:lstStyle/>
          <a:p>
            <a:pPr>
              <a:lnSpc>
                <a:spcPct val="118000"/>
              </a:lnSpc>
            </a:pPr>
            <a:r>
              <a:rPr sz="1300">
                <a:solidFill>
                  <a:srgbClr val="1F2421"/>
                </a:solidFill>
                <a:latin typeface="Calibri"/>
              </a:rPr>
              <a:t>•  Hyperparameter tuning with cross-validation</a:t>
            </a:r>
          </a:p>
          <a:p>
            <a:pPr>
              <a:lnSpc>
                <a:spcPct val="118000"/>
              </a:lnSpc>
              <a:spcBef>
                <a:spcPts val="1100"/>
              </a:spcBef>
            </a:pPr>
            <a:r>
              <a:rPr sz="1300">
                <a:solidFill>
                  <a:srgbClr val="1F2421"/>
                </a:solidFill>
                <a:latin typeface="Calibri"/>
              </a:rPr>
              <a:t>•  Gradient boosting — XGBoost or LightGBM</a:t>
            </a:r>
          </a:p>
          <a:p>
            <a:pPr>
              <a:lnSpc>
                <a:spcPct val="118000"/>
              </a:lnSpc>
              <a:spcBef>
                <a:spcPts val="1100"/>
              </a:spcBef>
            </a:pPr>
            <a:r>
              <a:rPr sz="1300">
                <a:solidFill>
                  <a:srgbClr val="1F2421"/>
                </a:solidFill>
                <a:latin typeface="Calibri"/>
              </a:rPr>
              <a:t>•  Log-transform the target to tame the right tail</a:t>
            </a:r>
          </a:p>
          <a:p>
            <a:pPr>
              <a:lnSpc>
                <a:spcPct val="118000"/>
              </a:lnSpc>
              <a:spcBef>
                <a:spcPts val="1100"/>
              </a:spcBef>
            </a:pPr>
            <a:r>
              <a:rPr sz="1300">
                <a:solidFill>
                  <a:srgbClr val="1F2421"/>
                </a:solidFill>
                <a:latin typeface="Calibri"/>
              </a:rPr>
              <a:t>•  Target encoding for high-cardinality neighbourhoods</a:t>
            </a:r>
          </a:p>
          <a:p>
            <a:pPr>
              <a:lnSpc>
                <a:spcPct val="118000"/>
              </a:lnSpc>
              <a:spcBef>
                <a:spcPts val="1100"/>
              </a:spcBef>
            </a:pPr>
            <a:r>
              <a:rPr sz="1300">
                <a:solidFill>
                  <a:srgbClr val="1F2421"/>
                </a:solidFill>
                <a:latin typeface="Calibri"/>
              </a:rPr>
              <a:t>•  Regularisation to close the train/test gap</a:t>
            </a:r>
          </a:p>
        </p:txBody>
      </p:sp>
      <p:sp>
        <p:nvSpPr>
          <p:cNvPr id="9" name="TextBox 8"/>
          <p:cNvSpPr txBox="1"/>
          <p:nvPr/>
        </p:nvSpPr>
        <p:spPr>
          <a:xfrm>
            <a:off x="6492240" y="2203704"/>
            <a:ext cx="5056632" cy="274320"/>
          </a:xfrm>
          <a:prstGeom prst="rect">
            <a:avLst/>
          </a:prstGeom>
          <a:noFill/>
        </p:spPr>
        <p:txBody>
          <a:bodyPr wrap="square" anchor="t" lIns="0" rIns="0" tIns="0" bIns="0">
            <a:spAutoFit/>
          </a:bodyPr>
          <a:lstStyle/>
          <a:p>
            <a:pPr algn="l">
              <a:lnSpc>
                <a:spcPct val="100000"/>
              </a:lnSpc>
            </a:pPr>
            <a:r>
              <a:rPr sz="1600" b="1">
                <a:solidFill>
                  <a:srgbClr val="2F6B4F"/>
                </a:solidFill>
                <a:latin typeface="Calibri"/>
              </a:rPr>
              <a:t>Would improve honesty</a:t>
            </a:r>
          </a:p>
        </p:txBody>
      </p:sp>
      <p:sp>
        <p:nvSpPr>
          <p:cNvPr id="10" name="TextBox 9"/>
          <p:cNvSpPr txBox="1"/>
          <p:nvPr/>
        </p:nvSpPr>
        <p:spPr>
          <a:xfrm>
            <a:off x="6492240" y="2615184"/>
            <a:ext cx="5056632" cy="2743200"/>
          </a:xfrm>
          <a:prstGeom prst="rect">
            <a:avLst/>
          </a:prstGeom>
          <a:noFill/>
        </p:spPr>
        <p:txBody>
          <a:bodyPr wrap="square" lIns="0" rIns="0" tIns="0" bIns="0">
            <a:spAutoFit/>
          </a:bodyPr>
          <a:lstStyle/>
          <a:p>
            <a:pPr>
              <a:lnSpc>
                <a:spcPct val="118000"/>
              </a:lnSpc>
            </a:pPr>
            <a:r>
              <a:rPr sz="1300">
                <a:solidFill>
                  <a:srgbClr val="1F2421"/>
                </a:solidFill>
                <a:latin typeface="Calibri"/>
              </a:rPr>
              <a:t>•  Quantile regression forests for calibrated intervals</a:t>
            </a:r>
          </a:p>
          <a:p>
            <a:pPr>
              <a:lnSpc>
                <a:spcPct val="118000"/>
              </a:lnSpc>
              <a:spcBef>
                <a:spcPts val="1100"/>
              </a:spcBef>
            </a:pPr>
            <a:r>
              <a:rPr sz="1300">
                <a:solidFill>
                  <a:srgbClr val="1F2421"/>
                </a:solidFill>
                <a:latin typeface="Calibri"/>
              </a:rPr>
              <a:t>•  Conformal prediction for guaranteed coverage</a:t>
            </a:r>
          </a:p>
          <a:p>
            <a:pPr>
              <a:lnSpc>
                <a:spcPct val="118000"/>
              </a:lnSpc>
              <a:spcBef>
                <a:spcPts val="1100"/>
              </a:spcBef>
            </a:pPr>
            <a:r>
              <a:rPr sz="1300">
                <a:solidFill>
                  <a:srgbClr val="1F2421"/>
                </a:solidFill>
                <a:latin typeface="Calibri"/>
              </a:rPr>
              <a:t>•  Retraining on current data for a live market</a:t>
            </a:r>
          </a:p>
          <a:p>
            <a:pPr>
              <a:lnSpc>
                <a:spcPct val="118000"/>
              </a:lnSpc>
              <a:spcBef>
                <a:spcPts val="1100"/>
              </a:spcBef>
            </a:pPr>
            <a:r>
              <a:rPr sz="1300">
                <a:solidFill>
                  <a:srgbClr val="1F2421"/>
                </a:solidFill>
                <a:latin typeface="Calibri"/>
              </a:rPr>
              <a:t>•  Drift monitoring once real traffic arrives</a:t>
            </a:r>
          </a:p>
        </p:txBody>
      </p:sp>
      <p:sp>
        <p:nvSpPr>
          <p:cNvPr id="11" name="Rounded Rectangle 10"/>
          <p:cNvSpPr/>
          <p:nvPr/>
        </p:nvSpPr>
        <p:spPr>
          <a:xfrm>
            <a:off x="731520" y="5129784"/>
            <a:ext cx="10728655" cy="1234440"/>
          </a:xfrm>
          <a:prstGeom prst="roundRect">
            <a:avLst>
              <a:gd name="adj" fmla="val 6000"/>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2" name="TextBox 11"/>
          <p:cNvSpPr txBox="1"/>
          <p:nvPr/>
        </p:nvSpPr>
        <p:spPr>
          <a:xfrm>
            <a:off x="1051560" y="5358384"/>
            <a:ext cx="10088575" cy="914400"/>
          </a:xfrm>
          <a:prstGeom prst="rect">
            <a:avLst/>
          </a:prstGeom>
          <a:noFill/>
        </p:spPr>
        <p:txBody>
          <a:bodyPr wrap="square" anchor="t" lIns="0" rIns="0" tIns="0" bIns="0">
            <a:spAutoFit/>
          </a:bodyPr>
          <a:lstStyle/>
          <a:p>
            <a:pPr algn="l">
              <a:lnSpc>
                <a:spcPct val="125000"/>
              </a:lnSpc>
            </a:pPr>
            <a:r>
              <a:rPr sz="1300" b="1">
                <a:solidFill>
                  <a:srgbClr val="A8C9B8"/>
                </a:solidFill>
                <a:latin typeface="Calibri"/>
              </a:rPr>
              <a:t>Takeaway</a:t>
            </a:r>
          </a:p>
          <a:p>
            <a:pPr algn="l">
              <a:lnSpc>
                <a:spcPct val="125000"/>
              </a:lnSpc>
              <a:spcBef>
                <a:spcPts val="500"/>
              </a:spcBef>
            </a:pPr>
            <a:r>
              <a:rPr sz="1350" b="0">
                <a:solidFill>
                  <a:srgbClr val="FFFFFF"/>
                </a:solidFill>
                <a:latin typeface="Calibri"/>
              </a:rPr>
              <a:t>A complete, reproducible system: a documented pipeline, a model selected on held-out data (R² 0.8676, MAE $19,039), a working web application, and — most importantly — an explicit statement of what it cannot do.</a:t>
            </a:r>
          </a:p>
        </p:txBody>
      </p:sp>
      <p:sp>
        <p:nvSpPr>
          <p:cNvPr id="13" name="TextBox 12"/>
          <p:cNvSpPr txBox="1"/>
          <p:nvPr/>
        </p:nvSpPr>
        <p:spPr>
          <a:xfrm>
            <a:off x="731520" y="6382512"/>
            <a:ext cx="8686800" cy="274320"/>
          </a:xfrm>
          <a:prstGeom prst="rect">
            <a:avLst/>
          </a:prstGeom>
          <a:noFill/>
        </p:spPr>
        <p:txBody>
          <a:bodyPr wrap="square" anchor="t" lIns="0" rIns="0" tIns="0" bIns="0">
            <a:spAutoFit/>
          </a:bodyPr>
          <a:lstStyle/>
          <a:p>
            <a:pPr algn="l">
              <a:lnSpc>
                <a:spcPct val="100000"/>
              </a:lnSpc>
            </a:pPr>
            <a:r>
              <a:rPr sz="950" b="0">
                <a:solidFill>
                  <a:srgbClr val="637268"/>
                </a:solidFill>
                <a:latin typeface="Calibri"/>
              </a:rPr>
              <a:t>HomeValue — House Price Prediction System</a:t>
            </a:r>
          </a:p>
        </p:txBody>
      </p:sp>
      <p:sp>
        <p:nvSpPr>
          <p:cNvPr id="14" name="TextBox 13"/>
          <p:cNvSpPr txBox="1"/>
          <p:nvPr/>
        </p:nvSpPr>
        <p:spPr>
          <a:xfrm>
            <a:off x="10545775" y="6382512"/>
            <a:ext cx="914400" cy="274320"/>
          </a:xfrm>
          <a:prstGeom prst="rect">
            <a:avLst/>
          </a:prstGeom>
          <a:noFill/>
        </p:spPr>
        <p:txBody>
          <a:bodyPr wrap="square" anchor="t" lIns="0" rIns="0" tIns="0" bIns="0">
            <a:spAutoFit/>
          </a:bodyPr>
          <a:lstStyle/>
          <a:p>
            <a:pPr algn="r">
              <a:lnSpc>
                <a:spcPct val="100000"/>
              </a:lnSpc>
            </a:pPr>
            <a:r>
              <a:rPr sz="950" b="1">
                <a:solidFill>
                  <a:srgbClr val="2F6B4F"/>
                </a:solidFill>
                <a:latin typeface="Calibri"/>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 name="TextBox 2"/>
          <p:cNvSpPr txBox="1"/>
          <p:nvPr/>
        </p:nvSpPr>
        <p:spPr>
          <a:xfrm>
            <a:off x="914400" y="2468880"/>
            <a:ext cx="10332720" cy="822960"/>
          </a:xfrm>
          <a:prstGeom prst="rect">
            <a:avLst/>
          </a:prstGeom>
          <a:noFill/>
        </p:spPr>
        <p:txBody>
          <a:bodyPr wrap="square" anchor="t" lIns="0" rIns="0" tIns="0" bIns="0">
            <a:spAutoFit/>
          </a:bodyPr>
          <a:lstStyle/>
          <a:p>
            <a:pPr algn="l">
              <a:lnSpc>
                <a:spcPct val="100000"/>
              </a:lnSpc>
            </a:pPr>
            <a:r>
              <a:rPr sz="5200" b="1">
                <a:solidFill>
                  <a:srgbClr val="FFFFFF"/>
                </a:solidFill>
                <a:latin typeface="Calibri"/>
              </a:rPr>
              <a:t>Thank you</a:t>
            </a:r>
          </a:p>
        </p:txBody>
      </p:sp>
      <p:sp>
        <p:nvSpPr>
          <p:cNvPr id="4" name="Rectangle 3"/>
          <p:cNvSpPr/>
          <p:nvPr/>
        </p:nvSpPr>
        <p:spPr>
          <a:xfrm>
            <a:off x="914400" y="3520440"/>
            <a:ext cx="1463040" cy="38100"/>
          </a:xfrm>
          <a:prstGeom prst="rect">
            <a:avLst/>
          </a:prstGeom>
          <a:solidFill>
            <a:srgbClr val="8FBA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5" name="TextBox 4"/>
          <p:cNvSpPr txBox="1"/>
          <p:nvPr/>
        </p:nvSpPr>
        <p:spPr>
          <a:xfrm>
            <a:off x="914400" y="3840480"/>
            <a:ext cx="9601200" cy="1097280"/>
          </a:xfrm>
          <a:prstGeom prst="rect">
            <a:avLst/>
          </a:prstGeom>
          <a:noFill/>
        </p:spPr>
        <p:txBody>
          <a:bodyPr wrap="square" anchor="t" lIns="0" rIns="0" tIns="0" bIns="0">
            <a:spAutoFit/>
          </a:bodyPr>
          <a:lstStyle/>
          <a:p>
            <a:pPr algn="l">
              <a:lnSpc>
                <a:spcPct val="120000"/>
              </a:lnSpc>
            </a:pPr>
            <a:r>
              <a:rPr sz="1700" b="0">
                <a:solidFill>
                  <a:srgbClr val="D6E6DE"/>
                </a:solidFill>
                <a:latin typeface="Calibri"/>
              </a:rPr>
              <a:t>HomeValue — A House Price Prediction System</a:t>
            </a:r>
          </a:p>
          <a:p>
            <a:pPr algn="l">
              <a:lnSpc>
                <a:spcPct val="120000"/>
              </a:lnSpc>
              <a:spcBef>
                <a:spcPts val="800"/>
              </a:spcBef>
            </a:pPr>
            <a:r>
              <a:rPr sz="1300" b="0">
                <a:solidFill>
                  <a:srgbClr val="A8C9B8"/>
                </a:solidFill>
                <a:latin typeface="Calibri"/>
              </a:rPr>
              <a:t>Reproducible pipeline · Two compared models · Flask application · Live dashboard</a:t>
            </a:r>
          </a:p>
        </p:txBody>
      </p:sp>
      <p:sp>
        <p:nvSpPr>
          <p:cNvPr id="6" name="TextBox 5"/>
          <p:cNvSpPr txBox="1"/>
          <p:nvPr/>
        </p:nvSpPr>
        <p:spPr>
          <a:xfrm>
            <a:off x="914400" y="5394960"/>
            <a:ext cx="9601200" cy="731520"/>
          </a:xfrm>
          <a:prstGeom prst="rect">
            <a:avLst/>
          </a:prstGeom>
          <a:noFill/>
        </p:spPr>
        <p:txBody>
          <a:bodyPr wrap="square" anchor="t" lIns="0" rIns="0" tIns="0" bIns="0">
            <a:spAutoFit/>
          </a:bodyPr>
          <a:lstStyle/>
          <a:p>
            <a:pPr algn="l">
              <a:lnSpc>
                <a:spcPct val="120000"/>
              </a:lnSpc>
            </a:pPr>
            <a:r>
              <a:rPr sz="1100" b="0">
                <a:solidFill>
                  <a:srgbClr val="8FBAA6"/>
                </a:solidFill>
                <a:latin typeface="Calibri"/>
              </a:rPr>
              <a:t>All figures measured on a 292-row held-out test set · Dataset: Ames, Iowa, 2006 to 2010 · Public Domain / CC0 Academic Teaching &amp; Research Dataset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